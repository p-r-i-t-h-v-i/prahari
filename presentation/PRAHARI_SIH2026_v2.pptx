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The personal countdown is a research feature: estimate time to a chosen risk threshold, not guaranteed minutes until collapse. Thermal debt means tracking accumulated strain and recovery rather than resetting the story each shift. A phone is not a LoRa radio: it uses BLE to a gateway band. Body monitoring is intended to work offline; new CAP alerts need connected ingress. Photos: https://www.pexels.com/photo/flood-on-street-in-city-in-india-25189241/ by Dibakar Roy; https://www.pexels.com/photo/indian-farmer-working-in-a-field-during-summer-29912210/ by Abhishek Gupta. Pexels License. Architecture and features are proposed except documented sensor/OLED bench work.</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Architecture is an editable flowchart. The body branch routes unusable signals to estimate-unavailable / refit / resample; that is not a safe classification. A valid estimate drives a local strain alert. The external branch preserves issuer, location, timestamp and expiry checks, then sends via BLE to a LoRa-equipped gateway and peers. Payload deduplication and hop limits are proposed to reduce repeated flooding. Official alerts do not depend on physiological signal quality. Full radio protocol, forecasting, app and secure-key integration are not yet demonstrated. References and evidence are on slide 6.</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Documented bench evidence is sensor/OLED operation, not a completed countdown or radio mesh. Latest project notes identify unresolved SPI radio bring-up and PCB check failures; older PCB README clean results refer to another state. Rev B carrier is 70 x 40 mm. Its specified protection circuit and haptic driver are design choices, not validated enclosure safety. The older ₹3,468 estimate only covers selected rev A modules. The implementation sequence is proposed; no unsupported 12-week guarantee. Manufacturer component image from https://wiki.seeedstudio.com/XIAO_BLE/.</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CEEW source: https://www.ceew.in/publications/mapping-climate-risks-and-impacts-of-extreme-heatwave-disaster-in-indian-districts . Benefits are intended. Community response requires training and an escalation protocol. Do not imply mortality reduction or quantified savings. Environmental intent is rechargeable, repairable deployment, not a lifecycle claim. Photos show context only and do not establish participation or endorsement. Credits/links in slide 6 notes.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Images, all non-AI: https://www.pexels.com/photo/construction-workers-working-on-top-of-a-building-20591230/ (yajna S R); https://www.pexels.com/photo/indian-farmer-working-in-a-field-during-summer-29912210/ (Abhishek Gupta); https://www.pexels.com/photo/flood-on-street-in-city-in-india-25189241/ (Dibakar Roy); license https://www.pexels.com/license/ . XIAO component image: https://files.seeedstudio.com/wiki/XIAO-BLE/xiaonrf52840sence.png from Seeed Studio documentation. SIH artwork from supplied template. All stock photographs are contextual, not team prototype trials. Local inputs: Obsidian Projects/PRAHARI.md and linked topics, repository README/PCB README, PRAHARI_SIH2026_Idea_3.pdf, PRAHARI_Project_Report.pdf. Research findings are not achieved device results.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follows PRAHARI_SIH2026_Idea_3.pdf: original SIH artwork, title and tagline, then PS ID, full PS title, theme, hardware category, Team ID and Point Break. Team ID is still absent from supplied materials. The tagline describes intended coverage, not a demonstrated radio range. New official alerts need at least one connected entry 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jpg"/><Relationship Id="rId5"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jpg"/><Relationship Id="rId5" Type="http://schemas.openxmlformats.org/officeDocument/2006/relationships/image" Target="../media/image4.jpg"/><Relationship Id="rId6"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hyperlink" Target="https://www.ceew.in/publications/mapping-climate-risks-and-impacts-of-extreme-heatwave-disaster-in-indian-districts" TargetMode="External"/><Relationship Id="rId5" Type="http://schemas.openxmlformats.org/officeDocument/2006/relationships/hyperlink" Target="https://sachet.ndma.gov.in/" TargetMode="External"/><Relationship Id="rId6" Type="http://schemas.openxmlformats.org/officeDocument/2006/relationships/hyperlink" Target="https://ojs.aaai.org/index.php/AAAI/article/view/18809" TargetMode="External"/><Relationship Id="rId7" Type="http://schemas.openxmlformats.org/officeDocument/2006/relationships/hyperlink" Target="https://wiki.seeedstudio.com/XIAO_BLE/" TargetMode="External"/><Relationship Id="rId8" Type="http://schemas.openxmlformats.org/officeDocument/2006/relationships/hyperlink" Target="https://github.com/P-r-i-t-h-v-i/PRAHAR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pic>
        <p:nvPicPr>
          <p:cNvPr id="6" name="Picture 5" descr="image.png"/>
          <p:cNvPicPr>
            <a:picLocks noChangeAspect="1"/>
          </p:cNvPicPr>
          <p:nvPr/>
        </p:nvPicPr>
        <p:blipFill>
          <a:blip r:embed="rId3"/>
          <a:stretch>
            <a:fillRect/>
          </a:stretch>
        </p:blipFill>
        <p:spPr>
          <a:xfrm>
            <a:off x="9824327" y="18288"/>
            <a:ext cx="2168929" cy="1024128"/>
          </a:xfrm>
          <a:prstGeom prst="rect">
            <a:avLst/>
          </a:prstGeom>
        </p:spPr>
      </p:pic>
      <p:sp>
        <p:nvSpPr>
          <p:cNvPr id="7" name="TextBox 6"/>
          <p:cNvSpPr txBox="1"/>
          <p:nvPr/>
        </p:nvSpPr>
        <p:spPr>
          <a:xfrm>
            <a:off x="402336" y="246888"/>
            <a:ext cx="9308592" cy="594360"/>
          </a:xfrm>
          <a:prstGeom prst="rect">
            <a:avLst/>
          </a:prstGeom>
          <a:noFill/>
        </p:spPr>
        <p:txBody>
          <a:bodyPr wrap="square" lIns="0" rIns="0" tIns="0" bIns="0">
            <a:spAutoFit/>
          </a:bodyPr>
          <a:lstStyle/>
          <a:p>
            <a:pPr>
              <a:lnSpc>
                <a:spcPct val="105000"/>
              </a:lnSpc>
              <a:spcBef>
                <a:spcPts val="0"/>
              </a:spcBef>
              <a:spcAft>
                <a:spcPts val="200"/>
              </a:spcAft>
              <a:defRPr sz="3200" b="1">
                <a:solidFill>
                  <a:srgbClr val="244E78"/>
                </a:solidFill>
                <a:latin typeface="Liberation Serif"/>
              </a:defRPr>
            </a:pPr>
            <a:r>
              <a:t>SMART INDIA HACKATHON 2026</a:t>
            </a:r>
          </a:p>
        </p:txBody>
      </p:sp>
      <p:sp>
        <p:nvSpPr>
          <p:cNvPr id="8" name="TextBox 7"/>
          <p:cNvSpPr txBox="1"/>
          <p:nvPr/>
        </p:nvSpPr>
        <p:spPr>
          <a:xfrm>
            <a:off x="1737360" y="1261872"/>
            <a:ext cx="8229600" cy="448056"/>
          </a:xfrm>
          <a:prstGeom prst="rect">
            <a:avLst/>
          </a:prstGeom>
          <a:noFill/>
        </p:spPr>
        <p:txBody>
          <a:bodyPr wrap="square" lIns="0" rIns="0" tIns="0" bIns="0">
            <a:spAutoFit/>
          </a:bodyPr>
          <a:lstStyle/>
          <a:p>
            <a:pPr algn="ctr">
              <a:lnSpc>
                <a:spcPct val="105000"/>
              </a:lnSpc>
              <a:spcBef>
                <a:spcPts val="0"/>
              </a:spcBef>
              <a:spcAft>
                <a:spcPts val="200"/>
              </a:spcAft>
              <a:defRPr sz="2700" b="1">
                <a:solidFill>
                  <a:srgbClr val="BB531D"/>
                </a:solidFill>
                <a:latin typeface="Lato"/>
              </a:defRPr>
            </a:pPr>
            <a:r>
              <a:t>PRAHARI — The Countdown Band</a:t>
            </a:r>
          </a:p>
        </p:txBody>
      </p:sp>
      <p:sp>
        <p:nvSpPr>
          <p:cNvPr id="9" name="TextBox 8"/>
          <p:cNvSpPr txBox="1"/>
          <p:nvPr/>
        </p:nvSpPr>
        <p:spPr>
          <a:xfrm>
            <a:off x="539496" y="1810512"/>
            <a:ext cx="5925312" cy="658368"/>
          </a:xfrm>
          <a:prstGeom prst="rect">
            <a:avLst/>
          </a:prstGeom>
          <a:noFill/>
        </p:spPr>
        <p:txBody>
          <a:bodyPr wrap="square" lIns="0" rIns="0" tIns="0" bIns="0">
            <a:spAutoFit/>
          </a:bodyPr>
          <a:lstStyle/>
          <a:p>
            <a:pPr>
              <a:lnSpc>
                <a:spcPct val="105000"/>
              </a:lnSpc>
              <a:spcBef>
                <a:spcPts val="0"/>
              </a:spcBef>
              <a:spcAft>
                <a:spcPts val="200"/>
              </a:spcAft>
              <a:defRPr sz="1300" b="0">
                <a:solidFill>
                  <a:srgbClr val="5B6C73"/>
                </a:solidFill>
                <a:latin typeface="Lato"/>
              </a:defRPr>
            </a:pPr>
            <a:r>
              <a:t>Warns before the emergency — the flood, cyclone or heatwave coming at you,</a:t>
            </a:r>
          </a:p>
          <a:p>
            <a:pPr>
              <a:lnSpc>
                <a:spcPct val="105000"/>
              </a:lnSpc>
              <a:spcBef>
                <a:spcPts val="0"/>
              </a:spcBef>
              <a:spcAft>
                <a:spcPts val="200"/>
              </a:spcAft>
              <a:defRPr sz="1300" b="0">
                <a:solidFill>
                  <a:srgbClr val="5B6C73"/>
                </a:solidFill>
                <a:latin typeface="Lato"/>
              </a:defRPr>
            </a:pPr>
            <a:r>
              <a:t>and the heat strain building inside you — and reaches workers no tower reaches.</a:t>
            </a:r>
          </a:p>
        </p:txBody>
      </p:sp>
      <p:sp>
        <p:nvSpPr>
          <p:cNvPr id="10" name="TextBox 9"/>
          <p:cNvSpPr txBox="1"/>
          <p:nvPr/>
        </p:nvSpPr>
        <p:spPr>
          <a:xfrm>
            <a:off x="411480" y="2724912"/>
            <a:ext cx="6126480" cy="365760"/>
          </a:xfrm>
          <a:prstGeom prst="rect">
            <a:avLst/>
          </a:prstGeom>
          <a:noFill/>
        </p:spPr>
        <p:txBody>
          <a:bodyPr wrap="square" lIns="0" rIns="0" tIns="0" bIns="0">
            <a:spAutoFit/>
          </a:bodyPr>
          <a:lstStyle/>
          <a:p>
            <a:pPr>
              <a:lnSpc>
                <a:spcPct val="105000"/>
              </a:lnSpc>
              <a:spcBef>
                <a:spcPts val="0"/>
              </a:spcBef>
              <a:spcAft>
                <a:spcPts val="200"/>
              </a:spcAft>
              <a:defRPr sz="1700" b="1">
                <a:solidFill>
                  <a:srgbClr val="152C3B"/>
                </a:solidFill>
                <a:latin typeface="Lato"/>
              </a:defRPr>
            </a:pPr>
            <a:r>
              <a:t>•   Problem Statement ID  –  26181</a:t>
            </a:r>
          </a:p>
        </p:txBody>
      </p:sp>
      <p:sp>
        <p:nvSpPr>
          <p:cNvPr id="11" name="TextBox 10"/>
          <p:cNvSpPr txBox="1"/>
          <p:nvPr/>
        </p:nvSpPr>
        <p:spPr>
          <a:xfrm>
            <a:off x="411480" y="3209544"/>
            <a:ext cx="210312" cy="274320"/>
          </a:xfrm>
          <a:prstGeom prst="rect">
            <a:avLst/>
          </a:prstGeom>
          <a:noFill/>
        </p:spPr>
        <p:txBody>
          <a:bodyPr wrap="square" lIns="0" rIns="0" tIns="0" bIns="0">
            <a:spAutoFit/>
          </a:bodyPr>
          <a:lstStyle/>
          <a:p>
            <a:pPr>
              <a:lnSpc>
                <a:spcPct val="105000"/>
              </a:lnSpc>
              <a:spcBef>
                <a:spcPts val="0"/>
              </a:spcBef>
              <a:spcAft>
                <a:spcPts val="200"/>
              </a:spcAft>
              <a:defRPr sz="1500" b="0">
                <a:solidFill>
                  <a:srgbClr val="152C3B"/>
                </a:solidFill>
                <a:latin typeface="Lato"/>
              </a:defRPr>
            </a:pPr>
            <a:r>
              <a:t>•</a:t>
            </a:r>
          </a:p>
        </p:txBody>
      </p:sp>
      <p:sp>
        <p:nvSpPr>
          <p:cNvPr id="12" name="TextBox 11"/>
          <p:cNvSpPr txBox="1"/>
          <p:nvPr/>
        </p:nvSpPr>
        <p:spPr>
          <a:xfrm>
            <a:off x="722376" y="3191256"/>
            <a:ext cx="5138928" cy="1362456"/>
          </a:xfrm>
          <a:prstGeom prst="rect">
            <a:avLst/>
          </a:prstGeom>
          <a:noFill/>
        </p:spPr>
        <p:txBody>
          <a:bodyPr wrap="square" lIns="0" rIns="0" tIns="0" bIns="0">
            <a:spAutoFit/>
          </a:bodyPr>
          <a:lstStyle/>
          <a:p>
            <a:pPr>
              <a:lnSpc>
                <a:spcPct val="105000"/>
              </a:lnSpc>
              <a:spcBef>
                <a:spcPts val="0"/>
              </a:spcBef>
              <a:spcAft>
                <a:spcPts val="200"/>
              </a:spcAft>
              <a:defRPr sz="1250" b="0">
                <a:solidFill>
                  <a:srgbClr val="152C3B"/>
                </a:solidFill>
                <a:latin typeface="Lato"/>
              </a:defRPr>
            </a:pPr>
            <a:r>
              <a:t>Problem Statement Title  –  A secure, AI-powered Personal Health Companion that delivers real-time, privacy-preserving health monitoring and early warning capabilities, helping individuals recognize health risks before they become emergencies. The solution should improve resilience during heat waves, floods, pollution events, and other disasters common in India while enabling continuous health support through on-device intelligence.</a:t>
            </a:r>
          </a:p>
        </p:txBody>
      </p:sp>
      <p:sp>
        <p:nvSpPr>
          <p:cNvPr id="13" name="TextBox 12"/>
          <p:cNvSpPr txBox="1"/>
          <p:nvPr/>
        </p:nvSpPr>
        <p:spPr>
          <a:xfrm>
            <a:off x="411480" y="4718304"/>
            <a:ext cx="6492240" cy="356616"/>
          </a:xfrm>
          <a:prstGeom prst="rect">
            <a:avLst/>
          </a:prstGeom>
          <a:noFill/>
        </p:spPr>
        <p:txBody>
          <a:bodyPr wrap="square" lIns="0" rIns="0" tIns="0" bIns="0">
            <a:spAutoFit/>
          </a:bodyPr>
          <a:lstStyle/>
          <a:p>
            <a:pPr>
              <a:lnSpc>
                <a:spcPct val="105000"/>
              </a:lnSpc>
              <a:spcBef>
                <a:spcPts val="0"/>
              </a:spcBef>
              <a:spcAft>
                <a:spcPts val="200"/>
              </a:spcAft>
              <a:defRPr sz="1700" b="1">
                <a:solidFill>
                  <a:srgbClr val="152C3B"/>
                </a:solidFill>
                <a:latin typeface="Lato"/>
              </a:defRPr>
            </a:pPr>
            <a:r>
              <a:t>•   Theme  –  MedTech / BioTech / HealthTech</a:t>
            </a:r>
          </a:p>
        </p:txBody>
      </p:sp>
      <p:sp>
        <p:nvSpPr>
          <p:cNvPr id="14" name="TextBox 13"/>
          <p:cNvSpPr txBox="1"/>
          <p:nvPr/>
        </p:nvSpPr>
        <p:spPr>
          <a:xfrm>
            <a:off x="411480" y="5212080"/>
            <a:ext cx="6492240" cy="356616"/>
          </a:xfrm>
          <a:prstGeom prst="rect">
            <a:avLst/>
          </a:prstGeom>
          <a:noFill/>
        </p:spPr>
        <p:txBody>
          <a:bodyPr wrap="square" lIns="0" rIns="0" tIns="0" bIns="0">
            <a:spAutoFit/>
          </a:bodyPr>
          <a:lstStyle/>
          <a:p>
            <a:pPr>
              <a:lnSpc>
                <a:spcPct val="105000"/>
              </a:lnSpc>
              <a:spcBef>
                <a:spcPts val="0"/>
              </a:spcBef>
              <a:spcAft>
                <a:spcPts val="200"/>
              </a:spcAft>
              <a:defRPr sz="1700" b="1">
                <a:solidFill>
                  <a:srgbClr val="152C3B"/>
                </a:solidFill>
                <a:latin typeface="Lato"/>
              </a:defRPr>
            </a:pPr>
            <a:r>
              <a:t>•   PS Category  –  Hardware</a:t>
            </a:r>
          </a:p>
        </p:txBody>
      </p:sp>
      <p:sp>
        <p:nvSpPr>
          <p:cNvPr id="15" name="TextBox 14"/>
          <p:cNvSpPr txBox="1"/>
          <p:nvPr/>
        </p:nvSpPr>
        <p:spPr>
          <a:xfrm>
            <a:off x="411480" y="5705856"/>
            <a:ext cx="6492240" cy="356616"/>
          </a:xfrm>
          <a:prstGeom prst="rect">
            <a:avLst/>
          </a:prstGeom>
          <a:noFill/>
        </p:spPr>
        <p:txBody>
          <a:bodyPr wrap="square" lIns="0" rIns="0" tIns="0" bIns="0">
            <a:spAutoFit/>
          </a:bodyPr>
          <a:lstStyle/>
          <a:p>
            <a:pPr>
              <a:lnSpc>
                <a:spcPct val="105000"/>
              </a:lnSpc>
              <a:spcBef>
                <a:spcPts val="0"/>
              </a:spcBef>
              <a:spcAft>
                <a:spcPts val="200"/>
              </a:spcAft>
              <a:defRPr sz="1700" b="1">
                <a:solidFill>
                  <a:srgbClr val="152C3B"/>
                </a:solidFill>
                <a:latin typeface="Lato"/>
              </a:defRPr>
            </a:pPr>
            <a:r>
              <a:t>•   Team ID  –  &lt;your team id&gt;</a:t>
            </a:r>
          </a:p>
        </p:txBody>
      </p:sp>
      <p:sp>
        <p:nvSpPr>
          <p:cNvPr id="16" name="TextBox 15"/>
          <p:cNvSpPr txBox="1"/>
          <p:nvPr/>
        </p:nvSpPr>
        <p:spPr>
          <a:xfrm>
            <a:off x="411480" y="6199632"/>
            <a:ext cx="6492240" cy="356616"/>
          </a:xfrm>
          <a:prstGeom prst="rect">
            <a:avLst/>
          </a:prstGeom>
          <a:noFill/>
        </p:spPr>
        <p:txBody>
          <a:bodyPr wrap="square" lIns="0" rIns="0" tIns="0" bIns="0">
            <a:spAutoFit/>
          </a:bodyPr>
          <a:lstStyle/>
          <a:p>
            <a:pPr>
              <a:lnSpc>
                <a:spcPct val="105000"/>
              </a:lnSpc>
              <a:spcBef>
                <a:spcPts val="0"/>
              </a:spcBef>
              <a:spcAft>
                <a:spcPts val="200"/>
              </a:spcAft>
              <a:defRPr sz="1700" b="1">
                <a:solidFill>
                  <a:srgbClr val="152C3B"/>
                </a:solidFill>
                <a:latin typeface="Lato"/>
              </a:defRPr>
            </a:pPr>
            <a:r>
              <a:t>•   Team Name  –  Point Break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42415"/>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365760" y="292608"/>
            <a:ext cx="1335024" cy="429768"/>
          </a:xfrm>
          <a:prstGeom prst="roundRect">
            <a:avLst>
              <a:gd name="adj" fmla="val 8000"/>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438912" y="425196"/>
            <a:ext cx="1188720" cy="210312"/>
          </a:xfrm>
          <a:prstGeom prst="rect">
            <a:avLst/>
          </a:prstGeom>
          <a:noFill/>
        </p:spPr>
        <p:txBody>
          <a:bodyPr wrap="square" lIns="0" rIns="0" tIns="0" bIns="0">
            <a:spAutoFit/>
          </a:bodyPr>
          <a:lstStyle/>
          <a:p>
            <a:pPr algn="ctr">
              <a:lnSpc>
                <a:spcPct val="105000"/>
              </a:lnSpc>
              <a:spcBef>
                <a:spcPts val="0"/>
              </a:spcBef>
              <a:spcAft>
                <a:spcPts val="200"/>
              </a:spcAft>
              <a:defRPr sz="1000" b="1">
                <a:solidFill>
                  <a:srgbClr val="FFFFFF"/>
                </a:solidFill>
                <a:latin typeface="Lato"/>
              </a:defRPr>
            </a:pPr>
            <a:r>
              <a:t>POINT BREAK</a:t>
            </a:r>
          </a:p>
        </p:txBody>
      </p:sp>
      <p:sp>
        <p:nvSpPr>
          <p:cNvPr id="5" name="TextBox 4"/>
          <p:cNvSpPr txBox="1"/>
          <p:nvPr/>
        </p:nvSpPr>
        <p:spPr>
          <a:xfrm>
            <a:off x="1874519" y="347472"/>
            <a:ext cx="7863840" cy="457200"/>
          </a:xfrm>
          <a:prstGeom prst="rect">
            <a:avLst/>
          </a:prstGeom>
          <a:noFill/>
        </p:spPr>
        <p:txBody>
          <a:bodyPr wrap="square" lIns="0" rIns="0" tIns="0" bIns="0">
            <a:spAutoFit/>
          </a:bodyPr>
          <a:lstStyle/>
          <a:p>
            <a:pPr algn="ctr">
              <a:lnSpc>
                <a:spcPct val="105000"/>
              </a:lnSpc>
              <a:spcBef>
                <a:spcPts val="0"/>
              </a:spcBef>
              <a:spcAft>
                <a:spcPts val="200"/>
              </a:spcAft>
              <a:defRPr sz="2300" b="1">
                <a:solidFill>
                  <a:srgbClr val="152C3B"/>
                </a:solidFill>
                <a:latin typeface="Lato"/>
              </a:defRPr>
            </a:pPr>
            <a:r>
              <a:t>IDEA TITLE</a:t>
            </a:r>
          </a:p>
        </p:txBody>
      </p:sp>
      <p:pic>
        <p:nvPicPr>
          <p:cNvPr id="6" name="Picture 5" descr="image.png"/>
          <p:cNvPicPr>
            <a:picLocks noChangeAspect="1"/>
          </p:cNvPicPr>
          <p:nvPr/>
        </p:nvPicPr>
        <p:blipFill>
          <a:blip r:embed="rId3"/>
          <a:stretch>
            <a:fillRect/>
          </a:stretch>
        </p:blipFill>
        <p:spPr>
          <a:xfrm>
            <a:off x="10125030" y="155448"/>
            <a:ext cx="1549235" cy="731520"/>
          </a:xfrm>
          <a:prstGeom prst="rect">
            <a:avLst/>
          </a:prstGeom>
        </p:spPr>
      </p:pic>
      <p:sp>
        <p:nvSpPr>
          <p:cNvPr id="7" name="Rectangle 6"/>
          <p:cNvSpPr/>
          <p:nvPr/>
        </p:nvSpPr>
        <p:spPr>
          <a:xfrm>
            <a:off x="365760" y="1024128"/>
            <a:ext cx="11430000"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0" y="6355080"/>
            <a:ext cx="12191695" cy="502920"/>
          </a:xfrm>
          <a:prstGeom prst="rect">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11480" y="6510528"/>
            <a:ext cx="2743200" cy="182880"/>
          </a:xfrm>
          <a:prstGeom prst="rect">
            <a:avLst/>
          </a:prstGeom>
          <a:noFill/>
        </p:spPr>
        <p:txBody>
          <a:bodyPr wrap="square" lIns="0" rIns="0" tIns="0" bIns="0">
            <a:spAutoFit/>
          </a:bodyPr>
          <a:lstStyle/>
          <a:p>
            <a:pPr>
              <a:lnSpc>
                <a:spcPct val="105000"/>
              </a:lnSpc>
              <a:spcBef>
                <a:spcPts val="0"/>
              </a:spcBef>
              <a:spcAft>
                <a:spcPts val="200"/>
              </a:spcAft>
              <a:defRPr sz="900" b="1">
                <a:solidFill>
                  <a:srgbClr val="FFFFFF"/>
                </a:solidFill>
                <a:latin typeface="Lato"/>
              </a:defRPr>
            </a:pPr>
            <a:r>
              <a:t>PRAHARI  /  POINT BREAK</a:t>
            </a:r>
          </a:p>
        </p:txBody>
      </p:sp>
      <p:sp>
        <p:nvSpPr>
          <p:cNvPr id="10" name="TextBox 9"/>
          <p:cNvSpPr txBox="1"/>
          <p:nvPr/>
        </p:nvSpPr>
        <p:spPr>
          <a:xfrm>
            <a:off x="4389120" y="6510528"/>
            <a:ext cx="3749039" cy="182880"/>
          </a:xfrm>
          <a:prstGeom prst="rect">
            <a:avLst/>
          </a:prstGeom>
          <a:noFill/>
        </p:spPr>
        <p:txBody>
          <a:bodyPr wrap="square" lIns="0" rIns="0" tIns="0" bIns="0">
            <a:spAutoFit/>
          </a:bodyPr>
          <a:lstStyle/>
          <a:p>
            <a:pPr algn="ctr">
              <a:lnSpc>
                <a:spcPct val="105000"/>
              </a:lnSpc>
              <a:spcBef>
                <a:spcPts val="0"/>
              </a:spcBef>
              <a:spcAft>
                <a:spcPts val="200"/>
              </a:spcAft>
              <a:defRPr sz="900" b="0">
                <a:solidFill>
                  <a:srgbClr val="CFD9DB"/>
                </a:solidFill>
                <a:latin typeface="Lato"/>
              </a:defRPr>
            </a:pPr>
            <a:r>
              <a:t>@SIH Idea submission- Template</a:t>
            </a:r>
          </a:p>
        </p:txBody>
      </p:sp>
      <p:sp>
        <p:nvSpPr>
          <p:cNvPr id="11" name="TextBox 10"/>
          <p:cNvSpPr txBox="1"/>
          <p:nvPr/>
        </p:nvSpPr>
        <p:spPr>
          <a:xfrm>
            <a:off x="10652760" y="6492240"/>
            <a:ext cx="1051560" cy="210312"/>
          </a:xfrm>
          <a:prstGeom prst="rect">
            <a:avLst/>
          </a:prstGeom>
          <a:noFill/>
        </p:spPr>
        <p:txBody>
          <a:bodyPr wrap="square" lIns="0" rIns="0" tIns="0" bIns="0">
            <a:spAutoFit/>
          </a:bodyPr>
          <a:lstStyle/>
          <a:p>
            <a:pPr algn="r">
              <a:lnSpc>
                <a:spcPct val="105000"/>
              </a:lnSpc>
              <a:spcBef>
                <a:spcPts val="0"/>
              </a:spcBef>
              <a:spcAft>
                <a:spcPts val="200"/>
              </a:spcAft>
              <a:defRPr sz="1000" b="1">
                <a:solidFill>
                  <a:srgbClr val="FFFFFF"/>
                </a:solidFill>
                <a:latin typeface="Lato"/>
              </a:defRPr>
            </a:pPr>
            <a:r>
              <a:t>02 / 06</a:t>
            </a:r>
          </a:p>
        </p:txBody>
      </p:sp>
      <p:sp>
        <p:nvSpPr>
          <p:cNvPr id="12" name="TextBox 11"/>
          <p:cNvSpPr txBox="1"/>
          <p:nvPr/>
        </p:nvSpPr>
        <p:spPr>
          <a:xfrm>
            <a:off x="457200" y="1207008"/>
            <a:ext cx="11064240" cy="420624"/>
          </a:xfrm>
          <a:prstGeom prst="rect">
            <a:avLst/>
          </a:prstGeom>
          <a:noFill/>
        </p:spPr>
        <p:txBody>
          <a:bodyPr wrap="square" lIns="0" rIns="0" tIns="0" bIns="0">
            <a:spAutoFit/>
          </a:bodyPr>
          <a:lstStyle/>
          <a:p>
            <a:pPr>
              <a:lnSpc>
                <a:spcPct val="105000"/>
              </a:lnSpc>
              <a:spcBef>
                <a:spcPts val="0"/>
              </a:spcBef>
              <a:spcAft>
                <a:spcPts val="200"/>
              </a:spcAft>
              <a:defRPr sz="2900" b="1">
                <a:solidFill>
                  <a:srgbClr val="152C3B"/>
                </a:solidFill>
                <a:latin typeface="Lato"/>
              </a:defRPr>
            </a:pPr>
            <a:r>
              <a:t>PRAHARI: two warnings, one system.</a:t>
            </a:r>
          </a:p>
        </p:txBody>
      </p:sp>
      <p:sp>
        <p:nvSpPr>
          <p:cNvPr id="13" name="TextBox 12"/>
          <p:cNvSpPr txBox="1"/>
          <p:nvPr/>
        </p:nvSpPr>
        <p:spPr>
          <a:xfrm>
            <a:off x="457200" y="1700784"/>
            <a:ext cx="11064240" cy="237744"/>
          </a:xfrm>
          <a:prstGeom prst="rect">
            <a:avLst/>
          </a:prstGeom>
          <a:noFill/>
        </p:spPr>
        <p:txBody>
          <a:bodyPr wrap="square" lIns="0" rIns="0" tIns="0" bIns="0">
            <a:spAutoFit/>
          </a:bodyPr>
          <a:lstStyle/>
          <a:p>
            <a:pPr>
              <a:lnSpc>
                <a:spcPct val="105000"/>
              </a:lnSpc>
              <a:spcBef>
                <a:spcPts val="0"/>
              </a:spcBef>
              <a:spcAft>
                <a:spcPts val="200"/>
              </a:spcAft>
              <a:defRPr sz="1400" b="0">
                <a:solidFill>
                  <a:srgbClr val="5B6C73"/>
                </a:solidFill>
                <a:latin typeface="Lato"/>
              </a:defRPr>
            </a:pPr>
            <a:r>
              <a:t>Proposed solution  /  Personal heat-strain awareness + official multi-hazard early warning</a:t>
            </a:r>
          </a:p>
        </p:txBody>
      </p:sp>
      <p:pic>
        <p:nvPicPr>
          <p:cNvPr id="14" name="Picture 13" descr="flood.jpg"/>
          <p:cNvPicPr>
            <a:picLocks noChangeAspect="1"/>
          </p:cNvPicPr>
          <p:nvPr/>
        </p:nvPicPr>
        <p:blipFill>
          <a:blip r:embed="rId4"/>
          <a:srcRect l="5195" r="5195"/>
          <a:stretch>
            <a:fillRect/>
          </a:stretch>
        </p:blipFill>
        <p:spPr>
          <a:xfrm>
            <a:off x="457200" y="2093976"/>
            <a:ext cx="1737360" cy="1289304"/>
          </a:xfrm>
          <a:prstGeom prst="rect">
            <a:avLst/>
          </a:prstGeom>
        </p:spPr>
      </p:pic>
      <p:sp>
        <p:nvSpPr>
          <p:cNvPr id="15" name="TextBox 14"/>
          <p:cNvSpPr txBox="1"/>
          <p:nvPr/>
        </p:nvSpPr>
        <p:spPr>
          <a:xfrm>
            <a:off x="2359152" y="2139696"/>
            <a:ext cx="3566160" cy="283464"/>
          </a:xfrm>
          <a:prstGeom prst="rect">
            <a:avLst/>
          </a:prstGeom>
          <a:noFill/>
        </p:spPr>
        <p:txBody>
          <a:bodyPr wrap="square" lIns="0" rIns="0" tIns="0" bIns="0">
            <a:spAutoFit/>
          </a:bodyPr>
          <a:lstStyle/>
          <a:p>
            <a:pPr>
              <a:lnSpc>
                <a:spcPct val="105000"/>
              </a:lnSpc>
              <a:spcBef>
                <a:spcPts val="0"/>
              </a:spcBef>
              <a:spcAft>
                <a:spcPts val="200"/>
              </a:spcAft>
              <a:defRPr sz="1600" b="1">
                <a:solidFill>
                  <a:srgbClr val="287F79"/>
                </a:solidFill>
                <a:latin typeface="Lato"/>
              </a:defRPr>
            </a:pPr>
            <a:r>
              <a:t>THE HAZARD OUTSIDE</a:t>
            </a:r>
          </a:p>
        </p:txBody>
      </p:sp>
      <p:sp>
        <p:nvSpPr>
          <p:cNvPr id="16" name="TextBox 15"/>
          <p:cNvSpPr txBox="1"/>
          <p:nvPr/>
        </p:nvSpPr>
        <p:spPr>
          <a:xfrm>
            <a:off x="2359152" y="2569464"/>
            <a:ext cx="3547872" cy="731520"/>
          </a:xfrm>
          <a:prstGeom prst="rect">
            <a:avLst/>
          </a:prstGeom>
          <a:noFill/>
        </p:spPr>
        <p:txBody>
          <a:bodyPr wrap="square" lIns="0" rIns="0" tIns="0" bIns="0">
            <a:spAutoFit/>
          </a:bodyPr>
          <a:lstStyle/>
          <a:p>
            <a:pPr>
              <a:lnSpc>
                <a:spcPct val="105000"/>
              </a:lnSpc>
              <a:spcBef>
                <a:spcPts val="0"/>
              </a:spcBef>
              <a:spcAft>
                <a:spcPts val="200"/>
              </a:spcAft>
              <a:defRPr sz="1500" b="0">
                <a:solidFill>
                  <a:srgbClr val="152C3B"/>
                </a:solidFill>
                <a:latin typeface="Lato"/>
              </a:defRPr>
            </a:pPr>
            <a:r>
              <a:t>Flood, cyclone, heatwave and lightning alerts can fail to reach the last mile.</a:t>
            </a:r>
          </a:p>
        </p:txBody>
      </p:sp>
      <p:pic>
        <p:nvPicPr>
          <p:cNvPr id="17" name="Picture 16" descr="farmer.jpg"/>
          <p:cNvPicPr>
            <a:picLocks noChangeAspect="1"/>
          </p:cNvPicPr>
          <p:nvPr/>
        </p:nvPicPr>
        <p:blipFill>
          <a:blip r:embed="rId5"/>
          <a:srcRect l="5083" r="5083"/>
          <a:stretch>
            <a:fillRect/>
          </a:stretch>
        </p:blipFill>
        <p:spPr>
          <a:xfrm>
            <a:off x="6227064" y="2093976"/>
            <a:ext cx="1737360" cy="1289304"/>
          </a:xfrm>
          <a:prstGeom prst="rect">
            <a:avLst/>
          </a:prstGeom>
        </p:spPr>
      </p:pic>
      <p:sp>
        <p:nvSpPr>
          <p:cNvPr id="18" name="TextBox 17"/>
          <p:cNvSpPr txBox="1"/>
          <p:nvPr/>
        </p:nvSpPr>
        <p:spPr>
          <a:xfrm>
            <a:off x="8129016" y="2139696"/>
            <a:ext cx="3566160" cy="283464"/>
          </a:xfrm>
          <a:prstGeom prst="rect">
            <a:avLst/>
          </a:prstGeom>
          <a:noFill/>
        </p:spPr>
        <p:txBody>
          <a:bodyPr wrap="square" lIns="0" rIns="0" tIns="0" bIns="0">
            <a:spAutoFit/>
          </a:bodyPr>
          <a:lstStyle/>
          <a:p>
            <a:pPr>
              <a:lnSpc>
                <a:spcPct val="105000"/>
              </a:lnSpc>
              <a:spcBef>
                <a:spcPts val="0"/>
              </a:spcBef>
              <a:spcAft>
                <a:spcPts val="200"/>
              </a:spcAft>
              <a:defRPr sz="1600" b="1">
                <a:solidFill>
                  <a:srgbClr val="287F79"/>
                </a:solidFill>
                <a:latin typeface="Lato"/>
              </a:defRPr>
            </a:pPr>
            <a:r>
              <a:t>THE STRAIN INSIDE</a:t>
            </a:r>
          </a:p>
        </p:txBody>
      </p:sp>
      <p:sp>
        <p:nvSpPr>
          <p:cNvPr id="19" name="TextBox 18"/>
          <p:cNvSpPr txBox="1"/>
          <p:nvPr/>
        </p:nvSpPr>
        <p:spPr>
          <a:xfrm>
            <a:off x="8129016" y="2569464"/>
            <a:ext cx="3547872" cy="731520"/>
          </a:xfrm>
          <a:prstGeom prst="rect">
            <a:avLst/>
          </a:prstGeom>
          <a:noFill/>
        </p:spPr>
        <p:txBody>
          <a:bodyPr wrap="square" lIns="0" rIns="0" tIns="0" bIns="0">
            <a:spAutoFit/>
          </a:bodyPr>
          <a:lstStyle/>
          <a:p>
            <a:pPr>
              <a:lnSpc>
                <a:spcPct val="105000"/>
              </a:lnSpc>
              <a:spcBef>
                <a:spcPts val="0"/>
              </a:spcBef>
              <a:spcAft>
                <a:spcPts val="200"/>
              </a:spcAft>
              <a:defRPr sz="1500" b="0">
                <a:solidFill>
                  <a:srgbClr val="152C3B"/>
                </a:solidFill>
                <a:latin typeface="Lato"/>
              </a:defRPr>
            </a:pPr>
            <a:r>
              <a:t>Heat exposure and incomplete recovery differ from one worker to the next.</a:t>
            </a:r>
          </a:p>
        </p:txBody>
      </p:sp>
      <p:sp>
        <p:nvSpPr>
          <p:cNvPr id="20" name="Rounded Rectangle 19"/>
          <p:cNvSpPr/>
          <p:nvPr/>
        </p:nvSpPr>
        <p:spPr>
          <a:xfrm>
            <a:off x="457200" y="3602736"/>
            <a:ext cx="5495544" cy="1289304"/>
          </a:xfrm>
          <a:prstGeom prst="roundRect">
            <a:avLst>
              <a:gd name="adj" fmla="val 8000"/>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ounded Rectangle 20"/>
          <p:cNvSpPr/>
          <p:nvPr/>
        </p:nvSpPr>
        <p:spPr>
          <a:xfrm>
            <a:off x="6227064" y="3602736"/>
            <a:ext cx="5495544" cy="1289304"/>
          </a:xfrm>
          <a:prstGeom prst="roundRect">
            <a:avLst>
              <a:gd name="adj" fmla="val 8000"/>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49224" y="3749039"/>
            <a:ext cx="5093208" cy="265176"/>
          </a:xfrm>
          <a:prstGeom prst="rect">
            <a:avLst/>
          </a:prstGeom>
          <a:noFill/>
        </p:spPr>
        <p:txBody>
          <a:bodyPr wrap="square" lIns="0" rIns="0" tIns="0" bIns="0">
            <a:spAutoFit/>
          </a:bodyPr>
          <a:lstStyle/>
          <a:p>
            <a:pPr>
              <a:lnSpc>
                <a:spcPct val="105000"/>
              </a:lnSpc>
              <a:spcBef>
                <a:spcPts val="0"/>
              </a:spcBef>
              <a:spcAft>
                <a:spcPts val="200"/>
              </a:spcAft>
              <a:defRPr sz="1700" b="1">
                <a:solidFill>
                  <a:srgbClr val="E5AE48"/>
                </a:solidFill>
                <a:latin typeface="Lato"/>
              </a:defRPr>
            </a:pPr>
            <a:r>
              <a:t>01  THE BAND</a:t>
            </a:r>
          </a:p>
        </p:txBody>
      </p:sp>
      <p:sp>
        <p:nvSpPr>
          <p:cNvPr id="23" name="TextBox 22"/>
          <p:cNvSpPr txBox="1"/>
          <p:nvPr/>
        </p:nvSpPr>
        <p:spPr>
          <a:xfrm>
            <a:off x="649224" y="4123944"/>
            <a:ext cx="5102352" cy="667512"/>
          </a:xfrm>
          <a:prstGeom prst="rect">
            <a:avLst/>
          </a:prstGeom>
          <a:noFill/>
        </p:spPr>
        <p:txBody>
          <a:bodyPr wrap="square" lIns="0" rIns="0" tIns="0" bIns="0">
            <a:spAutoFit/>
          </a:bodyPr>
          <a:lstStyle/>
          <a:p>
            <a:pPr>
              <a:lnSpc>
                <a:spcPct val="105000"/>
              </a:lnSpc>
              <a:spcBef>
                <a:spcPts val="0"/>
              </a:spcBef>
              <a:spcAft>
                <a:spcPts val="200"/>
              </a:spcAft>
              <a:defRPr sz="1360" b="0">
                <a:solidFill>
                  <a:srgbClr val="FFFFFF"/>
                </a:solidFill>
                <a:latin typeface="Lato"/>
              </a:defRPr>
            </a:pPr>
            <a:r>
              <a:t>• Heart rate, skin temperature, ambient heat and motion</a:t>
            </a:r>
          </a:p>
          <a:p>
            <a:pPr>
              <a:lnSpc>
                <a:spcPct val="105000"/>
              </a:lnSpc>
              <a:spcBef>
                <a:spcPts val="0"/>
              </a:spcBef>
              <a:spcAft>
                <a:spcPts val="200"/>
              </a:spcAft>
              <a:defRPr sz="1360" b="0">
                <a:solidFill>
                  <a:srgbClr val="FFFFFF"/>
                </a:solidFill>
                <a:latin typeface="Lato"/>
              </a:defRPr>
            </a:pPr>
            <a:r>
              <a:t>• Local risk trend, OLED status and distinct haptic patterns</a:t>
            </a:r>
          </a:p>
          <a:p>
            <a:pPr>
              <a:lnSpc>
                <a:spcPct val="105000"/>
              </a:lnSpc>
              <a:spcBef>
                <a:spcPts val="0"/>
              </a:spcBef>
              <a:spcAft>
                <a:spcPts val="200"/>
              </a:spcAft>
              <a:defRPr sz="1360" b="0">
                <a:solidFill>
                  <a:srgbClr val="FFFFFF"/>
                </a:solidFill>
                <a:latin typeface="Lato"/>
              </a:defRPr>
            </a:pPr>
            <a:r>
              <a:t>• LoRa peer relaying extends alerts beyond the gateway</a:t>
            </a:r>
          </a:p>
        </p:txBody>
      </p:sp>
      <p:sp>
        <p:nvSpPr>
          <p:cNvPr id="24" name="TextBox 23"/>
          <p:cNvSpPr txBox="1"/>
          <p:nvPr/>
        </p:nvSpPr>
        <p:spPr>
          <a:xfrm>
            <a:off x="6428232" y="3749039"/>
            <a:ext cx="5093208" cy="265176"/>
          </a:xfrm>
          <a:prstGeom prst="rect">
            <a:avLst/>
          </a:prstGeom>
          <a:noFill/>
        </p:spPr>
        <p:txBody>
          <a:bodyPr wrap="square" lIns="0" rIns="0" tIns="0" bIns="0">
            <a:spAutoFit/>
          </a:bodyPr>
          <a:lstStyle/>
          <a:p>
            <a:pPr>
              <a:lnSpc>
                <a:spcPct val="105000"/>
              </a:lnSpc>
              <a:spcBef>
                <a:spcPts val="0"/>
              </a:spcBef>
              <a:spcAft>
                <a:spcPts val="200"/>
              </a:spcAft>
              <a:defRPr sz="1700" b="1">
                <a:solidFill>
                  <a:srgbClr val="E5AE48"/>
                </a:solidFill>
                <a:latin typeface="Lato"/>
              </a:defRPr>
            </a:pPr>
            <a:r>
              <a:t>02  THE COMPANION APP</a:t>
            </a:r>
          </a:p>
        </p:txBody>
      </p:sp>
      <p:sp>
        <p:nvSpPr>
          <p:cNvPr id="25" name="TextBox 24"/>
          <p:cNvSpPr txBox="1"/>
          <p:nvPr/>
        </p:nvSpPr>
        <p:spPr>
          <a:xfrm>
            <a:off x="6428232" y="4123944"/>
            <a:ext cx="5074920" cy="667512"/>
          </a:xfrm>
          <a:prstGeom prst="rect">
            <a:avLst/>
          </a:prstGeom>
          <a:noFill/>
        </p:spPr>
        <p:txBody>
          <a:bodyPr wrap="square" lIns="0" rIns="0" tIns="0" bIns="0">
            <a:spAutoFit/>
          </a:bodyPr>
          <a:lstStyle/>
          <a:p>
            <a:pPr>
              <a:lnSpc>
                <a:spcPct val="105000"/>
              </a:lnSpc>
              <a:spcBef>
                <a:spcPts val="0"/>
              </a:spcBef>
              <a:spcAft>
                <a:spcPts val="200"/>
              </a:spcAft>
              <a:defRPr sz="1360" b="0">
                <a:solidFill>
                  <a:srgbClr val="FFFFFF"/>
                </a:solidFill>
                <a:latin typeface="Lato"/>
              </a:defRPr>
            </a:pPr>
            <a:r>
              <a:t>• Fetches official NDMA SACHET CAP alerts when online</a:t>
            </a:r>
          </a:p>
          <a:p>
            <a:pPr>
              <a:lnSpc>
                <a:spcPct val="105000"/>
              </a:lnSpc>
              <a:spcBef>
                <a:spcPts val="0"/>
              </a:spcBef>
              <a:spcAft>
                <a:spcPts val="200"/>
              </a:spcAft>
              <a:defRPr sz="1360" b="0">
                <a:solidFill>
                  <a:srgbClr val="FFFFFF"/>
                </a:solidFill>
                <a:latin typeface="Lato"/>
              </a:defRPr>
            </a:pPr>
            <a:r>
              <a:t>• Sends relevant alerts by BLE to a LoRa gateway band</a:t>
            </a:r>
          </a:p>
          <a:p>
            <a:pPr>
              <a:lnSpc>
                <a:spcPct val="105000"/>
              </a:lnSpc>
              <a:spcBef>
                <a:spcPts val="0"/>
              </a:spcBef>
              <a:spcAft>
                <a:spcPts val="200"/>
              </a:spcAft>
              <a:defRPr sz="1360" b="0">
                <a:solidFill>
                  <a:srgbClr val="FFFFFF"/>
                </a:solidFill>
                <a:latin typeface="Lato"/>
              </a:defRPr>
            </a:pPr>
            <a:r>
              <a:t>• Keeps offline history and recovery records on the phone</a:t>
            </a:r>
          </a:p>
        </p:txBody>
      </p:sp>
      <p:sp>
        <p:nvSpPr>
          <p:cNvPr id="26" name="TextBox 25"/>
          <p:cNvSpPr txBox="1"/>
          <p:nvPr/>
        </p:nvSpPr>
        <p:spPr>
          <a:xfrm>
            <a:off x="475488" y="5129784"/>
            <a:ext cx="5486400" cy="210312"/>
          </a:xfrm>
          <a:prstGeom prst="rect">
            <a:avLst/>
          </a:prstGeom>
          <a:noFill/>
        </p:spPr>
        <p:txBody>
          <a:bodyPr wrap="square" lIns="0" rIns="0" tIns="0" bIns="0">
            <a:spAutoFit/>
          </a:bodyPr>
          <a:lstStyle/>
          <a:p>
            <a:pPr>
              <a:lnSpc>
                <a:spcPct val="105000"/>
              </a:lnSpc>
              <a:spcBef>
                <a:spcPts val="0"/>
              </a:spcBef>
              <a:spcAft>
                <a:spcPts val="200"/>
              </a:spcAft>
              <a:defRPr sz="1100" b="1">
                <a:solidFill>
                  <a:srgbClr val="287F79"/>
                </a:solidFill>
                <a:latin typeface="Lato"/>
              </a:defRPr>
            </a:pPr>
            <a:r>
              <a:t>INNOVATION &amp; UNIQUENESS</a:t>
            </a:r>
          </a:p>
        </p:txBody>
      </p:sp>
      <p:sp>
        <p:nvSpPr>
          <p:cNvPr id="27" name="TextBox 26"/>
          <p:cNvSpPr txBox="1"/>
          <p:nvPr/>
        </p:nvSpPr>
        <p:spPr>
          <a:xfrm>
            <a:off x="475488" y="5449824"/>
            <a:ext cx="3520440" cy="283464"/>
          </a:xfrm>
          <a:prstGeom prst="rect">
            <a:avLst/>
          </a:prstGeom>
          <a:noFill/>
        </p:spPr>
        <p:txBody>
          <a:bodyPr wrap="square" lIns="0" rIns="0" tIns="0" bIns="0">
            <a:spAutoFit/>
          </a:bodyPr>
          <a:lstStyle/>
          <a:p>
            <a:pPr>
              <a:lnSpc>
                <a:spcPct val="105000"/>
              </a:lnSpc>
              <a:spcBef>
                <a:spcPts val="0"/>
              </a:spcBef>
              <a:spcAft>
                <a:spcPts val="200"/>
              </a:spcAft>
              <a:defRPr sz="1700" b="1">
                <a:solidFill>
                  <a:srgbClr val="152C3B"/>
                </a:solidFill>
                <a:latin typeface="Lato"/>
              </a:defRPr>
            </a:pPr>
            <a:r>
              <a:t>Personal countdown*</a:t>
            </a:r>
          </a:p>
        </p:txBody>
      </p:sp>
      <p:sp>
        <p:nvSpPr>
          <p:cNvPr id="28" name="TextBox 27"/>
          <p:cNvSpPr txBox="1"/>
          <p:nvPr/>
        </p:nvSpPr>
        <p:spPr>
          <a:xfrm>
            <a:off x="475488" y="5806440"/>
            <a:ext cx="3529584" cy="329184"/>
          </a:xfrm>
          <a:prstGeom prst="rect">
            <a:avLst/>
          </a:prstGeom>
          <a:noFill/>
        </p:spPr>
        <p:txBody>
          <a:bodyPr wrap="square" lIns="0" rIns="0" tIns="0" bIns="0">
            <a:spAutoFit/>
          </a:bodyPr>
          <a:lstStyle/>
          <a:p>
            <a:pPr>
              <a:lnSpc>
                <a:spcPct val="105000"/>
              </a:lnSpc>
              <a:spcBef>
                <a:spcPts val="0"/>
              </a:spcBef>
              <a:spcAft>
                <a:spcPts val="200"/>
              </a:spcAft>
              <a:defRPr sz="1140" b="0">
                <a:solidFill>
                  <a:srgbClr val="5B6C73"/>
                </a:solidFill>
                <a:latin typeface="Lato"/>
              </a:defRPr>
            </a:pPr>
            <a:r>
              <a:t>Estimate time to a heat-risk threshold</a:t>
            </a:r>
          </a:p>
          <a:p>
            <a:pPr>
              <a:lnSpc>
                <a:spcPct val="105000"/>
              </a:lnSpc>
              <a:spcBef>
                <a:spcPts val="0"/>
              </a:spcBef>
              <a:spcAft>
                <a:spcPts val="200"/>
              </a:spcAft>
              <a:defRPr sz="1140" b="0">
                <a:solidFill>
                  <a:srgbClr val="5B6C73"/>
                </a:solidFill>
                <a:latin typeface="Lato"/>
              </a:defRPr>
            </a:pPr>
            <a:r>
              <a:t>only when signal quality permits.</a:t>
            </a:r>
          </a:p>
        </p:txBody>
      </p:sp>
      <p:sp>
        <p:nvSpPr>
          <p:cNvPr id="29" name="TextBox 28"/>
          <p:cNvSpPr txBox="1"/>
          <p:nvPr/>
        </p:nvSpPr>
        <p:spPr>
          <a:xfrm>
            <a:off x="4361688" y="5449824"/>
            <a:ext cx="3520440" cy="283464"/>
          </a:xfrm>
          <a:prstGeom prst="rect">
            <a:avLst/>
          </a:prstGeom>
          <a:noFill/>
        </p:spPr>
        <p:txBody>
          <a:bodyPr wrap="square" lIns="0" rIns="0" tIns="0" bIns="0">
            <a:spAutoFit/>
          </a:bodyPr>
          <a:lstStyle/>
          <a:p>
            <a:pPr>
              <a:lnSpc>
                <a:spcPct val="105000"/>
              </a:lnSpc>
              <a:spcBef>
                <a:spcPts val="0"/>
              </a:spcBef>
              <a:spcAft>
                <a:spcPts val="200"/>
              </a:spcAft>
              <a:defRPr sz="1700" b="1">
                <a:solidFill>
                  <a:srgbClr val="152C3B"/>
                </a:solidFill>
                <a:latin typeface="Lato"/>
              </a:defRPr>
            </a:pPr>
            <a:r>
              <a:t>Thermal debt ledger*</a:t>
            </a:r>
          </a:p>
        </p:txBody>
      </p:sp>
      <p:sp>
        <p:nvSpPr>
          <p:cNvPr id="30" name="TextBox 29"/>
          <p:cNvSpPr txBox="1"/>
          <p:nvPr/>
        </p:nvSpPr>
        <p:spPr>
          <a:xfrm>
            <a:off x="4361688" y="5806440"/>
            <a:ext cx="3529584" cy="329184"/>
          </a:xfrm>
          <a:prstGeom prst="rect">
            <a:avLst/>
          </a:prstGeom>
          <a:noFill/>
        </p:spPr>
        <p:txBody>
          <a:bodyPr wrap="square" lIns="0" rIns="0" tIns="0" bIns="0">
            <a:spAutoFit/>
          </a:bodyPr>
          <a:lstStyle/>
          <a:p>
            <a:pPr>
              <a:lnSpc>
                <a:spcPct val="105000"/>
              </a:lnSpc>
              <a:spcBef>
                <a:spcPts val="0"/>
              </a:spcBef>
              <a:spcAft>
                <a:spcPts val="200"/>
              </a:spcAft>
              <a:defRPr sz="1140" b="0">
                <a:solidFill>
                  <a:srgbClr val="5B6C73"/>
                </a:solidFill>
                <a:latin typeface="Lato"/>
              </a:defRPr>
            </a:pPr>
            <a:r>
              <a:t>Carry cumulative strain and recovery</a:t>
            </a:r>
          </a:p>
          <a:p>
            <a:pPr>
              <a:lnSpc>
                <a:spcPct val="105000"/>
              </a:lnSpc>
              <a:spcBef>
                <a:spcPts val="0"/>
              </a:spcBef>
              <a:spcAft>
                <a:spcPts val="200"/>
              </a:spcAft>
              <a:defRPr sz="1140" b="0">
                <a:solidFill>
                  <a:srgbClr val="5B6C73"/>
                </a:solidFill>
                <a:latin typeface="Lato"/>
              </a:defRPr>
            </a:pPr>
            <a:r>
              <a:t>across shifts and overnight.</a:t>
            </a:r>
          </a:p>
        </p:txBody>
      </p:sp>
      <p:sp>
        <p:nvSpPr>
          <p:cNvPr id="31" name="TextBox 30"/>
          <p:cNvSpPr txBox="1"/>
          <p:nvPr/>
        </p:nvSpPr>
        <p:spPr>
          <a:xfrm>
            <a:off x="8229600" y="5449824"/>
            <a:ext cx="3520440" cy="283464"/>
          </a:xfrm>
          <a:prstGeom prst="rect">
            <a:avLst/>
          </a:prstGeom>
          <a:noFill/>
        </p:spPr>
        <p:txBody>
          <a:bodyPr wrap="square" lIns="0" rIns="0" tIns="0" bIns="0">
            <a:spAutoFit/>
          </a:bodyPr>
          <a:lstStyle/>
          <a:p>
            <a:pPr>
              <a:lnSpc>
                <a:spcPct val="105000"/>
              </a:lnSpc>
              <a:spcBef>
                <a:spcPts val="0"/>
              </a:spcBef>
              <a:spcAft>
                <a:spcPts val="200"/>
              </a:spcAft>
              <a:defRPr sz="1700" b="1">
                <a:solidFill>
                  <a:srgbClr val="152C3B"/>
                </a:solidFill>
                <a:latin typeface="Lato"/>
              </a:defRPr>
            </a:pPr>
            <a:r>
              <a:t>Two warnings, one wrist</a:t>
            </a:r>
          </a:p>
        </p:txBody>
      </p:sp>
      <p:sp>
        <p:nvSpPr>
          <p:cNvPr id="32" name="TextBox 31"/>
          <p:cNvSpPr txBox="1"/>
          <p:nvPr/>
        </p:nvSpPr>
        <p:spPr>
          <a:xfrm>
            <a:off x="8229600" y="5806440"/>
            <a:ext cx="3529584" cy="329184"/>
          </a:xfrm>
          <a:prstGeom prst="rect">
            <a:avLst/>
          </a:prstGeom>
          <a:noFill/>
        </p:spPr>
        <p:txBody>
          <a:bodyPr wrap="square" lIns="0" rIns="0" tIns="0" bIns="0">
            <a:spAutoFit/>
          </a:bodyPr>
          <a:lstStyle/>
          <a:p>
            <a:pPr>
              <a:lnSpc>
                <a:spcPct val="105000"/>
              </a:lnSpc>
              <a:spcBef>
                <a:spcPts val="0"/>
              </a:spcBef>
              <a:spcAft>
                <a:spcPts val="200"/>
              </a:spcAft>
              <a:defRPr sz="1140" b="0">
                <a:solidFill>
                  <a:srgbClr val="5B6C73"/>
                </a:solidFill>
                <a:latin typeface="Lato"/>
              </a:defRPr>
            </a:pPr>
            <a:r>
              <a:t>Separate hazard and strain patterns;</a:t>
            </a:r>
          </a:p>
          <a:p>
            <a:pPr>
              <a:lnSpc>
                <a:spcPct val="105000"/>
              </a:lnSpc>
              <a:spcBef>
                <a:spcPts val="0"/>
              </a:spcBef>
              <a:spcAft>
                <a:spcPts val="200"/>
              </a:spcAft>
              <a:defRPr sz="1140" b="0">
                <a:solidFill>
                  <a:srgbClr val="5B6C73"/>
                </a:solidFill>
                <a:latin typeface="Lato"/>
              </a:defRPr>
            </a:pPr>
            <a:r>
              <a:t>local reception needs no personal phone.</a:t>
            </a:r>
          </a:p>
        </p:txBody>
      </p:sp>
      <p:sp>
        <p:nvSpPr>
          <p:cNvPr id="33" name="TextBox 32"/>
          <p:cNvSpPr txBox="1"/>
          <p:nvPr/>
        </p:nvSpPr>
        <p:spPr>
          <a:xfrm>
            <a:off x="475488" y="6153912"/>
            <a:ext cx="11155680" cy="155448"/>
          </a:xfrm>
          <a:prstGeom prst="rect">
            <a:avLst/>
          </a:prstGeom>
          <a:noFill/>
        </p:spPr>
        <p:txBody>
          <a:bodyPr wrap="square" lIns="0" rIns="0" tIns="0" bIns="0">
            <a:spAutoFit/>
          </a:bodyPr>
          <a:lstStyle/>
          <a:p>
            <a:pPr>
              <a:lnSpc>
                <a:spcPct val="105000"/>
              </a:lnSpc>
              <a:spcBef>
                <a:spcPts val="0"/>
              </a:spcBef>
              <a:spcAft>
                <a:spcPts val="200"/>
              </a:spcAft>
              <a:defRPr sz="819" b="0">
                <a:solidFill>
                  <a:srgbClr val="5B6C73"/>
                </a:solidFill>
                <a:latin typeface="Lato"/>
              </a:defRPr>
            </a:pPr>
            <a:r>
              <a:t>*Proposed, to validate. Photos: Dibakar Roy (Kolkata flood); Abhishek Gupta (Indian farmer) / Pexels. Context images, not trials.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42415"/>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365760" y="292608"/>
            <a:ext cx="1335024" cy="429768"/>
          </a:xfrm>
          <a:prstGeom prst="roundRect">
            <a:avLst>
              <a:gd name="adj" fmla="val 8000"/>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438912" y="425196"/>
            <a:ext cx="1188720" cy="210312"/>
          </a:xfrm>
          <a:prstGeom prst="rect">
            <a:avLst/>
          </a:prstGeom>
          <a:noFill/>
        </p:spPr>
        <p:txBody>
          <a:bodyPr wrap="square" lIns="0" rIns="0" tIns="0" bIns="0">
            <a:spAutoFit/>
          </a:bodyPr>
          <a:lstStyle/>
          <a:p>
            <a:pPr algn="ctr">
              <a:lnSpc>
                <a:spcPct val="105000"/>
              </a:lnSpc>
              <a:spcBef>
                <a:spcPts val="0"/>
              </a:spcBef>
              <a:spcAft>
                <a:spcPts val="200"/>
              </a:spcAft>
              <a:defRPr sz="1000" b="1">
                <a:solidFill>
                  <a:srgbClr val="FFFFFF"/>
                </a:solidFill>
                <a:latin typeface="Lato"/>
              </a:defRPr>
            </a:pPr>
            <a:r>
              <a:t>POINT BREAK</a:t>
            </a:r>
          </a:p>
        </p:txBody>
      </p:sp>
      <p:sp>
        <p:nvSpPr>
          <p:cNvPr id="5" name="TextBox 4"/>
          <p:cNvSpPr txBox="1"/>
          <p:nvPr/>
        </p:nvSpPr>
        <p:spPr>
          <a:xfrm>
            <a:off x="1874519" y="347472"/>
            <a:ext cx="7863840" cy="457200"/>
          </a:xfrm>
          <a:prstGeom prst="rect">
            <a:avLst/>
          </a:prstGeom>
          <a:noFill/>
        </p:spPr>
        <p:txBody>
          <a:bodyPr wrap="square" lIns="0" rIns="0" tIns="0" bIns="0">
            <a:spAutoFit/>
          </a:bodyPr>
          <a:lstStyle/>
          <a:p>
            <a:pPr algn="ctr">
              <a:lnSpc>
                <a:spcPct val="105000"/>
              </a:lnSpc>
              <a:spcBef>
                <a:spcPts val="0"/>
              </a:spcBef>
              <a:spcAft>
                <a:spcPts val="200"/>
              </a:spcAft>
              <a:defRPr sz="2300" b="1">
                <a:solidFill>
                  <a:srgbClr val="152C3B"/>
                </a:solidFill>
                <a:latin typeface="Lato"/>
              </a:defRPr>
            </a:pPr>
            <a:r>
              <a:t>TECHNICAL APPROACH</a:t>
            </a:r>
          </a:p>
        </p:txBody>
      </p:sp>
      <p:pic>
        <p:nvPicPr>
          <p:cNvPr id="6" name="Picture 5" descr="image.png"/>
          <p:cNvPicPr>
            <a:picLocks noChangeAspect="1"/>
          </p:cNvPicPr>
          <p:nvPr/>
        </p:nvPicPr>
        <p:blipFill>
          <a:blip r:embed="rId3"/>
          <a:stretch>
            <a:fillRect/>
          </a:stretch>
        </p:blipFill>
        <p:spPr>
          <a:xfrm>
            <a:off x="10125030" y="155448"/>
            <a:ext cx="1549235" cy="731520"/>
          </a:xfrm>
          <a:prstGeom prst="rect">
            <a:avLst/>
          </a:prstGeom>
        </p:spPr>
      </p:pic>
      <p:sp>
        <p:nvSpPr>
          <p:cNvPr id="7" name="Rectangle 6"/>
          <p:cNvSpPr/>
          <p:nvPr/>
        </p:nvSpPr>
        <p:spPr>
          <a:xfrm>
            <a:off x="365760" y="1024128"/>
            <a:ext cx="11430000"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0" y="6355080"/>
            <a:ext cx="12191695" cy="502920"/>
          </a:xfrm>
          <a:prstGeom prst="rect">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11480" y="6510528"/>
            <a:ext cx="2743200" cy="182880"/>
          </a:xfrm>
          <a:prstGeom prst="rect">
            <a:avLst/>
          </a:prstGeom>
          <a:noFill/>
        </p:spPr>
        <p:txBody>
          <a:bodyPr wrap="square" lIns="0" rIns="0" tIns="0" bIns="0">
            <a:spAutoFit/>
          </a:bodyPr>
          <a:lstStyle/>
          <a:p>
            <a:pPr>
              <a:lnSpc>
                <a:spcPct val="105000"/>
              </a:lnSpc>
              <a:spcBef>
                <a:spcPts val="0"/>
              </a:spcBef>
              <a:spcAft>
                <a:spcPts val="200"/>
              </a:spcAft>
              <a:defRPr sz="900" b="1">
                <a:solidFill>
                  <a:srgbClr val="FFFFFF"/>
                </a:solidFill>
                <a:latin typeface="Lato"/>
              </a:defRPr>
            </a:pPr>
            <a:r>
              <a:t>PRAHARI  /  POINT BREAK</a:t>
            </a:r>
          </a:p>
        </p:txBody>
      </p:sp>
      <p:sp>
        <p:nvSpPr>
          <p:cNvPr id="10" name="TextBox 9"/>
          <p:cNvSpPr txBox="1"/>
          <p:nvPr/>
        </p:nvSpPr>
        <p:spPr>
          <a:xfrm>
            <a:off x="4389120" y="6510528"/>
            <a:ext cx="3749039" cy="182880"/>
          </a:xfrm>
          <a:prstGeom prst="rect">
            <a:avLst/>
          </a:prstGeom>
          <a:noFill/>
        </p:spPr>
        <p:txBody>
          <a:bodyPr wrap="square" lIns="0" rIns="0" tIns="0" bIns="0">
            <a:spAutoFit/>
          </a:bodyPr>
          <a:lstStyle/>
          <a:p>
            <a:pPr algn="ctr">
              <a:lnSpc>
                <a:spcPct val="105000"/>
              </a:lnSpc>
              <a:spcBef>
                <a:spcPts val="0"/>
              </a:spcBef>
              <a:spcAft>
                <a:spcPts val="200"/>
              </a:spcAft>
              <a:defRPr sz="900" b="0">
                <a:solidFill>
                  <a:srgbClr val="CFD9DB"/>
                </a:solidFill>
                <a:latin typeface="Lato"/>
              </a:defRPr>
            </a:pPr>
            <a:r>
              <a:t>@SIH Idea submission- Template</a:t>
            </a:r>
          </a:p>
        </p:txBody>
      </p:sp>
      <p:sp>
        <p:nvSpPr>
          <p:cNvPr id="11" name="TextBox 10"/>
          <p:cNvSpPr txBox="1"/>
          <p:nvPr/>
        </p:nvSpPr>
        <p:spPr>
          <a:xfrm>
            <a:off x="10652760" y="6492240"/>
            <a:ext cx="1051560" cy="210312"/>
          </a:xfrm>
          <a:prstGeom prst="rect">
            <a:avLst/>
          </a:prstGeom>
          <a:noFill/>
        </p:spPr>
        <p:txBody>
          <a:bodyPr wrap="square" lIns="0" rIns="0" tIns="0" bIns="0">
            <a:spAutoFit/>
          </a:bodyPr>
          <a:lstStyle/>
          <a:p>
            <a:pPr algn="r">
              <a:lnSpc>
                <a:spcPct val="105000"/>
              </a:lnSpc>
              <a:spcBef>
                <a:spcPts val="0"/>
              </a:spcBef>
              <a:spcAft>
                <a:spcPts val="200"/>
              </a:spcAft>
              <a:defRPr sz="1000" b="1">
                <a:solidFill>
                  <a:srgbClr val="FFFFFF"/>
                </a:solidFill>
                <a:latin typeface="Lato"/>
              </a:defRPr>
            </a:pPr>
            <a:r>
              <a:t>03 / 06</a:t>
            </a:r>
          </a:p>
        </p:txBody>
      </p:sp>
      <p:sp>
        <p:nvSpPr>
          <p:cNvPr id="12" name="TextBox 11"/>
          <p:cNvSpPr txBox="1"/>
          <p:nvPr/>
        </p:nvSpPr>
        <p:spPr>
          <a:xfrm>
            <a:off x="457200" y="1188720"/>
            <a:ext cx="11247120" cy="457200"/>
          </a:xfrm>
          <a:prstGeom prst="rect">
            <a:avLst/>
          </a:prstGeom>
          <a:noFill/>
        </p:spPr>
        <p:txBody>
          <a:bodyPr wrap="square" lIns="0" rIns="0" tIns="0" bIns="0">
            <a:spAutoFit/>
          </a:bodyPr>
          <a:lstStyle/>
          <a:p>
            <a:pPr>
              <a:lnSpc>
                <a:spcPct val="105000"/>
              </a:lnSpc>
              <a:spcBef>
                <a:spcPts val="0"/>
              </a:spcBef>
              <a:spcAft>
                <a:spcPts val="200"/>
              </a:spcAft>
              <a:defRPr sz="2800" b="1">
                <a:solidFill>
                  <a:srgbClr val="152C3B"/>
                </a:solidFill>
                <a:latin typeface="Lato"/>
              </a:defRPr>
            </a:pPr>
            <a:r>
              <a:t>System architecture  /  two inputs, one wrist.</a:t>
            </a:r>
          </a:p>
        </p:txBody>
      </p:sp>
      <p:sp>
        <p:nvSpPr>
          <p:cNvPr id="13" name="TextBox 12"/>
          <p:cNvSpPr txBox="1"/>
          <p:nvPr/>
        </p:nvSpPr>
        <p:spPr>
          <a:xfrm>
            <a:off x="457200" y="1691640"/>
            <a:ext cx="11155680" cy="274320"/>
          </a:xfrm>
          <a:prstGeom prst="rect">
            <a:avLst/>
          </a:prstGeom>
          <a:noFill/>
        </p:spPr>
        <p:txBody>
          <a:bodyPr wrap="square" lIns="0" rIns="0" tIns="0" bIns="0">
            <a:spAutoFit/>
          </a:bodyPr>
          <a:lstStyle/>
          <a:p>
            <a:pPr>
              <a:lnSpc>
                <a:spcPct val="105000"/>
              </a:lnSpc>
              <a:spcBef>
                <a:spcPts val="0"/>
              </a:spcBef>
              <a:spcAft>
                <a:spcPts val="200"/>
              </a:spcAft>
              <a:defRPr sz="1300" b="0">
                <a:solidFill>
                  <a:srgbClr val="5B6C73"/>
                </a:solidFill>
                <a:latin typeface="Lato"/>
              </a:defRPr>
            </a:pPr>
            <a:r>
              <a:t>Proposed end-to-end flow · body processing stays local; official alerts enter through a connected gateway</a:t>
            </a:r>
          </a:p>
        </p:txBody>
      </p:sp>
      <p:sp>
        <p:nvSpPr>
          <p:cNvPr id="14" name="TextBox 13"/>
          <p:cNvSpPr txBox="1"/>
          <p:nvPr/>
        </p:nvSpPr>
        <p:spPr>
          <a:xfrm>
            <a:off x="466344" y="2039112"/>
            <a:ext cx="7772400" cy="228600"/>
          </a:xfrm>
          <a:prstGeom prst="rect">
            <a:avLst/>
          </a:prstGeom>
          <a:noFill/>
        </p:spPr>
        <p:txBody>
          <a:bodyPr wrap="square" lIns="0" rIns="0" tIns="0" bIns="0">
            <a:spAutoFit/>
          </a:bodyPr>
          <a:lstStyle/>
          <a:p>
            <a:pPr>
              <a:lnSpc>
                <a:spcPct val="105000"/>
              </a:lnSpc>
              <a:spcBef>
                <a:spcPts val="0"/>
              </a:spcBef>
              <a:spcAft>
                <a:spcPts val="200"/>
              </a:spcAft>
              <a:defRPr sz="1100" b="1">
                <a:solidFill>
                  <a:srgbClr val="287F79"/>
                </a:solidFill>
                <a:latin typeface="Lato"/>
              </a:defRPr>
            </a:pPr>
            <a:r>
              <a:t>A  /  PERSONAL HEAT-STRAIN PATH</a:t>
            </a:r>
          </a:p>
        </p:txBody>
      </p:sp>
      <p:sp>
        <p:nvSpPr>
          <p:cNvPr id="15" name="Rounded Rectangle 14"/>
          <p:cNvSpPr/>
          <p:nvPr/>
        </p:nvSpPr>
        <p:spPr>
          <a:xfrm>
            <a:off x="457200" y="2423160"/>
            <a:ext cx="2139696" cy="1453896"/>
          </a:xfrm>
          <a:prstGeom prst="roundRect">
            <a:avLst>
              <a:gd name="adj" fmla="val 8000"/>
            </a:avLst>
          </a:prstGeom>
          <a:solidFill>
            <a:srgbClr val="FFFFFF"/>
          </a:solidFill>
          <a:ln w="8890">
            <a:solidFill>
              <a:srgbClr val="D9DF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76072" y="2532888"/>
            <a:ext cx="1901952" cy="283464"/>
          </a:xfrm>
          <a:prstGeom prst="rect">
            <a:avLst/>
          </a:prstGeom>
          <a:noFill/>
        </p:spPr>
        <p:txBody>
          <a:bodyPr wrap="square" lIns="0" rIns="0" tIns="0" bIns="0">
            <a:spAutoFit/>
          </a:bodyPr>
          <a:lstStyle/>
          <a:p>
            <a:pPr algn="ctr">
              <a:lnSpc>
                <a:spcPct val="105000"/>
              </a:lnSpc>
              <a:spcBef>
                <a:spcPts val="0"/>
              </a:spcBef>
              <a:spcAft>
                <a:spcPts val="200"/>
              </a:spcAft>
              <a:defRPr sz="1400" b="1">
                <a:solidFill>
                  <a:srgbClr val="152C3B"/>
                </a:solidFill>
                <a:latin typeface="Lato"/>
              </a:defRPr>
            </a:pPr>
            <a:r>
              <a:t>SENSOR INPUTS</a:t>
            </a:r>
          </a:p>
        </p:txBody>
      </p:sp>
      <p:sp>
        <p:nvSpPr>
          <p:cNvPr id="17" name="TextBox 16"/>
          <p:cNvSpPr txBox="1"/>
          <p:nvPr/>
        </p:nvSpPr>
        <p:spPr>
          <a:xfrm>
            <a:off x="576072" y="2862072"/>
            <a:ext cx="1901952" cy="969264"/>
          </a:xfrm>
          <a:prstGeom prst="rect">
            <a:avLst/>
          </a:prstGeom>
          <a:noFill/>
        </p:spPr>
        <p:txBody>
          <a:bodyPr wrap="square" lIns="0" rIns="0" tIns="0" bIns="0">
            <a:spAutoFit/>
          </a:bodyPr>
          <a:lstStyle/>
          <a:p>
            <a:pPr algn="ctr">
              <a:lnSpc>
                <a:spcPct val="105000"/>
              </a:lnSpc>
              <a:spcBef>
                <a:spcPts val="0"/>
              </a:spcBef>
              <a:spcAft>
                <a:spcPts val="200"/>
              </a:spcAft>
              <a:defRPr sz="1170" b="0">
                <a:solidFill>
                  <a:srgbClr val="5B6C73"/>
                </a:solidFill>
                <a:latin typeface="Lato"/>
              </a:defRPr>
            </a:pPr>
            <a:r>
              <a:t>MAX30102 · heart rate</a:t>
            </a:r>
          </a:p>
          <a:p>
            <a:pPr algn="ctr">
              <a:lnSpc>
                <a:spcPct val="105000"/>
              </a:lnSpc>
              <a:spcBef>
                <a:spcPts val="0"/>
              </a:spcBef>
              <a:spcAft>
                <a:spcPts val="200"/>
              </a:spcAft>
              <a:defRPr sz="1170" b="0">
                <a:solidFill>
                  <a:srgbClr val="5B6C73"/>
                </a:solidFill>
                <a:latin typeface="Lato"/>
              </a:defRPr>
            </a:pPr>
            <a:r>
              <a:t>MAX30208 · skin temp</a:t>
            </a:r>
          </a:p>
          <a:p>
            <a:pPr algn="ctr">
              <a:lnSpc>
                <a:spcPct val="105000"/>
              </a:lnSpc>
              <a:spcBef>
                <a:spcPts val="0"/>
              </a:spcBef>
              <a:spcAft>
                <a:spcPts val="200"/>
              </a:spcAft>
              <a:defRPr sz="1170" b="0">
                <a:solidFill>
                  <a:srgbClr val="5B6C73"/>
                </a:solidFill>
                <a:latin typeface="Lato"/>
              </a:defRPr>
            </a:pPr>
            <a:r>
              <a:t>AHT20 · air temp / RH</a:t>
            </a:r>
          </a:p>
          <a:p>
            <a:pPr algn="ctr">
              <a:lnSpc>
                <a:spcPct val="105000"/>
              </a:lnSpc>
              <a:spcBef>
                <a:spcPts val="0"/>
              </a:spcBef>
              <a:spcAft>
                <a:spcPts val="200"/>
              </a:spcAft>
              <a:defRPr sz="1170" b="0">
                <a:solidFill>
                  <a:srgbClr val="5B6C73"/>
                </a:solidFill>
                <a:latin typeface="Lato"/>
              </a:defRPr>
            </a:pPr>
            <a:r>
              <a:t>IMU · motion</a:t>
            </a:r>
          </a:p>
        </p:txBody>
      </p:sp>
      <p:sp>
        <p:nvSpPr>
          <p:cNvPr id="18" name="Rounded Rectangle 17"/>
          <p:cNvSpPr/>
          <p:nvPr/>
        </p:nvSpPr>
        <p:spPr>
          <a:xfrm>
            <a:off x="2953512" y="2423160"/>
            <a:ext cx="2185416" cy="1453896"/>
          </a:xfrm>
          <a:prstGeom prst="roundRect">
            <a:avLst>
              <a:gd name="adj" fmla="val 8000"/>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3072384" y="2532888"/>
            <a:ext cx="1947672" cy="283464"/>
          </a:xfrm>
          <a:prstGeom prst="rect">
            <a:avLst/>
          </a:prstGeom>
          <a:noFill/>
        </p:spPr>
        <p:txBody>
          <a:bodyPr wrap="square" lIns="0" rIns="0" tIns="0" bIns="0">
            <a:spAutoFit/>
          </a:bodyPr>
          <a:lstStyle/>
          <a:p>
            <a:pPr algn="ctr">
              <a:lnSpc>
                <a:spcPct val="105000"/>
              </a:lnSpc>
              <a:spcBef>
                <a:spcPts val="0"/>
              </a:spcBef>
              <a:spcAft>
                <a:spcPts val="200"/>
              </a:spcAft>
              <a:defRPr sz="1400" b="1">
                <a:solidFill>
                  <a:srgbClr val="FFFFFF"/>
                </a:solidFill>
                <a:latin typeface="Lato"/>
              </a:defRPr>
            </a:pPr>
            <a:r>
              <a:t>XIAO nRF52840</a:t>
            </a:r>
          </a:p>
        </p:txBody>
      </p:sp>
      <p:sp>
        <p:nvSpPr>
          <p:cNvPr id="20" name="TextBox 19"/>
          <p:cNvSpPr txBox="1"/>
          <p:nvPr/>
        </p:nvSpPr>
        <p:spPr>
          <a:xfrm>
            <a:off x="3072384" y="2862072"/>
            <a:ext cx="1947672" cy="969264"/>
          </a:xfrm>
          <a:prstGeom prst="rect">
            <a:avLst/>
          </a:prstGeom>
          <a:noFill/>
        </p:spPr>
        <p:txBody>
          <a:bodyPr wrap="square" lIns="0" rIns="0" tIns="0" bIns="0">
            <a:spAutoFit/>
          </a:bodyPr>
          <a:lstStyle/>
          <a:p>
            <a:pPr algn="ctr">
              <a:lnSpc>
                <a:spcPct val="105000"/>
              </a:lnSpc>
              <a:spcBef>
                <a:spcPts val="0"/>
              </a:spcBef>
              <a:spcAft>
                <a:spcPts val="200"/>
              </a:spcAft>
              <a:defRPr sz="1170" b="0">
                <a:solidFill>
                  <a:srgbClr val="D2DFE0"/>
                </a:solidFill>
                <a:latin typeface="Lato"/>
              </a:defRPr>
            </a:pPr>
            <a:r>
              <a:t>Filter + sample signals</a:t>
            </a:r>
          </a:p>
          <a:p>
            <a:pPr algn="ctr">
              <a:lnSpc>
                <a:spcPct val="105000"/>
              </a:lnSpc>
              <a:spcBef>
                <a:spcPts val="0"/>
              </a:spcBef>
              <a:spcAft>
                <a:spcPts val="200"/>
              </a:spcAft>
              <a:defRPr sz="1170" b="0">
                <a:solidFill>
                  <a:srgbClr val="D2DFE0"/>
                </a:solidFill>
                <a:latin typeface="Lato"/>
              </a:defRPr>
            </a:pPr>
            <a:r>
              <a:t>Calculate signal quality</a:t>
            </a:r>
          </a:p>
          <a:p>
            <a:pPr algn="ctr">
              <a:lnSpc>
                <a:spcPct val="105000"/>
              </a:lnSpc>
              <a:spcBef>
                <a:spcPts val="0"/>
              </a:spcBef>
              <a:spcAft>
                <a:spcPts val="200"/>
              </a:spcAft>
              <a:defRPr sz="1170" b="0">
                <a:solidFill>
                  <a:srgbClr val="D2DFE0"/>
                </a:solidFill>
                <a:latin typeface="Lato"/>
              </a:defRPr>
            </a:pPr>
            <a:r>
              <a:t>C/C++ on the band</a:t>
            </a:r>
          </a:p>
        </p:txBody>
      </p:sp>
      <p:sp>
        <p:nvSpPr>
          <p:cNvPr id="21" name="Diamond 20"/>
          <p:cNvSpPr/>
          <p:nvPr/>
        </p:nvSpPr>
        <p:spPr>
          <a:xfrm>
            <a:off x="5486400" y="2569464"/>
            <a:ext cx="1380744" cy="1124712"/>
          </a:xfrm>
          <a:prstGeom prst="diamond">
            <a:avLst/>
          </a:prstGeom>
          <a:solidFill>
            <a:srgbClr val="E7EFEB"/>
          </a:solidFill>
          <a:ln>
            <a:solidFill>
              <a:srgbClr val="287F7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5660136" y="2862072"/>
            <a:ext cx="1033271" cy="530352"/>
          </a:xfrm>
          <a:prstGeom prst="rect">
            <a:avLst/>
          </a:prstGeom>
          <a:noFill/>
        </p:spPr>
        <p:txBody>
          <a:bodyPr wrap="square" lIns="0" rIns="0" tIns="0" bIns="0">
            <a:spAutoFit/>
          </a:bodyPr>
          <a:lstStyle/>
          <a:p>
            <a:pPr algn="ctr">
              <a:lnSpc>
                <a:spcPct val="105000"/>
              </a:lnSpc>
              <a:spcBef>
                <a:spcPts val="0"/>
              </a:spcBef>
              <a:spcAft>
                <a:spcPts val="200"/>
              </a:spcAft>
              <a:defRPr sz="1300" b="1">
                <a:solidFill>
                  <a:srgbClr val="152C3B"/>
                </a:solidFill>
                <a:latin typeface="Lato"/>
              </a:defRPr>
            </a:pPr>
            <a:r>
              <a:t>Usable</a:t>
            </a:r>
          </a:p>
          <a:p>
            <a:pPr algn="ctr">
              <a:lnSpc>
                <a:spcPct val="105000"/>
              </a:lnSpc>
              <a:spcBef>
                <a:spcPts val="0"/>
              </a:spcBef>
              <a:spcAft>
                <a:spcPts val="200"/>
              </a:spcAft>
              <a:defRPr sz="1300" b="1">
                <a:solidFill>
                  <a:srgbClr val="152C3B"/>
                </a:solidFill>
                <a:latin typeface="Lato"/>
              </a:defRPr>
            </a:pPr>
            <a:r>
              <a:t>signal?</a:t>
            </a:r>
          </a:p>
        </p:txBody>
      </p:sp>
      <p:sp>
        <p:nvSpPr>
          <p:cNvPr id="23" name="Rounded Rectangle 22"/>
          <p:cNvSpPr/>
          <p:nvPr/>
        </p:nvSpPr>
        <p:spPr>
          <a:xfrm>
            <a:off x="7232904" y="2423160"/>
            <a:ext cx="2267712" cy="1453896"/>
          </a:xfrm>
          <a:prstGeom prst="roundRect">
            <a:avLst>
              <a:gd name="adj" fmla="val 8000"/>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351776" y="2532888"/>
            <a:ext cx="2029967" cy="283464"/>
          </a:xfrm>
          <a:prstGeom prst="rect">
            <a:avLst/>
          </a:prstGeom>
          <a:noFill/>
        </p:spPr>
        <p:txBody>
          <a:bodyPr wrap="square" lIns="0" rIns="0" tIns="0" bIns="0">
            <a:spAutoFit/>
          </a:bodyPr>
          <a:lstStyle/>
          <a:p>
            <a:pPr algn="ctr">
              <a:lnSpc>
                <a:spcPct val="105000"/>
              </a:lnSpc>
              <a:spcBef>
                <a:spcPts val="0"/>
              </a:spcBef>
              <a:spcAft>
                <a:spcPts val="200"/>
              </a:spcAft>
              <a:defRPr sz="1300" b="1">
                <a:solidFill>
                  <a:srgbClr val="FFFFFF"/>
                </a:solidFill>
                <a:latin typeface="Lato"/>
              </a:defRPr>
            </a:pPr>
            <a:r>
              <a:t>ESTIMATE + FORECAST</a:t>
            </a:r>
          </a:p>
        </p:txBody>
      </p:sp>
      <p:sp>
        <p:nvSpPr>
          <p:cNvPr id="25" name="TextBox 24"/>
          <p:cNvSpPr txBox="1"/>
          <p:nvPr/>
        </p:nvSpPr>
        <p:spPr>
          <a:xfrm>
            <a:off x="7351776" y="2862072"/>
            <a:ext cx="2029967" cy="969264"/>
          </a:xfrm>
          <a:prstGeom prst="rect">
            <a:avLst/>
          </a:prstGeom>
          <a:noFill/>
        </p:spPr>
        <p:txBody>
          <a:bodyPr wrap="square" lIns="0" rIns="0" tIns="0" bIns="0">
            <a:spAutoFit/>
          </a:bodyPr>
          <a:lstStyle/>
          <a:p>
            <a:pPr algn="ctr">
              <a:lnSpc>
                <a:spcPct val="105000"/>
              </a:lnSpc>
              <a:spcBef>
                <a:spcPts val="0"/>
              </a:spcBef>
              <a:spcAft>
                <a:spcPts val="200"/>
              </a:spcAft>
              <a:defRPr sz="1170" b="0">
                <a:solidFill>
                  <a:srgbClr val="D2DFE0"/>
                </a:solidFill>
                <a:latin typeface="Lato"/>
              </a:defRPr>
            </a:pPr>
            <a:r>
              <a:t>Kalman + personal baseline</a:t>
            </a:r>
          </a:p>
          <a:p>
            <a:pPr algn="ctr">
              <a:lnSpc>
                <a:spcPct val="105000"/>
              </a:lnSpc>
              <a:spcBef>
                <a:spcPts val="0"/>
              </a:spcBef>
              <a:spcAft>
                <a:spcPts val="200"/>
              </a:spcAft>
              <a:defRPr sz="1170" b="0">
                <a:solidFill>
                  <a:srgbClr val="D2DFE0"/>
                </a:solidFill>
                <a:latin typeface="Lato"/>
              </a:defRPr>
            </a:pPr>
            <a:r>
              <a:t>Trend to threshold*</a:t>
            </a:r>
          </a:p>
          <a:p>
            <a:pPr algn="ctr">
              <a:lnSpc>
                <a:spcPct val="105000"/>
              </a:lnSpc>
              <a:spcBef>
                <a:spcPts val="0"/>
              </a:spcBef>
              <a:spcAft>
                <a:spcPts val="200"/>
              </a:spcAft>
              <a:defRPr sz="1170" b="0">
                <a:solidFill>
                  <a:srgbClr val="D2DFE0"/>
                </a:solidFill>
                <a:latin typeface="Lato"/>
              </a:defRPr>
            </a:pPr>
            <a:r>
              <a:t>Recovery ledger*</a:t>
            </a:r>
          </a:p>
        </p:txBody>
      </p:sp>
      <p:sp>
        <p:nvSpPr>
          <p:cNvPr id="26" name="Rounded Rectangle 25"/>
          <p:cNvSpPr/>
          <p:nvPr/>
        </p:nvSpPr>
        <p:spPr>
          <a:xfrm>
            <a:off x="9866376" y="2423160"/>
            <a:ext cx="1865376" cy="1453896"/>
          </a:xfrm>
          <a:prstGeom prst="roundRect">
            <a:avLst>
              <a:gd name="adj" fmla="val 8000"/>
            </a:avLst>
          </a:prstGeom>
          <a:solidFill>
            <a:srgbClr val="FFFFFF"/>
          </a:solidFill>
          <a:ln w="8890">
            <a:solidFill>
              <a:srgbClr val="D9DF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9985248" y="2532888"/>
            <a:ext cx="1627632" cy="283464"/>
          </a:xfrm>
          <a:prstGeom prst="rect">
            <a:avLst/>
          </a:prstGeom>
          <a:noFill/>
        </p:spPr>
        <p:txBody>
          <a:bodyPr wrap="square" lIns="0" rIns="0" tIns="0" bIns="0">
            <a:spAutoFit/>
          </a:bodyPr>
          <a:lstStyle/>
          <a:p>
            <a:pPr algn="ctr">
              <a:lnSpc>
                <a:spcPct val="105000"/>
              </a:lnSpc>
              <a:spcBef>
                <a:spcPts val="0"/>
              </a:spcBef>
              <a:spcAft>
                <a:spcPts val="200"/>
              </a:spcAft>
              <a:defRPr sz="1300" b="1">
                <a:solidFill>
                  <a:srgbClr val="152C3B"/>
                </a:solidFill>
                <a:latin typeface="Lato"/>
              </a:defRPr>
            </a:pPr>
            <a:r>
              <a:t>LOCAL WARNING</a:t>
            </a:r>
          </a:p>
        </p:txBody>
      </p:sp>
      <p:sp>
        <p:nvSpPr>
          <p:cNvPr id="28" name="TextBox 27"/>
          <p:cNvSpPr txBox="1"/>
          <p:nvPr/>
        </p:nvSpPr>
        <p:spPr>
          <a:xfrm>
            <a:off x="9985248" y="2862072"/>
            <a:ext cx="1627632" cy="969264"/>
          </a:xfrm>
          <a:prstGeom prst="rect">
            <a:avLst/>
          </a:prstGeom>
          <a:noFill/>
        </p:spPr>
        <p:txBody>
          <a:bodyPr wrap="square" lIns="0" rIns="0" tIns="0" bIns="0">
            <a:spAutoFit/>
          </a:bodyPr>
          <a:lstStyle/>
          <a:p>
            <a:pPr algn="ctr">
              <a:lnSpc>
                <a:spcPct val="105000"/>
              </a:lnSpc>
              <a:spcBef>
                <a:spcPts val="0"/>
              </a:spcBef>
              <a:spcAft>
                <a:spcPts val="200"/>
              </a:spcAft>
              <a:defRPr sz="1170" b="0">
                <a:solidFill>
                  <a:srgbClr val="5B6C73"/>
                </a:solidFill>
                <a:latin typeface="Lato"/>
              </a:defRPr>
            </a:pPr>
            <a:r>
              <a:t>OLED risk / time*</a:t>
            </a:r>
          </a:p>
          <a:p>
            <a:pPr algn="ctr">
              <a:lnSpc>
                <a:spcPct val="105000"/>
              </a:lnSpc>
              <a:spcBef>
                <a:spcPts val="0"/>
              </a:spcBef>
              <a:spcAft>
                <a:spcPts val="200"/>
              </a:spcAft>
              <a:defRPr sz="1170" b="0">
                <a:solidFill>
                  <a:srgbClr val="5B6C73"/>
                </a:solidFill>
                <a:latin typeface="Lato"/>
              </a:defRPr>
            </a:pPr>
            <a:r>
              <a:t>Strain vibration</a:t>
            </a:r>
          </a:p>
          <a:p>
            <a:pPr algn="ctr">
              <a:lnSpc>
                <a:spcPct val="105000"/>
              </a:lnSpc>
              <a:spcBef>
                <a:spcPts val="0"/>
              </a:spcBef>
              <a:spcAft>
                <a:spcPts val="200"/>
              </a:spcAft>
              <a:defRPr sz="1170" b="0">
                <a:solidFill>
                  <a:srgbClr val="5B6C73"/>
                </a:solidFill>
                <a:latin typeface="Lato"/>
              </a:defRPr>
            </a:pPr>
            <a:r>
              <a:t>Prompt to take action</a:t>
            </a:r>
          </a:p>
        </p:txBody>
      </p:sp>
      <p:cxnSp>
        <p:nvCxnSpPr>
          <p:cNvPr id="29" name="Connector 28"/>
          <p:cNvCxnSpPr/>
          <p:nvPr/>
        </p:nvCxnSpPr>
        <p:spPr>
          <a:xfrm>
            <a:off x="2596896" y="3136392"/>
            <a:ext cx="356616" cy="0"/>
          </a:xfrm>
          <a:prstGeom prst="line">
            <a:avLst/>
          </a:prstGeom>
          <a:ln w="20955">
            <a:solidFill>
              <a:srgbClr val="287F79"/>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138928" y="3136392"/>
            <a:ext cx="347472" cy="0"/>
          </a:xfrm>
          <a:prstGeom prst="line">
            <a:avLst/>
          </a:prstGeom>
          <a:ln w="20955">
            <a:solidFill>
              <a:srgbClr val="287F79"/>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867144" y="3136392"/>
            <a:ext cx="365760" cy="0"/>
          </a:xfrm>
          <a:prstGeom prst="line">
            <a:avLst/>
          </a:prstGeom>
          <a:ln w="20955">
            <a:solidFill>
              <a:srgbClr val="287F79"/>
            </a:solidFill>
            <a:tailEnd type="triangle"/>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500616" y="3136392"/>
            <a:ext cx="365760" cy="0"/>
          </a:xfrm>
          <a:prstGeom prst="line">
            <a:avLst/>
          </a:prstGeom>
          <a:ln w="20955">
            <a:solidFill>
              <a:srgbClr val="287F79"/>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867144" y="2798064"/>
            <a:ext cx="365760" cy="182880"/>
          </a:xfrm>
          <a:prstGeom prst="rect">
            <a:avLst/>
          </a:prstGeom>
          <a:noFill/>
        </p:spPr>
        <p:txBody>
          <a:bodyPr wrap="square" lIns="0" rIns="0" tIns="0" bIns="0">
            <a:spAutoFit/>
          </a:bodyPr>
          <a:lstStyle/>
          <a:p>
            <a:pPr>
              <a:lnSpc>
                <a:spcPct val="105000"/>
              </a:lnSpc>
              <a:spcBef>
                <a:spcPts val="0"/>
              </a:spcBef>
              <a:spcAft>
                <a:spcPts val="200"/>
              </a:spcAft>
              <a:defRPr sz="900" b="1">
                <a:solidFill>
                  <a:srgbClr val="287F79"/>
                </a:solidFill>
                <a:latin typeface="Lato"/>
              </a:defRPr>
            </a:pPr>
            <a:r>
              <a:t>YES</a:t>
            </a:r>
          </a:p>
        </p:txBody>
      </p:sp>
      <p:cxnSp>
        <p:nvCxnSpPr>
          <p:cNvPr id="34" name="Connector 33"/>
          <p:cNvCxnSpPr/>
          <p:nvPr/>
        </p:nvCxnSpPr>
        <p:spPr>
          <a:xfrm>
            <a:off x="6172200" y="3694176"/>
            <a:ext cx="0" cy="338328"/>
          </a:xfrm>
          <a:prstGeom prst="line">
            <a:avLst/>
          </a:prstGeom>
          <a:ln w="20955">
            <a:solidFill>
              <a:srgbClr val="287F79"/>
            </a:solidFill>
            <a:tailEnd type="triangle"/>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4681728" y="4041648"/>
            <a:ext cx="3474720" cy="457200"/>
          </a:xfrm>
          <a:prstGeom prst="roundRect">
            <a:avLst>
              <a:gd name="adj" fmla="val 8000"/>
            </a:avLst>
          </a:prstGeom>
          <a:solidFill>
            <a:srgbClr val="E7EF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4800600" y="4151376"/>
            <a:ext cx="3236976" cy="283464"/>
          </a:xfrm>
          <a:prstGeom prst="rect">
            <a:avLst/>
          </a:prstGeom>
          <a:noFill/>
        </p:spPr>
        <p:txBody>
          <a:bodyPr wrap="square" lIns="0" rIns="0" tIns="0" bIns="0">
            <a:spAutoFit/>
          </a:bodyPr>
          <a:lstStyle/>
          <a:p>
            <a:pPr algn="ctr">
              <a:lnSpc>
                <a:spcPct val="105000"/>
              </a:lnSpc>
              <a:spcBef>
                <a:spcPts val="0"/>
              </a:spcBef>
              <a:spcAft>
                <a:spcPts val="200"/>
              </a:spcAft>
              <a:defRPr sz="1100" b="1">
                <a:solidFill>
                  <a:srgbClr val="152C3B"/>
                </a:solidFill>
                <a:latin typeface="Lato"/>
              </a:defRPr>
            </a:pPr>
            <a:r>
              <a:t>Estimate unavailable · refit / resample</a:t>
            </a:r>
          </a:p>
        </p:txBody>
      </p:sp>
      <p:sp>
        <p:nvSpPr>
          <p:cNvPr id="37" name="TextBox 36"/>
          <p:cNvSpPr txBox="1"/>
          <p:nvPr/>
        </p:nvSpPr>
        <p:spPr>
          <a:xfrm>
            <a:off x="6327648" y="3776472"/>
            <a:ext cx="338328" cy="182880"/>
          </a:xfrm>
          <a:prstGeom prst="rect">
            <a:avLst/>
          </a:prstGeom>
          <a:noFill/>
        </p:spPr>
        <p:txBody>
          <a:bodyPr wrap="square" lIns="0" rIns="0" tIns="0" bIns="0">
            <a:spAutoFit/>
          </a:bodyPr>
          <a:lstStyle/>
          <a:p>
            <a:pPr>
              <a:lnSpc>
                <a:spcPct val="105000"/>
              </a:lnSpc>
              <a:spcBef>
                <a:spcPts val="0"/>
              </a:spcBef>
              <a:spcAft>
                <a:spcPts val="200"/>
              </a:spcAft>
              <a:defRPr sz="900" b="1">
                <a:solidFill>
                  <a:srgbClr val="5B6C73"/>
                </a:solidFill>
                <a:latin typeface="Lato"/>
              </a:defRPr>
            </a:pPr>
            <a:r>
              <a:t>NO</a:t>
            </a:r>
          </a:p>
        </p:txBody>
      </p:sp>
      <p:sp>
        <p:nvSpPr>
          <p:cNvPr id="38" name="TextBox 37"/>
          <p:cNvSpPr txBox="1"/>
          <p:nvPr/>
        </p:nvSpPr>
        <p:spPr>
          <a:xfrm>
            <a:off x="466344" y="4270248"/>
            <a:ext cx="4114800" cy="228600"/>
          </a:xfrm>
          <a:prstGeom prst="rect">
            <a:avLst/>
          </a:prstGeom>
          <a:noFill/>
        </p:spPr>
        <p:txBody>
          <a:bodyPr wrap="square" lIns="0" rIns="0" tIns="0" bIns="0">
            <a:spAutoFit/>
          </a:bodyPr>
          <a:lstStyle/>
          <a:p>
            <a:pPr>
              <a:lnSpc>
                <a:spcPct val="105000"/>
              </a:lnSpc>
              <a:spcBef>
                <a:spcPts val="0"/>
              </a:spcBef>
              <a:spcAft>
                <a:spcPts val="200"/>
              </a:spcAft>
              <a:defRPr sz="1100" b="1">
                <a:solidFill>
                  <a:srgbClr val="287F79"/>
                </a:solidFill>
                <a:latin typeface="Lato"/>
              </a:defRPr>
            </a:pPr>
            <a:r>
              <a:t>B  /  OFFICIAL HAZARD-ALERT PATH</a:t>
            </a:r>
          </a:p>
        </p:txBody>
      </p:sp>
      <p:sp>
        <p:nvSpPr>
          <p:cNvPr id="39" name="Rounded Rectangle 38"/>
          <p:cNvSpPr/>
          <p:nvPr/>
        </p:nvSpPr>
        <p:spPr>
          <a:xfrm>
            <a:off x="457200" y="4681728"/>
            <a:ext cx="1828800" cy="841248"/>
          </a:xfrm>
          <a:prstGeom prst="roundRect">
            <a:avLst>
              <a:gd name="adj" fmla="val 8000"/>
            </a:avLst>
          </a:prstGeom>
          <a:solidFill>
            <a:srgbClr val="FFFFFF"/>
          </a:solidFill>
          <a:ln w="8890">
            <a:solidFill>
              <a:srgbClr val="D9DF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576072" y="4791456"/>
            <a:ext cx="1591056" cy="283464"/>
          </a:xfrm>
          <a:prstGeom prst="rect">
            <a:avLst/>
          </a:prstGeom>
          <a:noFill/>
        </p:spPr>
        <p:txBody>
          <a:bodyPr wrap="square" lIns="0" rIns="0" tIns="0" bIns="0">
            <a:spAutoFit/>
          </a:bodyPr>
          <a:lstStyle/>
          <a:p>
            <a:pPr algn="ctr">
              <a:lnSpc>
                <a:spcPct val="105000"/>
              </a:lnSpc>
              <a:spcBef>
                <a:spcPts val="0"/>
              </a:spcBef>
              <a:spcAft>
                <a:spcPts val="200"/>
              </a:spcAft>
              <a:defRPr sz="1200" b="1">
                <a:solidFill>
                  <a:srgbClr val="152C3B"/>
                </a:solidFill>
                <a:latin typeface="Lato"/>
              </a:defRPr>
            </a:pPr>
            <a:r>
              <a:t>NDMA SACHET</a:t>
            </a:r>
          </a:p>
        </p:txBody>
      </p:sp>
      <p:sp>
        <p:nvSpPr>
          <p:cNvPr id="41" name="TextBox 40"/>
          <p:cNvSpPr txBox="1"/>
          <p:nvPr/>
        </p:nvSpPr>
        <p:spPr>
          <a:xfrm>
            <a:off x="576072" y="5120640"/>
            <a:ext cx="1591056" cy="356616"/>
          </a:xfrm>
          <a:prstGeom prst="rect">
            <a:avLst/>
          </a:prstGeom>
          <a:noFill/>
        </p:spPr>
        <p:txBody>
          <a:bodyPr wrap="square" lIns="0" rIns="0" tIns="0" bIns="0">
            <a:spAutoFit/>
          </a:bodyPr>
          <a:lstStyle/>
          <a:p>
            <a:pPr algn="ctr">
              <a:lnSpc>
                <a:spcPct val="105000"/>
              </a:lnSpc>
              <a:spcBef>
                <a:spcPts val="0"/>
              </a:spcBef>
              <a:spcAft>
                <a:spcPts val="200"/>
              </a:spcAft>
              <a:defRPr sz="1170" b="0">
                <a:solidFill>
                  <a:srgbClr val="5B6C73"/>
                </a:solidFill>
                <a:latin typeface="Lato"/>
              </a:defRPr>
            </a:pPr>
            <a:r>
              <a:t>Official CAP / RSS alerts</a:t>
            </a:r>
          </a:p>
        </p:txBody>
      </p:sp>
      <p:sp>
        <p:nvSpPr>
          <p:cNvPr id="42" name="Rounded Rectangle 41"/>
          <p:cNvSpPr/>
          <p:nvPr/>
        </p:nvSpPr>
        <p:spPr>
          <a:xfrm>
            <a:off x="2651760" y="4681728"/>
            <a:ext cx="1993392" cy="841248"/>
          </a:xfrm>
          <a:prstGeom prst="roundRect">
            <a:avLst>
              <a:gd name="adj" fmla="val 8000"/>
            </a:avLst>
          </a:prstGeom>
          <a:solidFill>
            <a:srgbClr val="FFFFFF"/>
          </a:solidFill>
          <a:ln w="8890">
            <a:solidFill>
              <a:srgbClr val="D9DF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2770632" y="4791456"/>
            <a:ext cx="1755648" cy="283464"/>
          </a:xfrm>
          <a:prstGeom prst="rect">
            <a:avLst/>
          </a:prstGeom>
          <a:noFill/>
        </p:spPr>
        <p:txBody>
          <a:bodyPr wrap="square" lIns="0" rIns="0" tIns="0" bIns="0">
            <a:spAutoFit/>
          </a:bodyPr>
          <a:lstStyle/>
          <a:p>
            <a:pPr algn="ctr">
              <a:lnSpc>
                <a:spcPct val="105000"/>
              </a:lnSpc>
              <a:spcBef>
                <a:spcPts val="0"/>
              </a:spcBef>
              <a:spcAft>
                <a:spcPts val="200"/>
              </a:spcAft>
              <a:defRPr sz="1200" b="1">
                <a:solidFill>
                  <a:srgbClr val="152C3B"/>
                </a:solidFill>
                <a:latin typeface="Lato"/>
              </a:defRPr>
            </a:pPr>
            <a:r>
              <a:t>PHONE APP</a:t>
            </a:r>
          </a:p>
        </p:txBody>
      </p:sp>
      <p:sp>
        <p:nvSpPr>
          <p:cNvPr id="44" name="TextBox 43"/>
          <p:cNvSpPr txBox="1"/>
          <p:nvPr/>
        </p:nvSpPr>
        <p:spPr>
          <a:xfrm>
            <a:off x="2770632" y="5120640"/>
            <a:ext cx="1755648" cy="356616"/>
          </a:xfrm>
          <a:prstGeom prst="rect">
            <a:avLst/>
          </a:prstGeom>
          <a:noFill/>
        </p:spPr>
        <p:txBody>
          <a:bodyPr wrap="square" lIns="0" rIns="0" tIns="0" bIns="0">
            <a:spAutoFit/>
          </a:bodyPr>
          <a:lstStyle/>
          <a:p>
            <a:pPr algn="ctr">
              <a:lnSpc>
                <a:spcPct val="105000"/>
              </a:lnSpc>
              <a:spcBef>
                <a:spcPts val="0"/>
              </a:spcBef>
              <a:spcAft>
                <a:spcPts val="200"/>
              </a:spcAft>
              <a:defRPr sz="1170" b="0">
                <a:solidFill>
                  <a:srgbClr val="5B6C73"/>
                </a:solidFill>
                <a:latin typeface="Lato"/>
              </a:defRPr>
            </a:pPr>
            <a:r>
              <a:t>Fetch · location · expiry</a:t>
            </a:r>
          </a:p>
        </p:txBody>
      </p:sp>
      <p:sp>
        <p:nvSpPr>
          <p:cNvPr id="45" name="Rounded Rectangle 44"/>
          <p:cNvSpPr/>
          <p:nvPr/>
        </p:nvSpPr>
        <p:spPr>
          <a:xfrm>
            <a:off x="5020056" y="4681728"/>
            <a:ext cx="1993392" cy="841248"/>
          </a:xfrm>
          <a:prstGeom prst="roundRect">
            <a:avLst>
              <a:gd name="adj" fmla="val 8000"/>
            </a:avLst>
          </a:prstGeom>
          <a:solidFill>
            <a:srgbClr val="FFFFFF"/>
          </a:solidFill>
          <a:ln w="8890">
            <a:solidFill>
              <a:srgbClr val="D9DF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5138928" y="4791456"/>
            <a:ext cx="1755648" cy="283464"/>
          </a:xfrm>
          <a:prstGeom prst="rect">
            <a:avLst/>
          </a:prstGeom>
          <a:noFill/>
        </p:spPr>
        <p:txBody>
          <a:bodyPr wrap="square" lIns="0" rIns="0" tIns="0" bIns="0">
            <a:spAutoFit/>
          </a:bodyPr>
          <a:lstStyle/>
          <a:p>
            <a:pPr algn="ctr">
              <a:lnSpc>
                <a:spcPct val="105000"/>
              </a:lnSpc>
              <a:spcBef>
                <a:spcPts val="0"/>
              </a:spcBef>
              <a:spcAft>
                <a:spcPts val="200"/>
              </a:spcAft>
              <a:defRPr sz="1200" b="1">
                <a:solidFill>
                  <a:srgbClr val="152C3B"/>
                </a:solidFill>
                <a:latin typeface="Lato"/>
              </a:defRPr>
            </a:pPr>
            <a:r>
              <a:t>GATEWAY BAND</a:t>
            </a:r>
          </a:p>
        </p:txBody>
      </p:sp>
      <p:sp>
        <p:nvSpPr>
          <p:cNvPr id="47" name="TextBox 46"/>
          <p:cNvSpPr txBox="1"/>
          <p:nvPr/>
        </p:nvSpPr>
        <p:spPr>
          <a:xfrm>
            <a:off x="5138928" y="5120640"/>
            <a:ext cx="1755648" cy="356616"/>
          </a:xfrm>
          <a:prstGeom prst="rect">
            <a:avLst/>
          </a:prstGeom>
          <a:noFill/>
        </p:spPr>
        <p:txBody>
          <a:bodyPr wrap="square" lIns="0" rIns="0" tIns="0" bIns="0">
            <a:spAutoFit/>
          </a:bodyPr>
          <a:lstStyle/>
          <a:p>
            <a:pPr algn="ctr">
              <a:lnSpc>
                <a:spcPct val="105000"/>
              </a:lnSpc>
              <a:spcBef>
                <a:spcPts val="0"/>
              </a:spcBef>
              <a:spcAft>
                <a:spcPts val="200"/>
              </a:spcAft>
              <a:defRPr sz="1170" b="0">
                <a:solidFill>
                  <a:srgbClr val="5B6C73"/>
                </a:solidFill>
                <a:latin typeface="Lato"/>
              </a:defRPr>
            </a:pPr>
            <a:r>
              <a:t>BLE in → SX1262 LoRa</a:t>
            </a:r>
          </a:p>
        </p:txBody>
      </p:sp>
      <p:sp>
        <p:nvSpPr>
          <p:cNvPr id="48" name="Rounded Rectangle 47"/>
          <p:cNvSpPr/>
          <p:nvPr/>
        </p:nvSpPr>
        <p:spPr>
          <a:xfrm>
            <a:off x="7388352" y="4681728"/>
            <a:ext cx="1993392" cy="841248"/>
          </a:xfrm>
          <a:prstGeom prst="roundRect">
            <a:avLst>
              <a:gd name="adj" fmla="val 8000"/>
            </a:avLst>
          </a:prstGeom>
          <a:solidFill>
            <a:srgbClr val="FFFFFF"/>
          </a:solidFill>
          <a:ln w="8890">
            <a:solidFill>
              <a:srgbClr val="D9DF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7507224" y="4791456"/>
            <a:ext cx="1755648" cy="283464"/>
          </a:xfrm>
          <a:prstGeom prst="rect">
            <a:avLst/>
          </a:prstGeom>
          <a:noFill/>
        </p:spPr>
        <p:txBody>
          <a:bodyPr wrap="square" lIns="0" rIns="0" tIns="0" bIns="0">
            <a:spAutoFit/>
          </a:bodyPr>
          <a:lstStyle/>
          <a:p>
            <a:pPr algn="ctr">
              <a:lnSpc>
                <a:spcPct val="105000"/>
              </a:lnSpc>
              <a:spcBef>
                <a:spcPts val="0"/>
              </a:spcBef>
              <a:spcAft>
                <a:spcPts val="200"/>
              </a:spcAft>
              <a:defRPr sz="1200" b="1">
                <a:solidFill>
                  <a:srgbClr val="152C3B"/>
                </a:solidFill>
                <a:latin typeface="Lato"/>
              </a:defRPr>
            </a:pPr>
            <a:r>
              <a:t>PEER BANDS</a:t>
            </a:r>
          </a:p>
        </p:txBody>
      </p:sp>
      <p:sp>
        <p:nvSpPr>
          <p:cNvPr id="50" name="TextBox 49"/>
          <p:cNvSpPr txBox="1"/>
          <p:nvPr/>
        </p:nvSpPr>
        <p:spPr>
          <a:xfrm>
            <a:off x="7507224" y="5120640"/>
            <a:ext cx="1755648" cy="356616"/>
          </a:xfrm>
          <a:prstGeom prst="rect">
            <a:avLst/>
          </a:prstGeom>
          <a:noFill/>
        </p:spPr>
        <p:txBody>
          <a:bodyPr wrap="square" lIns="0" rIns="0" tIns="0" bIns="0">
            <a:spAutoFit/>
          </a:bodyPr>
          <a:lstStyle/>
          <a:p>
            <a:pPr algn="ctr">
              <a:lnSpc>
                <a:spcPct val="105000"/>
              </a:lnSpc>
              <a:spcBef>
                <a:spcPts val="0"/>
              </a:spcBef>
              <a:spcAft>
                <a:spcPts val="200"/>
              </a:spcAft>
              <a:defRPr sz="1170" b="0">
                <a:solidFill>
                  <a:srgbClr val="5B6C73"/>
                </a:solidFill>
                <a:latin typeface="Lato"/>
              </a:defRPr>
            </a:pPr>
            <a:r>
              <a:t>Deduplicate · hop limit</a:t>
            </a:r>
          </a:p>
        </p:txBody>
      </p:sp>
      <p:sp>
        <p:nvSpPr>
          <p:cNvPr id="51" name="Rounded Rectangle 50"/>
          <p:cNvSpPr/>
          <p:nvPr/>
        </p:nvSpPr>
        <p:spPr>
          <a:xfrm>
            <a:off x="9756648" y="4681728"/>
            <a:ext cx="1975104" cy="841248"/>
          </a:xfrm>
          <a:prstGeom prst="roundRect">
            <a:avLst>
              <a:gd name="adj" fmla="val 8000"/>
            </a:avLst>
          </a:prstGeom>
          <a:solidFill>
            <a:srgbClr val="FFFFFF"/>
          </a:solidFill>
          <a:ln w="8890">
            <a:solidFill>
              <a:srgbClr val="D9DF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9875520" y="4791456"/>
            <a:ext cx="1737360" cy="283464"/>
          </a:xfrm>
          <a:prstGeom prst="rect">
            <a:avLst/>
          </a:prstGeom>
          <a:noFill/>
        </p:spPr>
        <p:txBody>
          <a:bodyPr wrap="square" lIns="0" rIns="0" tIns="0" bIns="0">
            <a:spAutoFit/>
          </a:bodyPr>
          <a:lstStyle/>
          <a:p>
            <a:pPr algn="ctr">
              <a:lnSpc>
                <a:spcPct val="105000"/>
              </a:lnSpc>
              <a:spcBef>
                <a:spcPts val="0"/>
              </a:spcBef>
              <a:spcAft>
                <a:spcPts val="200"/>
              </a:spcAft>
              <a:defRPr sz="1200" b="1">
                <a:solidFill>
                  <a:srgbClr val="152C3B"/>
                </a:solidFill>
                <a:latin typeface="Lato"/>
              </a:defRPr>
            </a:pPr>
            <a:r>
              <a:t>HAZARD WARNING</a:t>
            </a:r>
          </a:p>
        </p:txBody>
      </p:sp>
      <p:sp>
        <p:nvSpPr>
          <p:cNvPr id="53" name="TextBox 52"/>
          <p:cNvSpPr txBox="1"/>
          <p:nvPr/>
        </p:nvSpPr>
        <p:spPr>
          <a:xfrm>
            <a:off x="9875520" y="5120640"/>
            <a:ext cx="1737360" cy="356616"/>
          </a:xfrm>
          <a:prstGeom prst="rect">
            <a:avLst/>
          </a:prstGeom>
          <a:noFill/>
        </p:spPr>
        <p:txBody>
          <a:bodyPr wrap="square" lIns="0" rIns="0" tIns="0" bIns="0">
            <a:spAutoFit/>
          </a:bodyPr>
          <a:lstStyle/>
          <a:p>
            <a:pPr algn="ctr">
              <a:lnSpc>
                <a:spcPct val="105000"/>
              </a:lnSpc>
              <a:spcBef>
                <a:spcPts val="0"/>
              </a:spcBef>
              <a:spcAft>
                <a:spcPts val="200"/>
              </a:spcAft>
              <a:defRPr sz="1170" b="0">
                <a:solidFill>
                  <a:srgbClr val="5B6C73"/>
                </a:solidFill>
                <a:latin typeface="Lato"/>
              </a:defRPr>
            </a:pPr>
            <a:r>
              <a:t>Distinct wrist vibration</a:t>
            </a:r>
          </a:p>
        </p:txBody>
      </p:sp>
      <p:cxnSp>
        <p:nvCxnSpPr>
          <p:cNvPr id="54" name="Connector 53"/>
          <p:cNvCxnSpPr/>
          <p:nvPr/>
        </p:nvCxnSpPr>
        <p:spPr>
          <a:xfrm>
            <a:off x="2286000" y="5111496"/>
            <a:ext cx="365760" cy="0"/>
          </a:xfrm>
          <a:prstGeom prst="line">
            <a:avLst/>
          </a:prstGeom>
          <a:ln w="20955">
            <a:solidFill>
              <a:srgbClr val="287F79"/>
            </a:solidFill>
            <a:tailEnd type="triangle"/>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4645152" y="5111496"/>
            <a:ext cx="374904" cy="0"/>
          </a:xfrm>
          <a:prstGeom prst="line">
            <a:avLst/>
          </a:prstGeom>
          <a:ln w="20955">
            <a:solidFill>
              <a:srgbClr val="287F79"/>
            </a:solidFill>
            <a:tailEnd type="triangle"/>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013448" y="5111496"/>
            <a:ext cx="374904" cy="0"/>
          </a:xfrm>
          <a:prstGeom prst="line">
            <a:avLst/>
          </a:prstGeom>
          <a:ln w="20955">
            <a:solidFill>
              <a:srgbClr val="287F79"/>
            </a:solidFill>
            <a:tailEnd type="triangle"/>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9381744" y="5111496"/>
            <a:ext cx="374904" cy="0"/>
          </a:xfrm>
          <a:prstGeom prst="line">
            <a:avLst/>
          </a:prstGeom>
          <a:ln w="20955">
            <a:solidFill>
              <a:srgbClr val="287F79"/>
            </a:solidFill>
            <a:tailEnd type="triangle"/>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457200" y="5760720"/>
            <a:ext cx="11274552" cy="292608"/>
          </a:xfrm>
          <a:prstGeom prst="roundRect">
            <a:avLst>
              <a:gd name="adj" fmla="val 8000"/>
            </a:avLst>
          </a:prstGeom>
          <a:solidFill>
            <a:srgbClr val="E7EF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603504" y="5833872"/>
            <a:ext cx="10972800" cy="192024"/>
          </a:xfrm>
          <a:prstGeom prst="rect">
            <a:avLst/>
          </a:prstGeom>
          <a:noFill/>
        </p:spPr>
        <p:txBody>
          <a:bodyPr wrap="square" lIns="0" rIns="0" tIns="0" bIns="0">
            <a:spAutoFit/>
          </a:bodyPr>
          <a:lstStyle/>
          <a:p>
            <a:pPr>
              <a:lnSpc>
                <a:spcPct val="105000"/>
              </a:lnSpc>
              <a:spcBef>
                <a:spcPts val="0"/>
              </a:spcBef>
              <a:spcAft>
                <a:spcPts val="200"/>
              </a:spcAft>
              <a:defRPr sz="1030" b="1">
                <a:solidFill>
                  <a:srgbClr val="287F79"/>
                </a:solidFill>
                <a:latin typeface="Lato"/>
              </a:defRPr>
            </a:pPr>
            <a:r>
              <a:t>PLANNED STACK  C/C++ · Kalman / TinyML evaluation · Flutter + local storage · protected keys · raw physiology kept local</a:t>
            </a:r>
          </a:p>
        </p:txBody>
      </p:sp>
      <p:sp>
        <p:nvSpPr>
          <p:cNvPr id="60" name="TextBox 59"/>
          <p:cNvSpPr txBox="1"/>
          <p:nvPr/>
        </p:nvSpPr>
        <p:spPr>
          <a:xfrm>
            <a:off x="475488" y="6153912"/>
            <a:ext cx="11155680" cy="155448"/>
          </a:xfrm>
          <a:prstGeom prst="rect">
            <a:avLst/>
          </a:prstGeom>
          <a:noFill/>
        </p:spPr>
        <p:txBody>
          <a:bodyPr wrap="square" lIns="0" rIns="0" tIns="0" bIns="0">
            <a:spAutoFit/>
          </a:bodyPr>
          <a:lstStyle/>
          <a:p>
            <a:pPr>
              <a:lnSpc>
                <a:spcPct val="105000"/>
              </a:lnSpc>
              <a:spcBef>
                <a:spcPts val="0"/>
              </a:spcBef>
              <a:spcAft>
                <a:spcPts val="200"/>
              </a:spcAft>
              <a:defRPr sz="819" b="0">
                <a:solidFill>
                  <a:srgbClr val="5B6C73"/>
                </a:solidFill>
                <a:latin typeface="Lato"/>
              </a:defRPr>
            </a:pPr>
            <a:r>
              <a:t>*Validation required. Low-quality data must not imply safety. New CAP alerts need connected ingress. Air temp + RH alone are not full WBGT.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42415"/>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365760" y="292608"/>
            <a:ext cx="1335024" cy="429768"/>
          </a:xfrm>
          <a:prstGeom prst="roundRect">
            <a:avLst>
              <a:gd name="adj" fmla="val 8000"/>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438912" y="425196"/>
            <a:ext cx="1188720" cy="210312"/>
          </a:xfrm>
          <a:prstGeom prst="rect">
            <a:avLst/>
          </a:prstGeom>
          <a:noFill/>
        </p:spPr>
        <p:txBody>
          <a:bodyPr wrap="square" lIns="0" rIns="0" tIns="0" bIns="0">
            <a:spAutoFit/>
          </a:bodyPr>
          <a:lstStyle/>
          <a:p>
            <a:pPr algn="ctr">
              <a:lnSpc>
                <a:spcPct val="105000"/>
              </a:lnSpc>
              <a:spcBef>
                <a:spcPts val="0"/>
              </a:spcBef>
              <a:spcAft>
                <a:spcPts val="200"/>
              </a:spcAft>
              <a:defRPr sz="1000" b="1">
                <a:solidFill>
                  <a:srgbClr val="FFFFFF"/>
                </a:solidFill>
                <a:latin typeface="Lato"/>
              </a:defRPr>
            </a:pPr>
            <a:r>
              <a:t>POINT BREAK</a:t>
            </a:r>
          </a:p>
        </p:txBody>
      </p:sp>
      <p:sp>
        <p:nvSpPr>
          <p:cNvPr id="5" name="TextBox 4"/>
          <p:cNvSpPr txBox="1"/>
          <p:nvPr/>
        </p:nvSpPr>
        <p:spPr>
          <a:xfrm>
            <a:off x="1874519" y="347472"/>
            <a:ext cx="7863840" cy="457200"/>
          </a:xfrm>
          <a:prstGeom prst="rect">
            <a:avLst/>
          </a:prstGeom>
          <a:noFill/>
        </p:spPr>
        <p:txBody>
          <a:bodyPr wrap="square" lIns="0" rIns="0" tIns="0" bIns="0">
            <a:spAutoFit/>
          </a:bodyPr>
          <a:lstStyle/>
          <a:p>
            <a:pPr algn="ctr">
              <a:lnSpc>
                <a:spcPct val="105000"/>
              </a:lnSpc>
              <a:spcBef>
                <a:spcPts val="0"/>
              </a:spcBef>
              <a:spcAft>
                <a:spcPts val="200"/>
              </a:spcAft>
              <a:defRPr sz="2300" b="1">
                <a:solidFill>
                  <a:srgbClr val="152C3B"/>
                </a:solidFill>
                <a:latin typeface="Lato"/>
              </a:defRPr>
            </a:pPr>
            <a:r>
              <a:t>FEASIBILITY AND VIABILITY</a:t>
            </a:r>
          </a:p>
        </p:txBody>
      </p:sp>
      <p:pic>
        <p:nvPicPr>
          <p:cNvPr id="6" name="Picture 5" descr="image.png"/>
          <p:cNvPicPr>
            <a:picLocks noChangeAspect="1"/>
          </p:cNvPicPr>
          <p:nvPr/>
        </p:nvPicPr>
        <p:blipFill>
          <a:blip r:embed="rId3"/>
          <a:stretch>
            <a:fillRect/>
          </a:stretch>
        </p:blipFill>
        <p:spPr>
          <a:xfrm>
            <a:off x="10125030" y="155448"/>
            <a:ext cx="1549235" cy="731520"/>
          </a:xfrm>
          <a:prstGeom prst="rect">
            <a:avLst/>
          </a:prstGeom>
        </p:spPr>
      </p:pic>
      <p:sp>
        <p:nvSpPr>
          <p:cNvPr id="7" name="Rectangle 6"/>
          <p:cNvSpPr/>
          <p:nvPr/>
        </p:nvSpPr>
        <p:spPr>
          <a:xfrm>
            <a:off x="365760" y="1024128"/>
            <a:ext cx="11430000"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0" y="6355080"/>
            <a:ext cx="12191695" cy="502920"/>
          </a:xfrm>
          <a:prstGeom prst="rect">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11480" y="6510528"/>
            <a:ext cx="2743200" cy="182880"/>
          </a:xfrm>
          <a:prstGeom prst="rect">
            <a:avLst/>
          </a:prstGeom>
          <a:noFill/>
        </p:spPr>
        <p:txBody>
          <a:bodyPr wrap="square" lIns="0" rIns="0" tIns="0" bIns="0">
            <a:spAutoFit/>
          </a:bodyPr>
          <a:lstStyle/>
          <a:p>
            <a:pPr>
              <a:lnSpc>
                <a:spcPct val="105000"/>
              </a:lnSpc>
              <a:spcBef>
                <a:spcPts val="0"/>
              </a:spcBef>
              <a:spcAft>
                <a:spcPts val="200"/>
              </a:spcAft>
              <a:defRPr sz="900" b="1">
                <a:solidFill>
                  <a:srgbClr val="FFFFFF"/>
                </a:solidFill>
                <a:latin typeface="Lato"/>
              </a:defRPr>
            </a:pPr>
            <a:r>
              <a:t>PRAHARI  /  POINT BREAK</a:t>
            </a:r>
          </a:p>
        </p:txBody>
      </p:sp>
      <p:sp>
        <p:nvSpPr>
          <p:cNvPr id="10" name="TextBox 9"/>
          <p:cNvSpPr txBox="1"/>
          <p:nvPr/>
        </p:nvSpPr>
        <p:spPr>
          <a:xfrm>
            <a:off x="4389120" y="6510528"/>
            <a:ext cx="3749039" cy="182880"/>
          </a:xfrm>
          <a:prstGeom prst="rect">
            <a:avLst/>
          </a:prstGeom>
          <a:noFill/>
        </p:spPr>
        <p:txBody>
          <a:bodyPr wrap="square" lIns="0" rIns="0" tIns="0" bIns="0">
            <a:spAutoFit/>
          </a:bodyPr>
          <a:lstStyle/>
          <a:p>
            <a:pPr algn="ctr">
              <a:lnSpc>
                <a:spcPct val="105000"/>
              </a:lnSpc>
              <a:spcBef>
                <a:spcPts val="0"/>
              </a:spcBef>
              <a:spcAft>
                <a:spcPts val="200"/>
              </a:spcAft>
              <a:defRPr sz="900" b="0">
                <a:solidFill>
                  <a:srgbClr val="CFD9DB"/>
                </a:solidFill>
                <a:latin typeface="Lato"/>
              </a:defRPr>
            </a:pPr>
            <a:r>
              <a:t>@SIH Idea submission- Template</a:t>
            </a:r>
          </a:p>
        </p:txBody>
      </p:sp>
      <p:sp>
        <p:nvSpPr>
          <p:cNvPr id="11" name="TextBox 10"/>
          <p:cNvSpPr txBox="1"/>
          <p:nvPr/>
        </p:nvSpPr>
        <p:spPr>
          <a:xfrm>
            <a:off x="10652760" y="6492240"/>
            <a:ext cx="1051560" cy="210312"/>
          </a:xfrm>
          <a:prstGeom prst="rect">
            <a:avLst/>
          </a:prstGeom>
          <a:noFill/>
        </p:spPr>
        <p:txBody>
          <a:bodyPr wrap="square" lIns="0" rIns="0" tIns="0" bIns="0">
            <a:spAutoFit/>
          </a:bodyPr>
          <a:lstStyle/>
          <a:p>
            <a:pPr algn="r">
              <a:lnSpc>
                <a:spcPct val="105000"/>
              </a:lnSpc>
              <a:spcBef>
                <a:spcPts val="0"/>
              </a:spcBef>
              <a:spcAft>
                <a:spcPts val="200"/>
              </a:spcAft>
              <a:defRPr sz="1000" b="1">
                <a:solidFill>
                  <a:srgbClr val="FFFFFF"/>
                </a:solidFill>
                <a:latin typeface="Lato"/>
              </a:defRPr>
            </a:pPr>
            <a:r>
              <a:t>04 / 06</a:t>
            </a:r>
          </a:p>
        </p:txBody>
      </p:sp>
      <p:sp>
        <p:nvSpPr>
          <p:cNvPr id="12" name="TextBox 11"/>
          <p:cNvSpPr txBox="1"/>
          <p:nvPr/>
        </p:nvSpPr>
        <p:spPr>
          <a:xfrm>
            <a:off x="457200" y="1197864"/>
            <a:ext cx="11247120" cy="448056"/>
          </a:xfrm>
          <a:prstGeom prst="rect">
            <a:avLst/>
          </a:prstGeom>
          <a:noFill/>
        </p:spPr>
        <p:txBody>
          <a:bodyPr wrap="square" lIns="0" rIns="0" tIns="0" bIns="0">
            <a:spAutoFit/>
          </a:bodyPr>
          <a:lstStyle/>
          <a:p>
            <a:pPr>
              <a:lnSpc>
                <a:spcPct val="105000"/>
              </a:lnSpc>
              <a:spcBef>
                <a:spcPts val="0"/>
              </a:spcBef>
              <a:spcAft>
                <a:spcPts val="200"/>
              </a:spcAft>
              <a:defRPr sz="2800" b="1">
                <a:solidFill>
                  <a:srgbClr val="152C3B"/>
                </a:solidFill>
                <a:latin typeface="Lato"/>
              </a:defRPr>
            </a:pPr>
            <a:r>
              <a:t>From a working sensing core to a supervised pilot.</a:t>
            </a:r>
          </a:p>
        </p:txBody>
      </p:sp>
      <p:pic>
        <p:nvPicPr>
          <p:cNvPr id="13" name="Picture 12" descr="xiao_sense.png"/>
          <p:cNvPicPr>
            <a:picLocks noChangeAspect="1"/>
          </p:cNvPicPr>
          <p:nvPr/>
        </p:nvPicPr>
        <p:blipFill>
          <a:blip r:embed="rId4"/>
          <a:stretch>
            <a:fillRect/>
          </a:stretch>
        </p:blipFill>
        <p:spPr>
          <a:xfrm>
            <a:off x="493776" y="1926279"/>
            <a:ext cx="1389888" cy="1039481"/>
          </a:xfrm>
          <a:prstGeom prst="rect">
            <a:avLst/>
          </a:prstGeom>
        </p:spPr>
      </p:pic>
      <p:sp>
        <p:nvSpPr>
          <p:cNvPr id="14" name="TextBox 13"/>
          <p:cNvSpPr txBox="1"/>
          <p:nvPr/>
        </p:nvSpPr>
        <p:spPr>
          <a:xfrm>
            <a:off x="2039112" y="1920240"/>
            <a:ext cx="3337560" cy="246888"/>
          </a:xfrm>
          <a:prstGeom prst="rect">
            <a:avLst/>
          </a:prstGeom>
          <a:noFill/>
        </p:spPr>
        <p:txBody>
          <a:bodyPr wrap="square" lIns="0" rIns="0" tIns="0" bIns="0">
            <a:spAutoFit/>
          </a:bodyPr>
          <a:lstStyle/>
          <a:p>
            <a:pPr>
              <a:lnSpc>
                <a:spcPct val="105000"/>
              </a:lnSpc>
              <a:spcBef>
                <a:spcPts val="0"/>
              </a:spcBef>
              <a:spcAft>
                <a:spcPts val="200"/>
              </a:spcAft>
              <a:defRPr sz="1300" b="1">
                <a:solidFill>
                  <a:srgbClr val="287F79"/>
                </a:solidFill>
                <a:latin typeface="Lato"/>
              </a:defRPr>
            </a:pPr>
            <a:r>
              <a:t>COMPACT, MODULAR HARDWARE</a:t>
            </a:r>
          </a:p>
        </p:txBody>
      </p:sp>
      <p:sp>
        <p:nvSpPr>
          <p:cNvPr id="15" name="TextBox 14"/>
          <p:cNvSpPr txBox="1"/>
          <p:nvPr/>
        </p:nvSpPr>
        <p:spPr>
          <a:xfrm>
            <a:off x="2039112" y="2304288"/>
            <a:ext cx="3337560" cy="713232"/>
          </a:xfrm>
          <a:prstGeom prst="rect">
            <a:avLst/>
          </a:prstGeom>
          <a:noFill/>
        </p:spPr>
        <p:txBody>
          <a:bodyPr wrap="square" lIns="0" rIns="0" tIns="0" bIns="0">
            <a:spAutoFit/>
          </a:bodyPr>
          <a:lstStyle/>
          <a:p>
            <a:pPr>
              <a:lnSpc>
                <a:spcPct val="105000"/>
              </a:lnSpc>
              <a:spcBef>
                <a:spcPts val="0"/>
              </a:spcBef>
              <a:spcAft>
                <a:spcPts val="200"/>
              </a:spcAft>
              <a:defRPr sz="1500" b="0">
                <a:solidFill>
                  <a:srgbClr val="152C3B"/>
                </a:solidFill>
                <a:latin typeface="Lato"/>
              </a:defRPr>
            </a:pPr>
            <a:r>
              <a:t>XIAO + sensor modules</a:t>
            </a:r>
          </a:p>
          <a:p>
            <a:pPr>
              <a:lnSpc>
                <a:spcPct val="105000"/>
              </a:lnSpc>
              <a:spcBef>
                <a:spcPts val="0"/>
              </a:spcBef>
              <a:spcAft>
                <a:spcPts val="200"/>
              </a:spcAft>
              <a:defRPr sz="1500" b="0">
                <a:solidFill>
                  <a:srgbClr val="152C3B"/>
                </a:solidFill>
                <a:latin typeface="Lato"/>
              </a:defRPr>
            </a:pPr>
            <a:r>
              <a:t>Two-layer rev B carrier PCB</a:t>
            </a:r>
          </a:p>
          <a:p>
            <a:pPr>
              <a:lnSpc>
                <a:spcPct val="105000"/>
              </a:lnSpc>
              <a:spcBef>
                <a:spcPts val="0"/>
              </a:spcBef>
              <a:spcAft>
                <a:spcPts val="200"/>
              </a:spcAft>
              <a:defRPr sz="1500" b="0">
                <a:solidFill>
                  <a:srgbClr val="152C3B"/>
                </a:solidFill>
                <a:latin typeface="Lato"/>
              </a:defRPr>
            </a:pPr>
            <a:r>
              <a:t>LiPo protection + haptic output</a:t>
            </a:r>
          </a:p>
        </p:txBody>
      </p:sp>
      <p:sp>
        <p:nvSpPr>
          <p:cNvPr id="16" name="Rounded Rectangle 15"/>
          <p:cNvSpPr/>
          <p:nvPr/>
        </p:nvSpPr>
        <p:spPr>
          <a:xfrm>
            <a:off x="457200" y="3191256"/>
            <a:ext cx="4965192" cy="1335024"/>
          </a:xfrm>
          <a:prstGeom prst="roundRect">
            <a:avLst>
              <a:gd name="adj" fmla="val 8000"/>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49224" y="3355848"/>
            <a:ext cx="1645920" cy="219456"/>
          </a:xfrm>
          <a:prstGeom prst="rect">
            <a:avLst/>
          </a:prstGeom>
          <a:noFill/>
        </p:spPr>
        <p:txBody>
          <a:bodyPr wrap="square" lIns="0" rIns="0" tIns="0" bIns="0">
            <a:spAutoFit/>
          </a:bodyPr>
          <a:lstStyle/>
          <a:p>
            <a:pPr>
              <a:lnSpc>
                <a:spcPct val="105000"/>
              </a:lnSpc>
              <a:spcBef>
                <a:spcPts val="0"/>
              </a:spcBef>
              <a:spcAft>
                <a:spcPts val="200"/>
              </a:spcAft>
              <a:defRPr sz="1100" b="1">
                <a:solidFill>
                  <a:srgbClr val="E5AE48"/>
                </a:solidFill>
                <a:latin typeface="Lato"/>
              </a:defRPr>
            </a:pPr>
            <a:r>
              <a:t>VERIFIED</a:t>
            </a:r>
          </a:p>
        </p:txBody>
      </p:sp>
      <p:sp>
        <p:nvSpPr>
          <p:cNvPr id="18" name="TextBox 17"/>
          <p:cNvSpPr txBox="1"/>
          <p:nvPr/>
        </p:nvSpPr>
        <p:spPr>
          <a:xfrm>
            <a:off x="649224" y="3657600"/>
            <a:ext cx="4553712" cy="292608"/>
          </a:xfrm>
          <a:prstGeom prst="rect">
            <a:avLst/>
          </a:prstGeom>
          <a:noFill/>
        </p:spPr>
        <p:txBody>
          <a:bodyPr wrap="square" lIns="0" rIns="0" tIns="0" bIns="0">
            <a:spAutoFit/>
          </a:bodyPr>
          <a:lstStyle/>
          <a:p>
            <a:pPr>
              <a:lnSpc>
                <a:spcPct val="105000"/>
              </a:lnSpc>
              <a:spcBef>
                <a:spcPts val="0"/>
              </a:spcBef>
              <a:spcAft>
                <a:spcPts val="200"/>
              </a:spcAft>
              <a:defRPr sz="1500" b="0">
                <a:solidFill>
                  <a:srgbClr val="FFFFFF"/>
                </a:solidFill>
                <a:latin typeface="Lato"/>
              </a:defRPr>
            </a:pPr>
            <a:r>
              <a:t>Live PPG / heart rate, OLED and I²C diagnostics.</a:t>
            </a:r>
          </a:p>
        </p:txBody>
      </p:sp>
      <p:sp>
        <p:nvSpPr>
          <p:cNvPr id="19" name="TextBox 18"/>
          <p:cNvSpPr txBox="1"/>
          <p:nvPr/>
        </p:nvSpPr>
        <p:spPr>
          <a:xfrm>
            <a:off x="649224" y="4041648"/>
            <a:ext cx="1645920" cy="219456"/>
          </a:xfrm>
          <a:prstGeom prst="rect">
            <a:avLst/>
          </a:prstGeom>
          <a:noFill/>
        </p:spPr>
        <p:txBody>
          <a:bodyPr wrap="square" lIns="0" rIns="0" tIns="0" bIns="0">
            <a:spAutoFit/>
          </a:bodyPr>
          <a:lstStyle/>
          <a:p>
            <a:pPr>
              <a:lnSpc>
                <a:spcPct val="105000"/>
              </a:lnSpc>
              <a:spcBef>
                <a:spcPts val="0"/>
              </a:spcBef>
              <a:spcAft>
                <a:spcPts val="200"/>
              </a:spcAft>
              <a:defRPr sz="1100" b="1">
                <a:solidFill>
                  <a:srgbClr val="E5AE48"/>
                </a:solidFill>
                <a:latin typeface="Lato"/>
              </a:defRPr>
            </a:pPr>
            <a:r>
              <a:t>IN PROGRESS</a:t>
            </a:r>
          </a:p>
        </p:txBody>
      </p:sp>
      <p:sp>
        <p:nvSpPr>
          <p:cNvPr id="20" name="TextBox 19"/>
          <p:cNvSpPr txBox="1"/>
          <p:nvPr/>
        </p:nvSpPr>
        <p:spPr>
          <a:xfrm>
            <a:off x="2057400" y="4023360"/>
            <a:ext cx="3090672" cy="384048"/>
          </a:xfrm>
          <a:prstGeom prst="rect">
            <a:avLst/>
          </a:prstGeom>
          <a:noFill/>
        </p:spPr>
        <p:txBody>
          <a:bodyPr wrap="square" lIns="0" rIns="0" tIns="0" bIns="0">
            <a:spAutoFit/>
          </a:bodyPr>
          <a:lstStyle/>
          <a:p>
            <a:pPr>
              <a:lnSpc>
                <a:spcPct val="105000"/>
              </a:lnSpc>
              <a:spcBef>
                <a:spcPts val="0"/>
              </a:spcBef>
              <a:spcAft>
                <a:spcPts val="200"/>
              </a:spcAft>
              <a:defRPr sz="1200" b="0">
                <a:solidFill>
                  <a:srgbClr val="FFFFFF"/>
                </a:solidFill>
                <a:latin typeface="Lato"/>
              </a:defRPr>
            </a:pPr>
            <a:r>
              <a:t>Radio bring-up; PCB checks; app + forecast integration.</a:t>
            </a:r>
          </a:p>
        </p:txBody>
      </p:sp>
      <p:sp>
        <p:nvSpPr>
          <p:cNvPr id="21" name="TextBox 20"/>
          <p:cNvSpPr txBox="1"/>
          <p:nvPr/>
        </p:nvSpPr>
        <p:spPr>
          <a:xfrm>
            <a:off x="5733288" y="1892807"/>
            <a:ext cx="5998464" cy="246888"/>
          </a:xfrm>
          <a:prstGeom prst="rect">
            <a:avLst/>
          </a:prstGeom>
          <a:noFill/>
        </p:spPr>
        <p:txBody>
          <a:bodyPr wrap="square" lIns="0" rIns="0" tIns="0" bIns="0">
            <a:spAutoFit/>
          </a:bodyPr>
          <a:lstStyle/>
          <a:p>
            <a:pPr>
              <a:lnSpc>
                <a:spcPct val="105000"/>
              </a:lnSpc>
              <a:spcBef>
                <a:spcPts val="0"/>
              </a:spcBef>
              <a:spcAft>
                <a:spcPts val="200"/>
              </a:spcAft>
              <a:defRPr sz="1300" b="1">
                <a:solidFill>
                  <a:srgbClr val="287F79"/>
                </a:solidFill>
                <a:latin typeface="Lato"/>
              </a:defRPr>
            </a:pPr>
            <a:r>
              <a:t>CHALLENGES → MITIGATION</a:t>
            </a:r>
          </a:p>
        </p:txBody>
      </p:sp>
      <p:sp>
        <p:nvSpPr>
          <p:cNvPr id="22" name="TextBox 21"/>
          <p:cNvSpPr txBox="1"/>
          <p:nvPr/>
        </p:nvSpPr>
        <p:spPr>
          <a:xfrm>
            <a:off x="5742432" y="2313432"/>
            <a:ext cx="2093976" cy="411480"/>
          </a:xfrm>
          <a:prstGeom prst="rect">
            <a:avLst/>
          </a:prstGeom>
          <a:noFill/>
        </p:spPr>
        <p:txBody>
          <a:bodyPr wrap="square" lIns="0" rIns="0" tIns="0" bIns="0">
            <a:spAutoFit/>
          </a:bodyPr>
          <a:lstStyle/>
          <a:p>
            <a:pPr>
              <a:lnSpc>
                <a:spcPct val="105000"/>
              </a:lnSpc>
              <a:spcBef>
                <a:spcPts val="0"/>
              </a:spcBef>
              <a:spcAft>
                <a:spcPts val="200"/>
              </a:spcAft>
              <a:defRPr sz="1370" b="1">
                <a:solidFill>
                  <a:srgbClr val="152C3B"/>
                </a:solidFill>
                <a:latin typeface="Lato"/>
              </a:defRPr>
            </a:pPr>
            <a:r>
              <a:t>Motion / uncertainty</a:t>
            </a:r>
          </a:p>
        </p:txBody>
      </p:sp>
      <p:sp>
        <p:nvSpPr>
          <p:cNvPr id="23" name="TextBox 22"/>
          <p:cNvSpPr txBox="1"/>
          <p:nvPr/>
        </p:nvSpPr>
        <p:spPr>
          <a:xfrm>
            <a:off x="7946136" y="2313432"/>
            <a:ext cx="3767328" cy="438912"/>
          </a:xfrm>
          <a:prstGeom prst="rect">
            <a:avLst/>
          </a:prstGeom>
          <a:noFill/>
        </p:spPr>
        <p:txBody>
          <a:bodyPr wrap="square" lIns="0" rIns="0" tIns="0" bIns="0">
            <a:spAutoFit/>
          </a:bodyPr>
          <a:lstStyle/>
          <a:p>
            <a:pPr>
              <a:lnSpc>
                <a:spcPct val="105000"/>
              </a:lnSpc>
              <a:spcBef>
                <a:spcPts val="0"/>
              </a:spcBef>
              <a:spcAft>
                <a:spcPts val="200"/>
              </a:spcAft>
              <a:defRPr sz="1260" b="0">
                <a:solidFill>
                  <a:srgbClr val="5B6C73"/>
                </a:solidFill>
                <a:latin typeface="Lato"/>
              </a:defRPr>
            </a:pPr>
            <a:r>
              <a:t>Quality gating + reference-device testing; no false reassurance.</a:t>
            </a:r>
          </a:p>
        </p:txBody>
      </p:sp>
      <p:sp>
        <p:nvSpPr>
          <p:cNvPr id="24" name="Rectangle 23"/>
          <p:cNvSpPr/>
          <p:nvPr/>
        </p:nvSpPr>
        <p:spPr>
          <a:xfrm>
            <a:off x="5742432" y="2807208"/>
            <a:ext cx="5971032"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5742432" y="2898648"/>
            <a:ext cx="2093976" cy="411480"/>
          </a:xfrm>
          <a:prstGeom prst="rect">
            <a:avLst/>
          </a:prstGeom>
          <a:noFill/>
        </p:spPr>
        <p:txBody>
          <a:bodyPr wrap="square" lIns="0" rIns="0" tIns="0" bIns="0">
            <a:spAutoFit/>
          </a:bodyPr>
          <a:lstStyle/>
          <a:p>
            <a:pPr>
              <a:lnSpc>
                <a:spcPct val="105000"/>
              </a:lnSpc>
              <a:spcBef>
                <a:spcPts val="0"/>
              </a:spcBef>
              <a:spcAft>
                <a:spcPts val="200"/>
              </a:spcAft>
              <a:defRPr sz="1370" b="1">
                <a:solidFill>
                  <a:srgbClr val="152C3B"/>
                </a:solidFill>
                <a:latin typeface="Lato"/>
              </a:defRPr>
            </a:pPr>
            <a:r>
              <a:t>Radio outages / old alerts</a:t>
            </a:r>
          </a:p>
        </p:txBody>
      </p:sp>
      <p:sp>
        <p:nvSpPr>
          <p:cNvPr id="26" name="TextBox 25"/>
          <p:cNvSpPr txBox="1"/>
          <p:nvPr/>
        </p:nvSpPr>
        <p:spPr>
          <a:xfrm>
            <a:off x="7946136" y="2898648"/>
            <a:ext cx="3767328" cy="438912"/>
          </a:xfrm>
          <a:prstGeom prst="rect">
            <a:avLst/>
          </a:prstGeom>
          <a:noFill/>
        </p:spPr>
        <p:txBody>
          <a:bodyPr wrap="square" lIns="0" rIns="0" tIns="0" bIns="0">
            <a:spAutoFit/>
          </a:bodyPr>
          <a:lstStyle/>
          <a:p>
            <a:pPr>
              <a:lnSpc>
                <a:spcPct val="105000"/>
              </a:lnSpc>
              <a:spcBef>
                <a:spcPts val="0"/>
              </a:spcBef>
              <a:spcAft>
                <a:spcPts val="200"/>
              </a:spcAft>
              <a:defRPr sz="1260" b="0">
                <a:solidFill>
                  <a:srgbClr val="5B6C73"/>
                </a:solidFill>
                <a:latin typeface="Lato"/>
              </a:defRPr>
            </a:pPr>
            <a:r>
              <a:t>Expiry, deduplication and hop limits; measure delivery and range.</a:t>
            </a:r>
          </a:p>
        </p:txBody>
      </p:sp>
      <p:sp>
        <p:nvSpPr>
          <p:cNvPr id="27" name="Rectangle 26"/>
          <p:cNvSpPr/>
          <p:nvPr/>
        </p:nvSpPr>
        <p:spPr>
          <a:xfrm>
            <a:off x="5742432" y="3392424"/>
            <a:ext cx="5971032"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5742432" y="3483863"/>
            <a:ext cx="2093976" cy="411480"/>
          </a:xfrm>
          <a:prstGeom prst="rect">
            <a:avLst/>
          </a:prstGeom>
          <a:noFill/>
        </p:spPr>
        <p:txBody>
          <a:bodyPr wrap="square" lIns="0" rIns="0" tIns="0" bIns="0">
            <a:spAutoFit/>
          </a:bodyPr>
          <a:lstStyle/>
          <a:p>
            <a:pPr>
              <a:lnSpc>
                <a:spcPct val="105000"/>
              </a:lnSpc>
              <a:spcBef>
                <a:spcPts val="0"/>
              </a:spcBef>
              <a:spcAft>
                <a:spcPts val="200"/>
              </a:spcAft>
              <a:defRPr sz="1370" b="1">
                <a:solidFill>
                  <a:srgbClr val="152C3B"/>
                </a:solidFill>
                <a:latin typeface="Lato"/>
              </a:defRPr>
            </a:pPr>
            <a:r>
              <a:t>Battery / fit / robustness</a:t>
            </a:r>
          </a:p>
        </p:txBody>
      </p:sp>
      <p:sp>
        <p:nvSpPr>
          <p:cNvPr id="29" name="TextBox 28"/>
          <p:cNvSpPr txBox="1"/>
          <p:nvPr/>
        </p:nvSpPr>
        <p:spPr>
          <a:xfrm>
            <a:off x="7946136" y="3483863"/>
            <a:ext cx="3767328" cy="438912"/>
          </a:xfrm>
          <a:prstGeom prst="rect">
            <a:avLst/>
          </a:prstGeom>
          <a:noFill/>
        </p:spPr>
        <p:txBody>
          <a:bodyPr wrap="square" lIns="0" rIns="0" tIns="0" bIns="0">
            <a:spAutoFit/>
          </a:bodyPr>
          <a:lstStyle/>
          <a:p>
            <a:pPr>
              <a:lnSpc>
                <a:spcPct val="105000"/>
              </a:lnSpc>
              <a:spcBef>
                <a:spcPts val="0"/>
              </a:spcBef>
              <a:spcAft>
                <a:spcPts val="200"/>
              </a:spcAft>
              <a:defRPr sz="1260" b="0">
                <a:solidFill>
                  <a:srgbClr val="5B6C73"/>
                </a:solidFill>
                <a:latin typeface="Lato"/>
              </a:defRPr>
            </a:pPr>
            <a:r>
              <a:t>Duty-cycle sensing and radio; test comfort, sweat and shift use.</a:t>
            </a:r>
          </a:p>
        </p:txBody>
      </p:sp>
      <p:sp>
        <p:nvSpPr>
          <p:cNvPr id="30" name="Rectangle 29"/>
          <p:cNvSpPr/>
          <p:nvPr/>
        </p:nvSpPr>
        <p:spPr>
          <a:xfrm>
            <a:off x="5742432" y="3977639"/>
            <a:ext cx="5971032"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742432" y="4069079"/>
            <a:ext cx="2093976" cy="411480"/>
          </a:xfrm>
          <a:prstGeom prst="rect">
            <a:avLst/>
          </a:prstGeom>
          <a:noFill/>
        </p:spPr>
        <p:txBody>
          <a:bodyPr wrap="square" lIns="0" rIns="0" tIns="0" bIns="0">
            <a:spAutoFit/>
          </a:bodyPr>
          <a:lstStyle/>
          <a:p>
            <a:pPr>
              <a:lnSpc>
                <a:spcPct val="105000"/>
              </a:lnSpc>
              <a:spcBef>
                <a:spcPts val="0"/>
              </a:spcBef>
              <a:spcAft>
                <a:spcPts val="200"/>
              </a:spcAft>
              <a:defRPr sz="1370" b="1">
                <a:solidFill>
                  <a:srgbClr val="152C3B"/>
                </a:solidFill>
                <a:latin typeface="Lato"/>
              </a:defRPr>
            </a:pPr>
            <a:r>
              <a:t>Data protection</a:t>
            </a:r>
          </a:p>
        </p:txBody>
      </p:sp>
      <p:sp>
        <p:nvSpPr>
          <p:cNvPr id="32" name="TextBox 31"/>
          <p:cNvSpPr txBox="1"/>
          <p:nvPr/>
        </p:nvSpPr>
        <p:spPr>
          <a:xfrm>
            <a:off x="7946136" y="4069079"/>
            <a:ext cx="3767328" cy="438912"/>
          </a:xfrm>
          <a:prstGeom prst="rect">
            <a:avLst/>
          </a:prstGeom>
          <a:noFill/>
        </p:spPr>
        <p:txBody>
          <a:bodyPr wrap="square" lIns="0" rIns="0" tIns="0" bIns="0">
            <a:spAutoFit/>
          </a:bodyPr>
          <a:lstStyle/>
          <a:p>
            <a:pPr>
              <a:lnSpc>
                <a:spcPct val="105000"/>
              </a:lnSpc>
              <a:spcBef>
                <a:spcPts val="0"/>
              </a:spcBef>
              <a:spcAft>
                <a:spcPts val="200"/>
              </a:spcAft>
              <a:defRPr sz="1260" b="0">
                <a:solidFill>
                  <a:srgbClr val="5B6C73"/>
                </a:solidFill>
                <a:latin typeface="Lato"/>
              </a:defRPr>
            </a:pPr>
            <a:r>
              <a:t>Keep physiology local; validate access control and key handling.</a:t>
            </a:r>
          </a:p>
        </p:txBody>
      </p:sp>
      <p:sp>
        <p:nvSpPr>
          <p:cNvPr id="33" name="Rectangle 32"/>
          <p:cNvSpPr/>
          <p:nvPr/>
        </p:nvSpPr>
        <p:spPr>
          <a:xfrm>
            <a:off x="5742432" y="4562855"/>
            <a:ext cx="5971032"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75488" y="4782312"/>
            <a:ext cx="5486400" cy="237744"/>
          </a:xfrm>
          <a:prstGeom prst="rect">
            <a:avLst/>
          </a:prstGeom>
          <a:noFill/>
        </p:spPr>
        <p:txBody>
          <a:bodyPr wrap="square" lIns="0" rIns="0" tIns="0" bIns="0">
            <a:spAutoFit/>
          </a:bodyPr>
          <a:lstStyle/>
          <a:p>
            <a:pPr>
              <a:lnSpc>
                <a:spcPct val="105000"/>
              </a:lnSpc>
              <a:spcBef>
                <a:spcPts val="0"/>
              </a:spcBef>
              <a:spcAft>
                <a:spcPts val="200"/>
              </a:spcAft>
              <a:defRPr sz="1200" b="1">
                <a:solidFill>
                  <a:srgbClr val="287F79"/>
                </a:solidFill>
                <a:latin typeface="Lato"/>
              </a:defRPr>
            </a:pPr>
            <a:r>
              <a:t>ECONOMIC &amp; OPERATIONAL VIABILITY</a:t>
            </a:r>
          </a:p>
        </p:txBody>
      </p:sp>
      <p:sp>
        <p:nvSpPr>
          <p:cNvPr id="35" name="TextBox 34"/>
          <p:cNvSpPr txBox="1"/>
          <p:nvPr/>
        </p:nvSpPr>
        <p:spPr>
          <a:xfrm>
            <a:off x="475488" y="5129784"/>
            <a:ext cx="4901184" cy="667512"/>
          </a:xfrm>
          <a:prstGeom prst="rect">
            <a:avLst/>
          </a:prstGeom>
          <a:noFill/>
        </p:spPr>
        <p:txBody>
          <a:bodyPr wrap="square" lIns="0" rIns="0" tIns="0" bIns="0">
            <a:spAutoFit/>
          </a:bodyPr>
          <a:lstStyle/>
          <a:p>
            <a:pPr>
              <a:lnSpc>
                <a:spcPct val="105000"/>
              </a:lnSpc>
              <a:spcBef>
                <a:spcPts val="0"/>
              </a:spcBef>
              <a:spcAft>
                <a:spcPts val="200"/>
              </a:spcAft>
              <a:defRPr sz="1400" b="0">
                <a:solidFill>
                  <a:srgbClr val="152C3B"/>
                </a:solidFill>
                <a:latin typeface="Lato"/>
              </a:defRPr>
            </a:pPr>
            <a:r>
              <a:t>Off-the-shelf parts simplify repair and sourcing. Quote the full rev B assembly, enclosure and battery before setting a device price.</a:t>
            </a:r>
          </a:p>
        </p:txBody>
      </p:sp>
      <p:sp>
        <p:nvSpPr>
          <p:cNvPr id="36" name="TextBox 35"/>
          <p:cNvSpPr txBox="1"/>
          <p:nvPr/>
        </p:nvSpPr>
        <p:spPr>
          <a:xfrm>
            <a:off x="5733288" y="4782312"/>
            <a:ext cx="5486400" cy="237744"/>
          </a:xfrm>
          <a:prstGeom prst="rect">
            <a:avLst/>
          </a:prstGeom>
          <a:noFill/>
        </p:spPr>
        <p:txBody>
          <a:bodyPr wrap="square" lIns="0" rIns="0" tIns="0" bIns="0">
            <a:spAutoFit/>
          </a:bodyPr>
          <a:lstStyle/>
          <a:p>
            <a:pPr>
              <a:lnSpc>
                <a:spcPct val="105000"/>
              </a:lnSpc>
              <a:spcBef>
                <a:spcPts val="0"/>
              </a:spcBef>
              <a:spcAft>
                <a:spcPts val="200"/>
              </a:spcAft>
              <a:defRPr sz="1200" b="1">
                <a:solidFill>
                  <a:srgbClr val="287F79"/>
                </a:solidFill>
                <a:latin typeface="Lato"/>
              </a:defRPr>
            </a:pPr>
            <a:r>
              <a:t>IMPLEMENTATION GATES</a:t>
            </a:r>
          </a:p>
        </p:txBody>
      </p:sp>
      <p:sp>
        <p:nvSpPr>
          <p:cNvPr id="37" name="TextBox 36"/>
          <p:cNvSpPr txBox="1"/>
          <p:nvPr/>
        </p:nvSpPr>
        <p:spPr>
          <a:xfrm>
            <a:off x="5742432" y="5148072"/>
            <a:ext cx="448056" cy="329184"/>
          </a:xfrm>
          <a:prstGeom prst="rect">
            <a:avLst/>
          </a:prstGeom>
          <a:noFill/>
        </p:spPr>
        <p:txBody>
          <a:bodyPr wrap="square" lIns="0" rIns="0" tIns="0" bIns="0">
            <a:spAutoFit/>
          </a:bodyPr>
          <a:lstStyle/>
          <a:p>
            <a:pPr>
              <a:lnSpc>
                <a:spcPct val="105000"/>
              </a:lnSpc>
              <a:spcBef>
                <a:spcPts val="0"/>
              </a:spcBef>
              <a:spcAft>
                <a:spcPts val="200"/>
              </a:spcAft>
              <a:defRPr sz="2100" b="1">
                <a:solidFill>
                  <a:srgbClr val="287F79"/>
                </a:solidFill>
                <a:latin typeface="Lato"/>
              </a:defRPr>
            </a:pPr>
            <a:r>
              <a:t>01</a:t>
            </a:r>
          </a:p>
        </p:txBody>
      </p:sp>
      <p:sp>
        <p:nvSpPr>
          <p:cNvPr id="38" name="TextBox 37"/>
          <p:cNvSpPr txBox="1"/>
          <p:nvPr/>
        </p:nvSpPr>
        <p:spPr>
          <a:xfrm>
            <a:off x="6281928" y="5157216"/>
            <a:ext cx="1408176" cy="585216"/>
          </a:xfrm>
          <a:prstGeom prst="rect">
            <a:avLst/>
          </a:prstGeom>
          <a:noFill/>
        </p:spPr>
        <p:txBody>
          <a:bodyPr wrap="square" lIns="0" rIns="0" tIns="0" bIns="0">
            <a:spAutoFit/>
          </a:bodyPr>
          <a:lstStyle/>
          <a:p>
            <a:pPr>
              <a:lnSpc>
                <a:spcPct val="105000"/>
              </a:lnSpc>
              <a:spcBef>
                <a:spcPts val="0"/>
              </a:spcBef>
              <a:spcAft>
                <a:spcPts val="200"/>
              </a:spcAft>
              <a:defRPr sz="1280" b="0">
                <a:solidFill>
                  <a:srgbClr val="152C3B"/>
                </a:solidFill>
                <a:latin typeface="Lato"/>
              </a:defRPr>
            </a:pPr>
            <a:r>
              <a:t>Close hardware</a:t>
            </a:r>
          </a:p>
          <a:p>
            <a:pPr>
              <a:lnSpc>
                <a:spcPct val="105000"/>
              </a:lnSpc>
              <a:spcBef>
                <a:spcPts val="0"/>
              </a:spcBef>
              <a:spcAft>
                <a:spcPts val="200"/>
              </a:spcAft>
              <a:defRPr sz="1280" b="0">
                <a:solidFill>
                  <a:srgbClr val="152C3B"/>
                </a:solidFill>
                <a:latin typeface="Lato"/>
              </a:defRPr>
            </a:pPr>
            <a:r>
              <a:t>and radio issues</a:t>
            </a:r>
          </a:p>
        </p:txBody>
      </p:sp>
      <p:sp>
        <p:nvSpPr>
          <p:cNvPr id="39" name="TextBox 38"/>
          <p:cNvSpPr txBox="1"/>
          <p:nvPr/>
        </p:nvSpPr>
        <p:spPr>
          <a:xfrm>
            <a:off x="7818120" y="5148072"/>
            <a:ext cx="448056" cy="329184"/>
          </a:xfrm>
          <a:prstGeom prst="rect">
            <a:avLst/>
          </a:prstGeom>
          <a:noFill/>
        </p:spPr>
        <p:txBody>
          <a:bodyPr wrap="square" lIns="0" rIns="0" tIns="0" bIns="0">
            <a:spAutoFit/>
          </a:bodyPr>
          <a:lstStyle/>
          <a:p>
            <a:pPr>
              <a:lnSpc>
                <a:spcPct val="105000"/>
              </a:lnSpc>
              <a:spcBef>
                <a:spcPts val="0"/>
              </a:spcBef>
              <a:spcAft>
                <a:spcPts val="200"/>
              </a:spcAft>
              <a:defRPr sz="2100" b="1">
                <a:solidFill>
                  <a:srgbClr val="287F79"/>
                </a:solidFill>
                <a:latin typeface="Lato"/>
              </a:defRPr>
            </a:pPr>
            <a:r>
              <a:t>02</a:t>
            </a:r>
          </a:p>
        </p:txBody>
      </p:sp>
      <p:sp>
        <p:nvSpPr>
          <p:cNvPr id="40" name="TextBox 39"/>
          <p:cNvSpPr txBox="1"/>
          <p:nvPr/>
        </p:nvSpPr>
        <p:spPr>
          <a:xfrm>
            <a:off x="8357616" y="5157216"/>
            <a:ext cx="1408176" cy="585216"/>
          </a:xfrm>
          <a:prstGeom prst="rect">
            <a:avLst/>
          </a:prstGeom>
          <a:noFill/>
        </p:spPr>
        <p:txBody>
          <a:bodyPr wrap="square" lIns="0" rIns="0" tIns="0" bIns="0">
            <a:spAutoFit/>
          </a:bodyPr>
          <a:lstStyle/>
          <a:p>
            <a:pPr>
              <a:lnSpc>
                <a:spcPct val="105000"/>
              </a:lnSpc>
              <a:spcBef>
                <a:spcPts val="0"/>
              </a:spcBef>
              <a:spcAft>
                <a:spcPts val="200"/>
              </a:spcAft>
              <a:defRPr sz="1280" b="0">
                <a:solidFill>
                  <a:srgbClr val="152C3B"/>
                </a:solidFill>
                <a:latin typeface="Lato"/>
              </a:defRPr>
            </a:pPr>
            <a:r>
              <a:t>Validate sensing,</a:t>
            </a:r>
          </a:p>
          <a:p>
            <a:pPr>
              <a:lnSpc>
                <a:spcPct val="105000"/>
              </a:lnSpc>
              <a:spcBef>
                <a:spcPts val="0"/>
              </a:spcBef>
              <a:spcAft>
                <a:spcPts val="200"/>
              </a:spcAft>
              <a:defRPr sz="1280" b="0">
                <a:solidFill>
                  <a:srgbClr val="152C3B"/>
                </a:solidFill>
                <a:latin typeface="Lato"/>
              </a:defRPr>
            </a:pPr>
            <a:r>
              <a:t>relay and power</a:t>
            </a:r>
          </a:p>
        </p:txBody>
      </p:sp>
      <p:sp>
        <p:nvSpPr>
          <p:cNvPr id="41" name="TextBox 40"/>
          <p:cNvSpPr txBox="1"/>
          <p:nvPr/>
        </p:nvSpPr>
        <p:spPr>
          <a:xfrm>
            <a:off x="9912096" y="5148072"/>
            <a:ext cx="448056" cy="329184"/>
          </a:xfrm>
          <a:prstGeom prst="rect">
            <a:avLst/>
          </a:prstGeom>
          <a:noFill/>
        </p:spPr>
        <p:txBody>
          <a:bodyPr wrap="square" lIns="0" rIns="0" tIns="0" bIns="0">
            <a:spAutoFit/>
          </a:bodyPr>
          <a:lstStyle/>
          <a:p>
            <a:pPr>
              <a:lnSpc>
                <a:spcPct val="105000"/>
              </a:lnSpc>
              <a:spcBef>
                <a:spcPts val="0"/>
              </a:spcBef>
              <a:spcAft>
                <a:spcPts val="200"/>
              </a:spcAft>
              <a:defRPr sz="2100" b="1">
                <a:solidFill>
                  <a:srgbClr val="287F79"/>
                </a:solidFill>
                <a:latin typeface="Lato"/>
              </a:defRPr>
            </a:pPr>
            <a:r>
              <a:t>03</a:t>
            </a:r>
          </a:p>
        </p:txBody>
      </p:sp>
      <p:sp>
        <p:nvSpPr>
          <p:cNvPr id="42" name="TextBox 41"/>
          <p:cNvSpPr txBox="1"/>
          <p:nvPr/>
        </p:nvSpPr>
        <p:spPr>
          <a:xfrm>
            <a:off x="10451592" y="5157216"/>
            <a:ext cx="1408176" cy="585216"/>
          </a:xfrm>
          <a:prstGeom prst="rect">
            <a:avLst/>
          </a:prstGeom>
          <a:noFill/>
        </p:spPr>
        <p:txBody>
          <a:bodyPr wrap="square" lIns="0" rIns="0" tIns="0" bIns="0">
            <a:spAutoFit/>
          </a:bodyPr>
          <a:lstStyle/>
          <a:p>
            <a:pPr>
              <a:lnSpc>
                <a:spcPct val="105000"/>
              </a:lnSpc>
              <a:spcBef>
                <a:spcPts val="0"/>
              </a:spcBef>
              <a:spcAft>
                <a:spcPts val="200"/>
              </a:spcAft>
              <a:defRPr sz="1280" b="0">
                <a:solidFill>
                  <a:srgbClr val="152C3B"/>
                </a:solidFill>
                <a:latin typeface="Lato"/>
              </a:defRPr>
            </a:pPr>
            <a:r>
              <a:t>Supervised pilot</a:t>
            </a:r>
          </a:p>
          <a:p>
            <a:pPr>
              <a:lnSpc>
                <a:spcPct val="105000"/>
              </a:lnSpc>
              <a:spcBef>
                <a:spcPts val="0"/>
              </a:spcBef>
              <a:spcAft>
                <a:spcPts val="200"/>
              </a:spcAft>
              <a:defRPr sz="1280" b="0">
                <a:solidFill>
                  <a:srgbClr val="152C3B"/>
                </a:solidFill>
                <a:latin typeface="Lato"/>
              </a:defRPr>
            </a:pPr>
            <a:r>
              <a:t>and user feedback</a:t>
            </a:r>
          </a:p>
        </p:txBody>
      </p:sp>
      <p:sp>
        <p:nvSpPr>
          <p:cNvPr id="43" name="TextBox 42"/>
          <p:cNvSpPr txBox="1"/>
          <p:nvPr/>
        </p:nvSpPr>
        <p:spPr>
          <a:xfrm>
            <a:off x="475488" y="6153912"/>
            <a:ext cx="11155680" cy="155448"/>
          </a:xfrm>
          <a:prstGeom prst="rect">
            <a:avLst/>
          </a:prstGeom>
          <a:noFill/>
        </p:spPr>
        <p:txBody>
          <a:bodyPr wrap="square" lIns="0" rIns="0" tIns="0" bIns="0">
            <a:spAutoFit/>
          </a:bodyPr>
          <a:lstStyle/>
          <a:p>
            <a:pPr>
              <a:lnSpc>
                <a:spcPct val="105000"/>
              </a:lnSpc>
              <a:spcBef>
                <a:spcPts val="0"/>
              </a:spcBef>
              <a:spcAft>
                <a:spcPts val="200"/>
              </a:spcAft>
              <a:defRPr sz="819" b="0">
                <a:solidFill>
                  <a:srgbClr val="5B6C73"/>
                </a:solidFill>
                <a:latin typeface="Lato"/>
              </a:defRPr>
            </a:pPr>
            <a:r>
              <a:t>Photo: Seeed Studio, actual XIAO module. Bench results do not establish clinical accuracy or field readiness; full-device cost remains to be quoted.</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42415"/>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365760" y="292608"/>
            <a:ext cx="1335024" cy="429768"/>
          </a:xfrm>
          <a:prstGeom prst="roundRect">
            <a:avLst>
              <a:gd name="adj" fmla="val 8000"/>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438912" y="425196"/>
            <a:ext cx="1188720" cy="210312"/>
          </a:xfrm>
          <a:prstGeom prst="rect">
            <a:avLst/>
          </a:prstGeom>
          <a:noFill/>
        </p:spPr>
        <p:txBody>
          <a:bodyPr wrap="square" lIns="0" rIns="0" tIns="0" bIns="0">
            <a:spAutoFit/>
          </a:bodyPr>
          <a:lstStyle/>
          <a:p>
            <a:pPr algn="ctr">
              <a:lnSpc>
                <a:spcPct val="105000"/>
              </a:lnSpc>
              <a:spcBef>
                <a:spcPts val="0"/>
              </a:spcBef>
              <a:spcAft>
                <a:spcPts val="200"/>
              </a:spcAft>
              <a:defRPr sz="1000" b="1">
                <a:solidFill>
                  <a:srgbClr val="FFFFFF"/>
                </a:solidFill>
                <a:latin typeface="Lato"/>
              </a:defRPr>
            </a:pPr>
            <a:r>
              <a:t>POINT BREAK</a:t>
            </a:r>
          </a:p>
        </p:txBody>
      </p:sp>
      <p:sp>
        <p:nvSpPr>
          <p:cNvPr id="5" name="TextBox 4"/>
          <p:cNvSpPr txBox="1"/>
          <p:nvPr/>
        </p:nvSpPr>
        <p:spPr>
          <a:xfrm>
            <a:off x="1874519" y="347472"/>
            <a:ext cx="7863840" cy="457200"/>
          </a:xfrm>
          <a:prstGeom prst="rect">
            <a:avLst/>
          </a:prstGeom>
          <a:noFill/>
        </p:spPr>
        <p:txBody>
          <a:bodyPr wrap="square" lIns="0" rIns="0" tIns="0" bIns="0">
            <a:spAutoFit/>
          </a:bodyPr>
          <a:lstStyle/>
          <a:p>
            <a:pPr algn="ctr">
              <a:lnSpc>
                <a:spcPct val="105000"/>
              </a:lnSpc>
              <a:spcBef>
                <a:spcPts val="0"/>
              </a:spcBef>
              <a:spcAft>
                <a:spcPts val="200"/>
              </a:spcAft>
              <a:defRPr sz="2300" b="1">
                <a:solidFill>
                  <a:srgbClr val="152C3B"/>
                </a:solidFill>
                <a:latin typeface="Lato"/>
              </a:defRPr>
            </a:pPr>
            <a:r>
              <a:t>IMPACT AND BENEFITS</a:t>
            </a:r>
          </a:p>
        </p:txBody>
      </p:sp>
      <p:pic>
        <p:nvPicPr>
          <p:cNvPr id="6" name="Picture 5" descr="image.png"/>
          <p:cNvPicPr>
            <a:picLocks noChangeAspect="1"/>
          </p:cNvPicPr>
          <p:nvPr/>
        </p:nvPicPr>
        <p:blipFill>
          <a:blip r:embed="rId3"/>
          <a:stretch>
            <a:fillRect/>
          </a:stretch>
        </p:blipFill>
        <p:spPr>
          <a:xfrm>
            <a:off x="10125030" y="155448"/>
            <a:ext cx="1549235" cy="731520"/>
          </a:xfrm>
          <a:prstGeom prst="rect">
            <a:avLst/>
          </a:prstGeom>
        </p:spPr>
      </p:pic>
      <p:sp>
        <p:nvSpPr>
          <p:cNvPr id="7" name="Rectangle 6"/>
          <p:cNvSpPr/>
          <p:nvPr/>
        </p:nvSpPr>
        <p:spPr>
          <a:xfrm>
            <a:off x="365760" y="1024128"/>
            <a:ext cx="11430000"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0" y="6355080"/>
            <a:ext cx="12191695" cy="502920"/>
          </a:xfrm>
          <a:prstGeom prst="rect">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11480" y="6510528"/>
            <a:ext cx="2743200" cy="182880"/>
          </a:xfrm>
          <a:prstGeom prst="rect">
            <a:avLst/>
          </a:prstGeom>
          <a:noFill/>
        </p:spPr>
        <p:txBody>
          <a:bodyPr wrap="square" lIns="0" rIns="0" tIns="0" bIns="0">
            <a:spAutoFit/>
          </a:bodyPr>
          <a:lstStyle/>
          <a:p>
            <a:pPr>
              <a:lnSpc>
                <a:spcPct val="105000"/>
              </a:lnSpc>
              <a:spcBef>
                <a:spcPts val="0"/>
              </a:spcBef>
              <a:spcAft>
                <a:spcPts val="200"/>
              </a:spcAft>
              <a:defRPr sz="900" b="1">
                <a:solidFill>
                  <a:srgbClr val="FFFFFF"/>
                </a:solidFill>
                <a:latin typeface="Lato"/>
              </a:defRPr>
            </a:pPr>
            <a:r>
              <a:t>PRAHARI  /  POINT BREAK</a:t>
            </a:r>
          </a:p>
        </p:txBody>
      </p:sp>
      <p:sp>
        <p:nvSpPr>
          <p:cNvPr id="10" name="TextBox 9"/>
          <p:cNvSpPr txBox="1"/>
          <p:nvPr/>
        </p:nvSpPr>
        <p:spPr>
          <a:xfrm>
            <a:off x="4389120" y="6510528"/>
            <a:ext cx="3749039" cy="182880"/>
          </a:xfrm>
          <a:prstGeom prst="rect">
            <a:avLst/>
          </a:prstGeom>
          <a:noFill/>
        </p:spPr>
        <p:txBody>
          <a:bodyPr wrap="square" lIns="0" rIns="0" tIns="0" bIns="0">
            <a:spAutoFit/>
          </a:bodyPr>
          <a:lstStyle/>
          <a:p>
            <a:pPr algn="ctr">
              <a:lnSpc>
                <a:spcPct val="105000"/>
              </a:lnSpc>
              <a:spcBef>
                <a:spcPts val="0"/>
              </a:spcBef>
              <a:spcAft>
                <a:spcPts val="200"/>
              </a:spcAft>
              <a:defRPr sz="900" b="0">
                <a:solidFill>
                  <a:srgbClr val="CFD9DB"/>
                </a:solidFill>
                <a:latin typeface="Lato"/>
              </a:defRPr>
            </a:pPr>
            <a:r>
              <a:t>@SIH Idea submission- Template</a:t>
            </a:r>
          </a:p>
        </p:txBody>
      </p:sp>
      <p:sp>
        <p:nvSpPr>
          <p:cNvPr id="11" name="TextBox 10"/>
          <p:cNvSpPr txBox="1"/>
          <p:nvPr/>
        </p:nvSpPr>
        <p:spPr>
          <a:xfrm>
            <a:off x="10652760" y="6492240"/>
            <a:ext cx="1051560" cy="210312"/>
          </a:xfrm>
          <a:prstGeom prst="rect">
            <a:avLst/>
          </a:prstGeom>
          <a:noFill/>
        </p:spPr>
        <p:txBody>
          <a:bodyPr wrap="square" lIns="0" rIns="0" tIns="0" bIns="0">
            <a:spAutoFit/>
          </a:bodyPr>
          <a:lstStyle/>
          <a:p>
            <a:pPr algn="r">
              <a:lnSpc>
                <a:spcPct val="105000"/>
              </a:lnSpc>
              <a:spcBef>
                <a:spcPts val="0"/>
              </a:spcBef>
              <a:spcAft>
                <a:spcPts val="200"/>
              </a:spcAft>
              <a:defRPr sz="1000" b="1">
                <a:solidFill>
                  <a:srgbClr val="FFFFFF"/>
                </a:solidFill>
                <a:latin typeface="Lato"/>
              </a:defRPr>
            </a:pPr>
            <a:r>
              <a:t>05 / 06</a:t>
            </a:r>
          </a:p>
        </p:txBody>
      </p:sp>
      <p:sp>
        <p:nvSpPr>
          <p:cNvPr id="12" name="TextBox 11"/>
          <p:cNvSpPr txBox="1"/>
          <p:nvPr/>
        </p:nvSpPr>
        <p:spPr>
          <a:xfrm>
            <a:off x="457200" y="1197864"/>
            <a:ext cx="11247120" cy="448056"/>
          </a:xfrm>
          <a:prstGeom prst="rect">
            <a:avLst/>
          </a:prstGeom>
          <a:noFill/>
        </p:spPr>
        <p:txBody>
          <a:bodyPr wrap="square" lIns="0" rIns="0" tIns="0" bIns="0">
            <a:spAutoFit/>
          </a:bodyPr>
          <a:lstStyle/>
          <a:p>
            <a:pPr>
              <a:lnSpc>
                <a:spcPct val="105000"/>
              </a:lnSpc>
              <a:spcBef>
                <a:spcPts val="0"/>
              </a:spcBef>
              <a:spcAft>
                <a:spcPts val="200"/>
              </a:spcAft>
              <a:defRPr sz="2900" b="1">
                <a:solidFill>
                  <a:srgbClr val="152C3B"/>
                </a:solidFill>
                <a:latin typeface="Lato"/>
              </a:defRPr>
            </a:pPr>
            <a:r>
              <a:t>Put the warning where action can start.</a:t>
            </a:r>
          </a:p>
        </p:txBody>
      </p:sp>
      <p:pic>
        <p:nvPicPr>
          <p:cNvPr id="13" name="Picture 12" descr="workers_mumbai.jpg"/>
          <p:cNvPicPr>
            <a:picLocks noChangeAspect="1"/>
          </p:cNvPicPr>
          <p:nvPr/>
        </p:nvPicPr>
        <p:blipFill>
          <a:blip r:embed="rId4"/>
          <a:srcRect t="25214" b="25214"/>
          <a:stretch>
            <a:fillRect/>
          </a:stretch>
        </p:blipFill>
        <p:spPr>
          <a:xfrm>
            <a:off x="457200" y="1837943"/>
            <a:ext cx="3566160" cy="1325880"/>
          </a:xfrm>
          <a:prstGeom prst="rect">
            <a:avLst/>
          </a:prstGeom>
        </p:spPr>
      </p:pic>
      <p:sp>
        <p:nvSpPr>
          <p:cNvPr id="14" name="Rectangle 13"/>
          <p:cNvSpPr/>
          <p:nvPr/>
        </p:nvSpPr>
        <p:spPr>
          <a:xfrm>
            <a:off x="457200" y="2889504"/>
            <a:ext cx="3566160" cy="274320"/>
          </a:xfrm>
          <a:prstGeom prst="rect">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66928" y="2962656"/>
            <a:ext cx="3346704" cy="182880"/>
          </a:xfrm>
          <a:prstGeom prst="rect">
            <a:avLst/>
          </a:prstGeom>
          <a:noFill/>
        </p:spPr>
        <p:txBody>
          <a:bodyPr wrap="square" lIns="0" rIns="0" tIns="0" bIns="0">
            <a:spAutoFit/>
          </a:bodyPr>
          <a:lstStyle/>
          <a:p>
            <a:pPr>
              <a:lnSpc>
                <a:spcPct val="105000"/>
              </a:lnSpc>
              <a:spcBef>
                <a:spcPts val="0"/>
              </a:spcBef>
              <a:spcAft>
                <a:spcPts val="200"/>
              </a:spcAft>
              <a:defRPr sz="1000" b="1">
                <a:solidFill>
                  <a:srgbClr val="FFFFFF"/>
                </a:solidFill>
                <a:latin typeface="Lato"/>
              </a:defRPr>
            </a:pPr>
            <a:r>
              <a:t>OUTDOOR WORK CREWS</a:t>
            </a:r>
          </a:p>
        </p:txBody>
      </p:sp>
      <p:pic>
        <p:nvPicPr>
          <p:cNvPr id="16" name="Picture 15" descr="farmer.jpg"/>
          <p:cNvPicPr>
            <a:picLocks noChangeAspect="1"/>
          </p:cNvPicPr>
          <p:nvPr/>
        </p:nvPicPr>
        <p:blipFill>
          <a:blip r:embed="rId5"/>
          <a:srcRect t="22115" b="22115"/>
          <a:stretch>
            <a:fillRect/>
          </a:stretch>
        </p:blipFill>
        <p:spPr>
          <a:xfrm>
            <a:off x="4306824" y="1837943"/>
            <a:ext cx="3566160" cy="1325880"/>
          </a:xfrm>
          <a:prstGeom prst="rect">
            <a:avLst/>
          </a:prstGeom>
        </p:spPr>
      </p:pic>
      <p:sp>
        <p:nvSpPr>
          <p:cNvPr id="17" name="Rectangle 16"/>
          <p:cNvSpPr/>
          <p:nvPr/>
        </p:nvSpPr>
        <p:spPr>
          <a:xfrm>
            <a:off x="4306824" y="2889504"/>
            <a:ext cx="3566160" cy="274320"/>
          </a:xfrm>
          <a:prstGeom prst="rect">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416552" y="2962656"/>
            <a:ext cx="3346704" cy="182880"/>
          </a:xfrm>
          <a:prstGeom prst="rect">
            <a:avLst/>
          </a:prstGeom>
          <a:noFill/>
        </p:spPr>
        <p:txBody>
          <a:bodyPr wrap="square" lIns="0" rIns="0" tIns="0" bIns="0">
            <a:spAutoFit/>
          </a:bodyPr>
          <a:lstStyle/>
          <a:p>
            <a:pPr>
              <a:lnSpc>
                <a:spcPct val="105000"/>
              </a:lnSpc>
              <a:spcBef>
                <a:spcPts val="0"/>
              </a:spcBef>
              <a:spcAft>
                <a:spcPts val="200"/>
              </a:spcAft>
              <a:defRPr sz="1000" b="1">
                <a:solidFill>
                  <a:srgbClr val="FFFFFF"/>
                </a:solidFill>
                <a:latin typeface="Lato"/>
              </a:defRPr>
            </a:pPr>
            <a:r>
              <a:t>FARMING COMMUNITIES</a:t>
            </a:r>
          </a:p>
        </p:txBody>
      </p:sp>
      <p:pic>
        <p:nvPicPr>
          <p:cNvPr id="19" name="Picture 18" descr="flood.jpg"/>
          <p:cNvPicPr>
            <a:picLocks noChangeAspect="1"/>
          </p:cNvPicPr>
          <p:nvPr/>
        </p:nvPicPr>
        <p:blipFill>
          <a:blip r:embed="rId6"/>
          <a:srcRect t="22045" b="22045"/>
          <a:stretch>
            <a:fillRect/>
          </a:stretch>
        </p:blipFill>
        <p:spPr>
          <a:xfrm>
            <a:off x="8156448" y="1837943"/>
            <a:ext cx="3566160" cy="1325880"/>
          </a:xfrm>
          <a:prstGeom prst="rect">
            <a:avLst/>
          </a:prstGeom>
        </p:spPr>
      </p:pic>
      <p:sp>
        <p:nvSpPr>
          <p:cNvPr id="20" name="Rectangle 19"/>
          <p:cNvSpPr/>
          <p:nvPr/>
        </p:nvSpPr>
        <p:spPr>
          <a:xfrm>
            <a:off x="8156448" y="2889504"/>
            <a:ext cx="3566160" cy="274320"/>
          </a:xfrm>
          <a:prstGeom prst="rect">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66175" y="2962656"/>
            <a:ext cx="3346704" cy="182880"/>
          </a:xfrm>
          <a:prstGeom prst="rect">
            <a:avLst/>
          </a:prstGeom>
          <a:noFill/>
        </p:spPr>
        <p:txBody>
          <a:bodyPr wrap="square" lIns="0" rIns="0" tIns="0" bIns="0">
            <a:spAutoFit/>
          </a:bodyPr>
          <a:lstStyle/>
          <a:p>
            <a:pPr>
              <a:lnSpc>
                <a:spcPct val="105000"/>
              </a:lnSpc>
              <a:spcBef>
                <a:spcPts val="0"/>
              </a:spcBef>
              <a:spcAft>
                <a:spcPts val="200"/>
              </a:spcAft>
              <a:defRPr sz="1000" b="1">
                <a:solidFill>
                  <a:srgbClr val="FFFFFF"/>
                </a:solidFill>
                <a:latin typeface="Lato"/>
              </a:defRPr>
            </a:pPr>
            <a:r>
              <a:t>DISASTER-EXPOSED AREAS</a:t>
            </a:r>
          </a:p>
        </p:txBody>
      </p:sp>
      <p:sp>
        <p:nvSpPr>
          <p:cNvPr id="22" name="TextBox 21"/>
          <p:cNvSpPr txBox="1"/>
          <p:nvPr/>
        </p:nvSpPr>
        <p:spPr>
          <a:xfrm>
            <a:off x="466344" y="3438144"/>
            <a:ext cx="1609344" cy="713232"/>
          </a:xfrm>
          <a:prstGeom prst="rect">
            <a:avLst/>
          </a:prstGeom>
          <a:noFill/>
        </p:spPr>
        <p:txBody>
          <a:bodyPr wrap="square" lIns="0" rIns="0" tIns="0" bIns="0">
            <a:spAutoFit/>
          </a:bodyPr>
          <a:lstStyle/>
          <a:p>
            <a:pPr>
              <a:lnSpc>
                <a:spcPct val="105000"/>
              </a:lnSpc>
              <a:spcBef>
                <a:spcPts val="0"/>
              </a:spcBef>
              <a:spcAft>
                <a:spcPts val="200"/>
              </a:spcAft>
              <a:defRPr sz="4400" b="1">
                <a:solidFill>
                  <a:srgbClr val="287F79"/>
                </a:solidFill>
                <a:latin typeface="Lato"/>
              </a:defRPr>
            </a:pPr>
            <a:r>
              <a:t>57%</a:t>
            </a:r>
          </a:p>
        </p:txBody>
      </p:sp>
      <p:sp>
        <p:nvSpPr>
          <p:cNvPr id="23" name="TextBox 22"/>
          <p:cNvSpPr txBox="1"/>
          <p:nvPr/>
        </p:nvSpPr>
        <p:spPr>
          <a:xfrm>
            <a:off x="2221992" y="3547872"/>
            <a:ext cx="8869680" cy="521207"/>
          </a:xfrm>
          <a:prstGeom prst="rect">
            <a:avLst/>
          </a:prstGeom>
          <a:noFill/>
        </p:spPr>
        <p:txBody>
          <a:bodyPr wrap="square" lIns="0" rIns="0" tIns="0" bIns="0">
            <a:spAutoFit/>
          </a:bodyPr>
          <a:lstStyle/>
          <a:p>
            <a:pPr>
              <a:lnSpc>
                <a:spcPct val="105000"/>
              </a:lnSpc>
              <a:spcBef>
                <a:spcPts val="0"/>
              </a:spcBef>
              <a:spcAft>
                <a:spcPts val="200"/>
              </a:spcAft>
              <a:defRPr sz="1800" b="1">
                <a:solidFill>
                  <a:srgbClr val="152C3B"/>
                </a:solidFill>
                <a:latin typeface="Lato"/>
              </a:defRPr>
            </a:pPr>
            <a:r>
              <a:t>of Indian districts at high to very high heat risk</a:t>
            </a:r>
          </a:p>
          <a:p>
            <a:pPr>
              <a:lnSpc>
                <a:spcPct val="105000"/>
              </a:lnSpc>
              <a:spcBef>
                <a:spcPts val="0"/>
              </a:spcBef>
              <a:spcAft>
                <a:spcPts val="200"/>
              </a:spcAft>
              <a:defRPr sz="1800" b="1">
                <a:solidFill>
                  <a:srgbClr val="152C3B"/>
                </a:solidFill>
                <a:latin typeface="Lato"/>
              </a:defRPr>
            </a:pPr>
            <a:r>
              <a:t>CEEW, 2025 [1]</a:t>
            </a:r>
          </a:p>
        </p:txBody>
      </p:sp>
      <p:sp>
        <p:nvSpPr>
          <p:cNvPr id="24" name="Rectangle 23"/>
          <p:cNvSpPr/>
          <p:nvPr/>
        </p:nvSpPr>
        <p:spPr>
          <a:xfrm>
            <a:off x="475488" y="4325112"/>
            <a:ext cx="3529584"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75488" y="4517136"/>
            <a:ext cx="3529584" cy="256032"/>
          </a:xfrm>
          <a:prstGeom prst="rect">
            <a:avLst/>
          </a:prstGeom>
          <a:noFill/>
        </p:spPr>
        <p:txBody>
          <a:bodyPr wrap="square" lIns="0" rIns="0" tIns="0" bIns="0">
            <a:spAutoFit/>
          </a:bodyPr>
          <a:lstStyle/>
          <a:p>
            <a:pPr>
              <a:lnSpc>
                <a:spcPct val="105000"/>
              </a:lnSpc>
              <a:spcBef>
                <a:spcPts val="0"/>
              </a:spcBef>
              <a:spcAft>
                <a:spcPts val="200"/>
              </a:spcAft>
              <a:defRPr sz="1300" b="1">
                <a:solidFill>
                  <a:srgbClr val="287F79"/>
                </a:solidFill>
                <a:latin typeface="Lato"/>
              </a:defRPr>
            </a:pPr>
            <a:r>
              <a:t>SOCIAL</a:t>
            </a:r>
          </a:p>
        </p:txBody>
      </p:sp>
      <p:sp>
        <p:nvSpPr>
          <p:cNvPr id="26" name="TextBox 25"/>
          <p:cNvSpPr txBox="1"/>
          <p:nvPr/>
        </p:nvSpPr>
        <p:spPr>
          <a:xfrm>
            <a:off x="475488" y="4910328"/>
            <a:ext cx="3502152" cy="841248"/>
          </a:xfrm>
          <a:prstGeom prst="rect">
            <a:avLst/>
          </a:prstGeom>
          <a:noFill/>
        </p:spPr>
        <p:txBody>
          <a:bodyPr wrap="square" lIns="0" rIns="0" tIns="0" bIns="0">
            <a:spAutoFit/>
          </a:bodyPr>
          <a:lstStyle/>
          <a:p>
            <a:pPr>
              <a:lnSpc>
                <a:spcPct val="105000"/>
              </a:lnSpc>
              <a:spcBef>
                <a:spcPts val="0"/>
              </a:spcBef>
              <a:spcAft>
                <a:spcPts val="200"/>
              </a:spcAft>
              <a:defRPr sz="1240" b="0">
                <a:solidFill>
                  <a:srgbClr val="152C3B"/>
                </a:solidFill>
                <a:latin typeface="Lato"/>
              </a:defRPr>
            </a:pPr>
            <a:r>
              <a:t>Distinct haptics support simple warnings.</a:t>
            </a:r>
          </a:p>
          <a:p>
            <a:pPr>
              <a:lnSpc>
                <a:spcPct val="105000"/>
              </a:lnSpc>
              <a:spcBef>
                <a:spcPts val="0"/>
              </a:spcBef>
              <a:spcAft>
                <a:spcPts val="200"/>
              </a:spcAft>
              <a:defRPr sz="1240" b="0">
                <a:solidFill>
                  <a:srgbClr val="152C3B"/>
                </a:solidFill>
                <a:latin typeface="Lato"/>
              </a:defRPr>
            </a:pPr>
            <a:r>
              <a:t>No personal phone needed for reception.</a:t>
            </a:r>
          </a:p>
          <a:p>
            <a:pPr>
              <a:lnSpc>
                <a:spcPct val="105000"/>
              </a:lnSpc>
              <a:spcBef>
                <a:spcPts val="0"/>
              </a:spcBef>
              <a:spcAft>
                <a:spcPts val="200"/>
              </a:spcAft>
              <a:defRPr sz="1240" b="0">
                <a:solidFill>
                  <a:srgbClr val="152C3B"/>
                </a:solidFill>
                <a:latin typeface="Lato"/>
              </a:defRPr>
            </a:pPr>
            <a:r>
              <a:t>Local crews can act on shared alerts.</a:t>
            </a:r>
          </a:p>
        </p:txBody>
      </p:sp>
      <p:sp>
        <p:nvSpPr>
          <p:cNvPr id="27" name="Rectangle 26"/>
          <p:cNvSpPr/>
          <p:nvPr/>
        </p:nvSpPr>
        <p:spPr>
          <a:xfrm>
            <a:off x="4334256" y="4325112"/>
            <a:ext cx="3529584"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4334256" y="4517136"/>
            <a:ext cx="3529584" cy="256032"/>
          </a:xfrm>
          <a:prstGeom prst="rect">
            <a:avLst/>
          </a:prstGeom>
          <a:noFill/>
        </p:spPr>
        <p:txBody>
          <a:bodyPr wrap="square" lIns="0" rIns="0" tIns="0" bIns="0">
            <a:spAutoFit/>
          </a:bodyPr>
          <a:lstStyle/>
          <a:p>
            <a:pPr>
              <a:lnSpc>
                <a:spcPct val="105000"/>
              </a:lnSpc>
              <a:spcBef>
                <a:spcPts val="0"/>
              </a:spcBef>
              <a:spcAft>
                <a:spcPts val="200"/>
              </a:spcAft>
              <a:defRPr sz="1300" b="1">
                <a:solidFill>
                  <a:srgbClr val="287F79"/>
                </a:solidFill>
                <a:latin typeface="Lato"/>
              </a:defRPr>
            </a:pPr>
            <a:r>
              <a:t>ECONOMIC</a:t>
            </a:r>
          </a:p>
        </p:txBody>
      </p:sp>
      <p:sp>
        <p:nvSpPr>
          <p:cNvPr id="29" name="TextBox 28"/>
          <p:cNvSpPr txBox="1"/>
          <p:nvPr/>
        </p:nvSpPr>
        <p:spPr>
          <a:xfrm>
            <a:off x="4334256" y="4910328"/>
            <a:ext cx="3502152" cy="841248"/>
          </a:xfrm>
          <a:prstGeom prst="rect">
            <a:avLst/>
          </a:prstGeom>
          <a:noFill/>
        </p:spPr>
        <p:txBody>
          <a:bodyPr wrap="square" lIns="0" rIns="0" tIns="0" bIns="0">
            <a:spAutoFit/>
          </a:bodyPr>
          <a:lstStyle/>
          <a:p>
            <a:pPr>
              <a:lnSpc>
                <a:spcPct val="105000"/>
              </a:lnSpc>
              <a:spcBef>
                <a:spcPts val="0"/>
              </a:spcBef>
              <a:spcAft>
                <a:spcPts val="200"/>
              </a:spcAft>
              <a:defRPr sz="1240" b="0">
                <a:solidFill>
                  <a:srgbClr val="152C3B"/>
                </a:solidFill>
                <a:latin typeface="Lato"/>
              </a:defRPr>
            </a:pPr>
            <a:r>
              <a:t>Timely rest prompts aim to reduce disruption.</a:t>
            </a:r>
          </a:p>
          <a:p>
            <a:pPr>
              <a:lnSpc>
                <a:spcPct val="105000"/>
              </a:lnSpc>
              <a:spcBef>
                <a:spcPts val="0"/>
              </a:spcBef>
              <a:spcAft>
                <a:spcPts val="200"/>
              </a:spcAft>
              <a:defRPr sz="1240" b="0">
                <a:solidFill>
                  <a:srgbClr val="152C3B"/>
                </a:solidFill>
                <a:latin typeface="Lato"/>
              </a:defRPr>
            </a:pPr>
            <a:r>
              <a:t>Crew deployment can share gateway access.</a:t>
            </a:r>
          </a:p>
          <a:p>
            <a:pPr>
              <a:lnSpc>
                <a:spcPct val="105000"/>
              </a:lnSpc>
              <a:spcBef>
                <a:spcPts val="0"/>
              </a:spcBef>
              <a:spcAft>
                <a:spcPts val="200"/>
              </a:spcAft>
              <a:defRPr sz="1240" b="0">
                <a:solidFill>
                  <a:srgbClr val="152C3B"/>
                </a:solidFill>
                <a:latin typeface="Lato"/>
              </a:defRPr>
            </a:pPr>
            <a:r>
              <a:t>Measure time to action before claiming savings.</a:t>
            </a:r>
          </a:p>
        </p:txBody>
      </p:sp>
      <p:sp>
        <p:nvSpPr>
          <p:cNvPr id="30" name="Rectangle 29"/>
          <p:cNvSpPr/>
          <p:nvPr/>
        </p:nvSpPr>
        <p:spPr>
          <a:xfrm>
            <a:off x="8183879" y="4325112"/>
            <a:ext cx="3529584"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8183879" y="4517136"/>
            <a:ext cx="3529584" cy="256032"/>
          </a:xfrm>
          <a:prstGeom prst="rect">
            <a:avLst/>
          </a:prstGeom>
          <a:noFill/>
        </p:spPr>
        <p:txBody>
          <a:bodyPr wrap="square" lIns="0" rIns="0" tIns="0" bIns="0">
            <a:spAutoFit/>
          </a:bodyPr>
          <a:lstStyle/>
          <a:p>
            <a:pPr>
              <a:lnSpc>
                <a:spcPct val="105000"/>
              </a:lnSpc>
              <a:spcBef>
                <a:spcPts val="0"/>
              </a:spcBef>
              <a:spcAft>
                <a:spcPts val="200"/>
              </a:spcAft>
              <a:defRPr sz="1300" b="1">
                <a:solidFill>
                  <a:srgbClr val="287F79"/>
                </a:solidFill>
                <a:latin typeface="Lato"/>
              </a:defRPr>
            </a:pPr>
            <a:r>
              <a:t>SYSTEMIC &amp; ENVIRONMENTAL</a:t>
            </a:r>
          </a:p>
        </p:txBody>
      </p:sp>
      <p:sp>
        <p:nvSpPr>
          <p:cNvPr id="32" name="TextBox 31"/>
          <p:cNvSpPr txBox="1"/>
          <p:nvPr/>
        </p:nvSpPr>
        <p:spPr>
          <a:xfrm>
            <a:off x="8183879" y="4910328"/>
            <a:ext cx="3502152" cy="841248"/>
          </a:xfrm>
          <a:prstGeom prst="rect">
            <a:avLst/>
          </a:prstGeom>
          <a:noFill/>
        </p:spPr>
        <p:txBody>
          <a:bodyPr wrap="square" lIns="0" rIns="0" tIns="0" bIns="0">
            <a:spAutoFit/>
          </a:bodyPr>
          <a:lstStyle/>
          <a:p>
            <a:pPr>
              <a:lnSpc>
                <a:spcPct val="105000"/>
              </a:lnSpc>
              <a:spcBef>
                <a:spcPts val="0"/>
              </a:spcBef>
              <a:spcAft>
                <a:spcPts val="200"/>
              </a:spcAft>
              <a:defRPr sz="1240" b="0">
                <a:solidFill>
                  <a:srgbClr val="152C3B"/>
                </a:solidFill>
                <a:latin typeface="Lato"/>
              </a:defRPr>
            </a:pPr>
            <a:r>
              <a:t>Extend official alerts into local peer networks.</a:t>
            </a:r>
          </a:p>
          <a:p>
            <a:pPr>
              <a:lnSpc>
                <a:spcPct val="105000"/>
              </a:lnSpc>
              <a:spcBef>
                <a:spcPts val="0"/>
              </a:spcBef>
              <a:spcAft>
                <a:spcPts val="200"/>
              </a:spcAft>
              <a:defRPr sz="1240" b="0">
                <a:solidFill>
                  <a:srgbClr val="152C3B"/>
                </a:solidFill>
                <a:latin typeface="Lato"/>
              </a:defRPr>
            </a:pPr>
            <a:r>
              <a:t>Rechargeable, modular design aims for repair.</a:t>
            </a:r>
          </a:p>
          <a:p>
            <a:pPr>
              <a:lnSpc>
                <a:spcPct val="105000"/>
              </a:lnSpc>
              <a:spcBef>
                <a:spcPts val="0"/>
              </a:spcBef>
              <a:spcAft>
                <a:spcPts val="200"/>
              </a:spcAft>
              <a:defRPr sz="1240" b="0">
                <a:solidFill>
                  <a:srgbClr val="152C3B"/>
                </a:solidFill>
                <a:latin typeface="Lato"/>
              </a:defRPr>
            </a:pPr>
            <a:r>
              <a:t>Validate durability and lifetime in the pilot.</a:t>
            </a:r>
          </a:p>
        </p:txBody>
      </p:sp>
      <p:sp>
        <p:nvSpPr>
          <p:cNvPr id="33" name="Rounded Rectangle 32"/>
          <p:cNvSpPr/>
          <p:nvPr/>
        </p:nvSpPr>
        <p:spPr>
          <a:xfrm>
            <a:off x="457200" y="5815584"/>
            <a:ext cx="11274552" cy="256032"/>
          </a:xfrm>
          <a:prstGeom prst="roundRect">
            <a:avLst>
              <a:gd name="adj" fmla="val 8000"/>
            </a:avLst>
          </a:prstGeom>
          <a:solidFill>
            <a:srgbClr val="E7EF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594360" y="5870448"/>
            <a:ext cx="11009376" cy="182880"/>
          </a:xfrm>
          <a:prstGeom prst="rect">
            <a:avLst/>
          </a:prstGeom>
          <a:noFill/>
        </p:spPr>
        <p:txBody>
          <a:bodyPr wrap="square" lIns="0" rIns="0" tIns="0" bIns="0">
            <a:spAutoFit/>
          </a:bodyPr>
          <a:lstStyle/>
          <a:p>
            <a:pPr>
              <a:lnSpc>
                <a:spcPct val="105000"/>
              </a:lnSpc>
              <a:spcBef>
                <a:spcPts val="0"/>
              </a:spcBef>
              <a:spcAft>
                <a:spcPts val="200"/>
              </a:spcAft>
              <a:defRPr sz="1030" b="1">
                <a:solidFill>
                  <a:srgbClr val="287F79"/>
                </a:solidFill>
                <a:latin typeface="Lato"/>
              </a:defRPr>
            </a:pPr>
            <a:r>
              <a:t>PILOT METRICS   Delivery time  •  Missed / false alerts  •  Time to action  •  Battery per shift  •  Comfort and comprehension</a:t>
            </a:r>
          </a:p>
        </p:txBody>
      </p:sp>
      <p:sp>
        <p:nvSpPr>
          <p:cNvPr id="35" name="TextBox 34"/>
          <p:cNvSpPr txBox="1"/>
          <p:nvPr/>
        </p:nvSpPr>
        <p:spPr>
          <a:xfrm>
            <a:off x="475488" y="6153912"/>
            <a:ext cx="11155680" cy="155448"/>
          </a:xfrm>
          <a:prstGeom prst="rect">
            <a:avLst/>
          </a:prstGeom>
          <a:noFill/>
        </p:spPr>
        <p:txBody>
          <a:bodyPr wrap="square" lIns="0" rIns="0" tIns="0" bIns="0">
            <a:spAutoFit/>
          </a:bodyPr>
          <a:lstStyle/>
          <a:p>
            <a:pPr>
              <a:lnSpc>
                <a:spcPct val="105000"/>
              </a:lnSpc>
              <a:spcBef>
                <a:spcPts val="0"/>
              </a:spcBef>
              <a:spcAft>
                <a:spcPts val="200"/>
              </a:spcAft>
              <a:defRPr sz="819" b="0">
                <a:solidFill>
                  <a:srgbClr val="5B6C73"/>
                </a:solidFill>
                <a:latin typeface="Lato"/>
              </a:defRPr>
            </a:pPr>
            <a:r>
              <a:t>Real photographs: yajna S R; Abhishek Gupta; Dibakar Roy / Pexels. Intended benefits, not measured health or economic outcomes.</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42415"/>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365760" y="292608"/>
            <a:ext cx="1335024" cy="429768"/>
          </a:xfrm>
          <a:prstGeom prst="roundRect">
            <a:avLst>
              <a:gd name="adj" fmla="val 8000"/>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438912" y="425196"/>
            <a:ext cx="1188720" cy="210312"/>
          </a:xfrm>
          <a:prstGeom prst="rect">
            <a:avLst/>
          </a:prstGeom>
          <a:noFill/>
        </p:spPr>
        <p:txBody>
          <a:bodyPr wrap="square" lIns="0" rIns="0" tIns="0" bIns="0">
            <a:spAutoFit/>
          </a:bodyPr>
          <a:lstStyle/>
          <a:p>
            <a:pPr algn="ctr">
              <a:lnSpc>
                <a:spcPct val="105000"/>
              </a:lnSpc>
              <a:spcBef>
                <a:spcPts val="0"/>
              </a:spcBef>
              <a:spcAft>
                <a:spcPts val="200"/>
              </a:spcAft>
              <a:defRPr sz="1000" b="1">
                <a:solidFill>
                  <a:srgbClr val="FFFFFF"/>
                </a:solidFill>
                <a:latin typeface="Lato"/>
              </a:defRPr>
            </a:pPr>
            <a:r>
              <a:t>POINT BREAK</a:t>
            </a:r>
          </a:p>
        </p:txBody>
      </p:sp>
      <p:sp>
        <p:nvSpPr>
          <p:cNvPr id="5" name="TextBox 4"/>
          <p:cNvSpPr txBox="1"/>
          <p:nvPr/>
        </p:nvSpPr>
        <p:spPr>
          <a:xfrm>
            <a:off x="1874519" y="347472"/>
            <a:ext cx="7863840" cy="457200"/>
          </a:xfrm>
          <a:prstGeom prst="rect">
            <a:avLst/>
          </a:prstGeom>
          <a:noFill/>
        </p:spPr>
        <p:txBody>
          <a:bodyPr wrap="square" lIns="0" rIns="0" tIns="0" bIns="0">
            <a:spAutoFit/>
          </a:bodyPr>
          <a:lstStyle/>
          <a:p>
            <a:pPr algn="ctr">
              <a:lnSpc>
                <a:spcPct val="105000"/>
              </a:lnSpc>
              <a:spcBef>
                <a:spcPts val="0"/>
              </a:spcBef>
              <a:spcAft>
                <a:spcPts val="200"/>
              </a:spcAft>
              <a:defRPr sz="2300" b="1">
                <a:solidFill>
                  <a:srgbClr val="152C3B"/>
                </a:solidFill>
                <a:latin typeface="Lato"/>
              </a:defRPr>
            </a:pPr>
            <a:r>
              <a:t>RESEARCH AND REFERENCES</a:t>
            </a:r>
          </a:p>
        </p:txBody>
      </p:sp>
      <p:pic>
        <p:nvPicPr>
          <p:cNvPr id="6" name="Picture 5" descr="image.png"/>
          <p:cNvPicPr>
            <a:picLocks noChangeAspect="1"/>
          </p:cNvPicPr>
          <p:nvPr/>
        </p:nvPicPr>
        <p:blipFill>
          <a:blip r:embed="rId3"/>
          <a:stretch>
            <a:fillRect/>
          </a:stretch>
        </p:blipFill>
        <p:spPr>
          <a:xfrm>
            <a:off x="10125030" y="155448"/>
            <a:ext cx="1549235" cy="731520"/>
          </a:xfrm>
          <a:prstGeom prst="rect">
            <a:avLst/>
          </a:prstGeom>
        </p:spPr>
      </p:pic>
      <p:sp>
        <p:nvSpPr>
          <p:cNvPr id="7" name="Rectangle 6"/>
          <p:cNvSpPr/>
          <p:nvPr/>
        </p:nvSpPr>
        <p:spPr>
          <a:xfrm>
            <a:off x="365760" y="1024128"/>
            <a:ext cx="11430000"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0" y="6355080"/>
            <a:ext cx="12191695" cy="502920"/>
          </a:xfrm>
          <a:prstGeom prst="rect">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11480" y="6510528"/>
            <a:ext cx="2743200" cy="182880"/>
          </a:xfrm>
          <a:prstGeom prst="rect">
            <a:avLst/>
          </a:prstGeom>
          <a:noFill/>
        </p:spPr>
        <p:txBody>
          <a:bodyPr wrap="square" lIns="0" rIns="0" tIns="0" bIns="0">
            <a:spAutoFit/>
          </a:bodyPr>
          <a:lstStyle/>
          <a:p>
            <a:pPr>
              <a:lnSpc>
                <a:spcPct val="105000"/>
              </a:lnSpc>
              <a:spcBef>
                <a:spcPts val="0"/>
              </a:spcBef>
              <a:spcAft>
                <a:spcPts val="200"/>
              </a:spcAft>
              <a:defRPr sz="900" b="1">
                <a:solidFill>
                  <a:srgbClr val="FFFFFF"/>
                </a:solidFill>
                <a:latin typeface="Lato"/>
              </a:defRPr>
            </a:pPr>
            <a:r>
              <a:t>PRAHARI  /  POINT BREAK</a:t>
            </a:r>
          </a:p>
        </p:txBody>
      </p:sp>
      <p:sp>
        <p:nvSpPr>
          <p:cNvPr id="10" name="TextBox 9"/>
          <p:cNvSpPr txBox="1"/>
          <p:nvPr/>
        </p:nvSpPr>
        <p:spPr>
          <a:xfrm>
            <a:off x="4389120" y="6510528"/>
            <a:ext cx="3749039" cy="182880"/>
          </a:xfrm>
          <a:prstGeom prst="rect">
            <a:avLst/>
          </a:prstGeom>
          <a:noFill/>
        </p:spPr>
        <p:txBody>
          <a:bodyPr wrap="square" lIns="0" rIns="0" tIns="0" bIns="0">
            <a:spAutoFit/>
          </a:bodyPr>
          <a:lstStyle/>
          <a:p>
            <a:pPr algn="ctr">
              <a:lnSpc>
                <a:spcPct val="105000"/>
              </a:lnSpc>
              <a:spcBef>
                <a:spcPts val="0"/>
              </a:spcBef>
              <a:spcAft>
                <a:spcPts val="200"/>
              </a:spcAft>
              <a:defRPr sz="900" b="0">
                <a:solidFill>
                  <a:srgbClr val="CFD9DB"/>
                </a:solidFill>
                <a:latin typeface="Lato"/>
              </a:defRPr>
            </a:pPr>
            <a:r>
              <a:t>@SIH Idea submission- Template</a:t>
            </a:r>
          </a:p>
        </p:txBody>
      </p:sp>
      <p:sp>
        <p:nvSpPr>
          <p:cNvPr id="11" name="TextBox 10"/>
          <p:cNvSpPr txBox="1"/>
          <p:nvPr/>
        </p:nvSpPr>
        <p:spPr>
          <a:xfrm>
            <a:off x="10652760" y="6492240"/>
            <a:ext cx="1051560" cy="210312"/>
          </a:xfrm>
          <a:prstGeom prst="rect">
            <a:avLst/>
          </a:prstGeom>
          <a:noFill/>
        </p:spPr>
        <p:txBody>
          <a:bodyPr wrap="square" lIns="0" rIns="0" tIns="0" bIns="0">
            <a:spAutoFit/>
          </a:bodyPr>
          <a:lstStyle/>
          <a:p>
            <a:pPr algn="r">
              <a:lnSpc>
                <a:spcPct val="105000"/>
              </a:lnSpc>
              <a:spcBef>
                <a:spcPts val="0"/>
              </a:spcBef>
              <a:spcAft>
                <a:spcPts val="200"/>
              </a:spcAft>
              <a:defRPr sz="1000" b="1">
                <a:solidFill>
                  <a:srgbClr val="FFFFFF"/>
                </a:solidFill>
                <a:latin typeface="Lato"/>
              </a:defRPr>
            </a:pPr>
            <a:r>
              <a:t>06 / 06</a:t>
            </a:r>
          </a:p>
        </p:txBody>
      </p:sp>
      <p:sp>
        <p:nvSpPr>
          <p:cNvPr id="12" name="TextBox 11"/>
          <p:cNvSpPr txBox="1"/>
          <p:nvPr/>
        </p:nvSpPr>
        <p:spPr>
          <a:xfrm>
            <a:off x="457200" y="1197864"/>
            <a:ext cx="11247120" cy="448056"/>
          </a:xfrm>
          <a:prstGeom prst="rect">
            <a:avLst/>
          </a:prstGeom>
          <a:noFill/>
        </p:spPr>
        <p:txBody>
          <a:bodyPr wrap="square" lIns="0" rIns="0" tIns="0" bIns="0">
            <a:spAutoFit/>
          </a:bodyPr>
          <a:lstStyle/>
          <a:p>
            <a:pPr>
              <a:lnSpc>
                <a:spcPct val="105000"/>
              </a:lnSpc>
              <a:spcBef>
                <a:spcPts val="0"/>
              </a:spcBef>
              <a:spcAft>
                <a:spcPts val="200"/>
              </a:spcAft>
              <a:defRPr sz="2800" b="1">
                <a:solidFill>
                  <a:srgbClr val="152C3B"/>
                </a:solidFill>
                <a:latin typeface="Lato"/>
              </a:defRPr>
            </a:pPr>
            <a:r>
              <a:t>Research foundations. Evidence. Next questions.</a:t>
            </a:r>
          </a:p>
        </p:txBody>
      </p:sp>
      <p:sp>
        <p:nvSpPr>
          <p:cNvPr id="13" name="TextBox 12"/>
          <p:cNvSpPr txBox="1"/>
          <p:nvPr/>
        </p:nvSpPr>
        <p:spPr>
          <a:xfrm>
            <a:off x="484632" y="1965960"/>
            <a:ext cx="448056" cy="356616"/>
          </a:xfrm>
          <a:prstGeom prst="rect">
            <a:avLst/>
          </a:prstGeom>
          <a:noFill/>
        </p:spPr>
        <p:txBody>
          <a:bodyPr wrap="square" lIns="0" rIns="0" tIns="0" bIns="0">
            <a:spAutoFit/>
          </a:bodyPr>
          <a:lstStyle/>
          <a:p>
            <a:pPr>
              <a:lnSpc>
                <a:spcPct val="105000"/>
              </a:lnSpc>
              <a:spcBef>
                <a:spcPts val="0"/>
              </a:spcBef>
              <a:spcAft>
                <a:spcPts val="200"/>
              </a:spcAft>
              <a:defRPr sz="2100" b="1">
                <a:solidFill>
                  <a:srgbClr val="287F79"/>
                </a:solidFill>
                <a:latin typeface="Lato"/>
              </a:defRPr>
            </a:pPr>
            <a:r>
              <a:t>01</a:t>
            </a:r>
          </a:p>
        </p:txBody>
      </p:sp>
      <p:sp>
        <p:nvSpPr>
          <p:cNvPr id="14" name="TextBox 13">
            <a:hlinkClick r:id="rId4"/>
          </p:cNvPr>
          <p:cNvSpPr txBox="1"/>
          <p:nvPr/>
        </p:nvSpPr>
        <p:spPr>
          <a:xfrm>
            <a:off x="1097280" y="1965960"/>
            <a:ext cx="6437376" cy="301752"/>
          </a:xfrm>
          <a:prstGeom prst="rect">
            <a:avLst/>
          </a:prstGeom>
          <a:noFill/>
        </p:spPr>
        <p:txBody>
          <a:bodyPr wrap="square" lIns="0" rIns="0" tIns="0" bIns="0">
            <a:spAutoFit/>
          </a:bodyPr>
          <a:lstStyle/>
          <a:p>
            <a:pPr>
              <a:lnSpc>
                <a:spcPct val="105000"/>
              </a:lnSpc>
              <a:spcBef>
                <a:spcPts val="0"/>
              </a:spcBef>
              <a:spcAft>
                <a:spcPts val="200"/>
              </a:spcAft>
              <a:defRPr sz="1500" b="1">
                <a:solidFill>
                  <a:srgbClr val="152C3B"/>
                </a:solidFill>
                <a:latin typeface="Lato"/>
              </a:defRPr>
            </a:pPr>
            <a:r>
              <a:rPr u="none">
                <a:solidFill>
                  <a:srgbClr val="152C3B"/>
                </a:solidFill>
              </a:rPr>
              <a:t>CEEW · Extreme heat in Indian districts (2025)</a:t>
            </a:r>
          </a:p>
        </p:txBody>
      </p:sp>
      <p:sp>
        <p:nvSpPr>
          <p:cNvPr id="15" name="TextBox 14"/>
          <p:cNvSpPr txBox="1"/>
          <p:nvPr/>
        </p:nvSpPr>
        <p:spPr>
          <a:xfrm>
            <a:off x="1097280" y="2331720"/>
            <a:ext cx="6428232" cy="237744"/>
          </a:xfrm>
          <a:prstGeom prst="rect">
            <a:avLst/>
          </a:prstGeom>
          <a:noFill/>
        </p:spPr>
        <p:txBody>
          <a:bodyPr wrap="square" lIns="0" rIns="0" tIns="0" bIns="0">
            <a:spAutoFit/>
          </a:bodyPr>
          <a:lstStyle/>
          <a:p>
            <a:pPr>
              <a:lnSpc>
                <a:spcPct val="105000"/>
              </a:lnSpc>
              <a:spcBef>
                <a:spcPts val="0"/>
              </a:spcBef>
              <a:spcAft>
                <a:spcPts val="200"/>
              </a:spcAft>
              <a:defRPr sz="1200" b="0">
                <a:solidFill>
                  <a:srgbClr val="5B6C73"/>
                </a:solidFill>
                <a:latin typeface="Lato"/>
              </a:defRPr>
            </a:pPr>
            <a:r>
              <a:t>Heat-risk evidence and target-user context.</a:t>
            </a:r>
          </a:p>
        </p:txBody>
      </p:sp>
      <p:sp>
        <p:nvSpPr>
          <p:cNvPr id="16" name="Rectangle 15"/>
          <p:cNvSpPr/>
          <p:nvPr/>
        </p:nvSpPr>
        <p:spPr>
          <a:xfrm>
            <a:off x="484632" y="2596896"/>
            <a:ext cx="7141464"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84632" y="2670048"/>
            <a:ext cx="448056" cy="356616"/>
          </a:xfrm>
          <a:prstGeom prst="rect">
            <a:avLst/>
          </a:prstGeom>
          <a:noFill/>
        </p:spPr>
        <p:txBody>
          <a:bodyPr wrap="square" lIns="0" rIns="0" tIns="0" bIns="0">
            <a:spAutoFit/>
          </a:bodyPr>
          <a:lstStyle/>
          <a:p>
            <a:pPr>
              <a:lnSpc>
                <a:spcPct val="105000"/>
              </a:lnSpc>
              <a:spcBef>
                <a:spcPts val="0"/>
              </a:spcBef>
              <a:spcAft>
                <a:spcPts val="200"/>
              </a:spcAft>
              <a:defRPr sz="2100" b="1">
                <a:solidFill>
                  <a:srgbClr val="287F79"/>
                </a:solidFill>
                <a:latin typeface="Lato"/>
              </a:defRPr>
            </a:pPr>
            <a:r>
              <a:t>02</a:t>
            </a:r>
          </a:p>
        </p:txBody>
      </p:sp>
      <p:sp>
        <p:nvSpPr>
          <p:cNvPr id="18" name="TextBox 17">
            <a:hlinkClick r:id="rId5"/>
          </p:cNvPr>
          <p:cNvSpPr txBox="1"/>
          <p:nvPr/>
        </p:nvSpPr>
        <p:spPr>
          <a:xfrm>
            <a:off x="1097280" y="2670048"/>
            <a:ext cx="6437376" cy="301752"/>
          </a:xfrm>
          <a:prstGeom prst="rect">
            <a:avLst/>
          </a:prstGeom>
          <a:noFill/>
        </p:spPr>
        <p:txBody>
          <a:bodyPr wrap="square" lIns="0" rIns="0" tIns="0" bIns="0">
            <a:spAutoFit/>
          </a:bodyPr>
          <a:lstStyle/>
          <a:p>
            <a:pPr>
              <a:lnSpc>
                <a:spcPct val="105000"/>
              </a:lnSpc>
              <a:spcBef>
                <a:spcPts val="0"/>
              </a:spcBef>
              <a:spcAft>
                <a:spcPts val="200"/>
              </a:spcAft>
              <a:defRPr sz="1500" b="1">
                <a:solidFill>
                  <a:srgbClr val="152C3B"/>
                </a:solidFill>
                <a:latin typeface="Lato"/>
              </a:defRPr>
            </a:pPr>
            <a:r>
              <a:rPr u="none">
                <a:solidFill>
                  <a:srgbClr val="152C3B"/>
                </a:solidFill>
              </a:rPr>
              <a:t>NDMA · SACHET CAP / RSS alerts</a:t>
            </a:r>
          </a:p>
        </p:txBody>
      </p:sp>
      <p:sp>
        <p:nvSpPr>
          <p:cNvPr id="19" name="TextBox 18"/>
          <p:cNvSpPr txBox="1"/>
          <p:nvPr/>
        </p:nvSpPr>
        <p:spPr>
          <a:xfrm>
            <a:off x="1097280" y="3035808"/>
            <a:ext cx="6428232" cy="237744"/>
          </a:xfrm>
          <a:prstGeom prst="rect">
            <a:avLst/>
          </a:prstGeom>
          <a:noFill/>
        </p:spPr>
        <p:txBody>
          <a:bodyPr wrap="square" lIns="0" rIns="0" tIns="0" bIns="0">
            <a:spAutoFit/>
          </a:bodyPr>
          <a:lstStyle/>
          <a:p>
            <a:pPr>
              <a:lnSpc>
                <a:spcPct val="105000"/>
              </a:lnSpc>
              <a:spcBef>
                <a:spcPts val="0"/>
              </a:spcBef>
              <a:spcAft>
                <a:spcPts val="200"/>
              </a:spcAft>
              <a:defRPr sz="1200" b="0">
                <a:solidFill>
                  <a:srgbClr val="5B6C73"/>
                </a:solidFill>
                <a:latin typeface="Lato"/>
              </a:defRPr>
            </a:pPr>
            <a:r>
              <a:t>Official alert source for hazard dissemination.</a:t>
            </a:r>
          </a:p>
        </p:txBody>
      </p:sp>
      <p:sp>
        <p:nvSpPr>
          <p:cNvPr id="20" name="Rectangle 19"/>
          <p:cNvSpPr/>
          <p:nvPr/>
        </p:nvSpPr>
        <p:spPr>
          <a:xfrm>
            <a:off x="484632" y="3300984"/>
            <a:ext cx="7141464"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484632" y="3374136"/>
            <a:ext cx="448056" cy="356616"/>
          </a:xfrm>
          <a:prstGeom prst="rect">
            <a:avLst/>
          </a:prstGeom>
          <a:noFill/>
        </p:spPr>
        <p:txBody>
          <a:bodyPr wrap="square" lIns="0" rIns="0" tIns="0" bIns="0">
            <a:spAutoFit/>
          </a:bodyPr>
          <a:lstStyle/>
          <a:p>
            <a:pPr>
              <a:lnSpc>
                <a:spcPct val="105000"/>
              </a:lnSpc>
              <a:spcBef>
                <a:spcPts val="0"/>
              </a:spcBef>
              <a:spcAft>
                <a:spcPts val="200"/>
              </a:spcAft>
              <a:defRPr sz="2100" b="1">
                <a:solidFill>
                  <a:srgbClr val="287F79"/>
                </a:solidFill>
                <a:latin typeface="Lato"/>
              </a:defRPr>
            </a:pPr>
            <a:r>
              <a:t>03</a:t>
            </a:r>
          </a:p>
        </p:txBody>
      </p:sp>
      <p:sp>
        <p:nvSpPr>
          <p:cNvPr id="22" name="TextBox 21">
            <a:hlinkClick r:id="rId6"/>
          </p:cNvPr>
          <p:cNvSpPr txBox="1"/>
          <p:nvPr/>
        </p:nvSpPr>
        <p:spPr>
          <a:xfrm>
            <a:off x="1097280" y="3374136"/>
            <a:ext cx="6437376" cy="301752"/>
          </a:xfrm>
          <a:prstGeom prst="rect">
            <a:avLst/>
          </a:prstGeom>
          <a:noFill/>
        </p:spPr>
        <p:txBody>
          <a:bodyPr wrap="square" lIns="0" rIns="0" tIns="0" bIns="0">
            <a:spAutoFit/>
          </a:bodyPr>
          <a:lstStyle/>
          <a:p>
            <a:pPr>
              <a:lnSpc>
                <a:spcPct val="105000"/>
              </a:lnSpc>
              <a:spcBef>
                <a:spcPts val="0"/>
              </a:spcBef>
              <a:spcAft>
                <a:spcPts val="200"/>
              </a:spcAft>
              <a:defRPr sz="1500" b="1">
                <a:solidFill>
                  <a:srgbClr val="152C3B"/>
                </a:solidFill>
                <a:latin typeface="Lato"/>
              </a:defRPr>
            </a:pPr>
            <a:r>
              <a:rPr u="none">
                <a:solidFill>
                  <a:srgbClr val="152C3B"/>
                </a:solidFill>
              </a:rPr>
              <a:t>Buller et al. · Wearable physiological estimation</a:t>
            </a:r>
          </a:p>
        </p:txBody>
      </p:sp>
      <p:sp>
        <p:nvSpPr>
          <p:cNvPr id="23" name="TextBox 22"/>
          <p:cNvSpPr txBox="1"/>
          <p:nvPr/>
        </p:nvSpPr>
        <p:spPr>
          <a:xfrm>
            <a:off x="1097280" y="3739896"/>
            <a:ext cx="6428232" cy="237744"/>
          </a:xfrm>
          <a:prstGeom prst="rect">
            <a:avLst/>
          </a:prstGeom>
          <a:noFill/>
        </p:spPr>
        <p:txBody>
          <a:bodyPr wrap="square" lIns="0" rIns="0" tIns="0" bIns="0">
            <a:spAutoFit/>
          </a:bodyPr>
          <a:lstStyle/>
          <a:p>
            <a:pPr>
              <a:lnSpc>
                <a:spcPct val="105000"/>
              </a:lnSpc>
              <a:spcBef>
                <a:spcPts val="0"/>
              </a:spcBef>
              <a:spcAft>
                <a:spcPts val="200"/>
              </a:spcAft>
              <a:defRPr sz="1200" b="0">
                <a:solidFill>
                  <a:srgbClr val="5B6C73"/>
                </a:solidFill>
                <a:latin typeface="Lato"/>
              </a:defRPr>
            </a:pPr>
            <a:r>
              <a:t>Kalman-filter research; not PRAHARI validation.</a:t>
            </a:r>
          </a:p>
        </p:txBody>
      </p:sp>
      <p:sp>
        <p:nvSpPr>
          <p:cNvPr id="24" name="Rectangle 23"/>
          <p:cNvSpPr/>
          <p:nvPr/>
        </p:nvSpPr>
        <p:spPr>
          <a:xfrm>
            <a:off x="484632" y="4005072"/>
            <a:ext cx="7141464"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84632" y="4078224"/>
            <a:ext cx="448056" cy="356616"/>
          </a:xfrm>
          <a:prstGeom prst="rect">
            <a:avLst/>
          </a:prstGeom>
          <a:noFill/>
        </p:spPr>
        <p:txBody>
          <a:bodyPr wrap="square" lIns="0" rIns="0" tIns="0" bIns="0">
            <a:spAutoFit/>
          </a:bodyPr>
          <a:lstStyle/>
          <a:p>
            <a:pPr>
              <a:lnSpc>
                <a:spcPct val="105000"/>
              </a:lnSpc>
              <a:spcBef>
                <a:spcPts val="0"/>
              </a:spcBef>
              <a:spcAft>
                <a:spcPts val="200"/>
              </a:spcAft>
              <a:defRPr sz="2100" b="1">
                <a:solidFill>
                  <a:srgbClr val="287F79"/>
                </a:solidFill>
                <a:latin typeface="Lato"/>
              </a:defRPr>
            </a:pPr>
            <a:r>
              <a:t>04</a:t>
            </a:r>
          </a:p>
        </p:txBody>
      </p:sp>
      <p:sp>
        <p:nvSpPr>
          <p:cNvPr id="26" name="TextBox 25">
            <a:hlinkClick r:id="rId7"/>
          </p:cNvPr>
          <p:cNvSpPr txBox="1"/>
          <p:nvPr/>
        </p:nvSpPr>
        <p:spPr>
          <a:xfrm>
            <a:off x="1097280" y="4078224"/>
            <a:ext cx="6437376" cy="301752"/>
          </a:xfrm>
          <a:prstGeom prst="rect">
            <a:avLst/>
          </a:prstGeom>
          <a:noFill/>
        </p:spPr>
        <p:txBody>
          <a:bodyPr wrap="square" lIns="0" rIns="0" tIns="0" bIns="0">
            <a:spAutoFit/>
          </a:bodyPr>
          <a:lstStyle/>
          <a:p>
            <a:pPr>
              <a:lnSpc>
                <a:spcPct val="105000"/>
              </a:lnSpc>
              <a:spcBef>
                <a:spcPts val="0"/>
              </a:spcBef>
              <a:spcAft>
                <a:spcPts val="200"/>
              </a:spcAft>
              <a:defRPr sz="1500" b="1">
                <a:solidFill>
                  <a:srgbClr val="152C3B"/>
                </a:solidFill>
                <a:latin typeface="Lato"/>
              </a:defRPr>
            </a:pPr>
            <a:r>
              <a:rPr u="none">
                <a:solidFill>
                  <a:srgbClr val="152C3B"/>
                </a:solidFill>
              </a:rPr>
              <a:t>Seeed Studio · XIAO nRF52840 documentation</a:t>
            </a:r>
          </a:p>
        </p:txBody>
      </p:sp>
      <p:sp>
        <p:nvSpPr>
          <p:cNvPr id="27" name="TextBox 26"/>
          <p:cNvSpPr txBox="1"/>
          <p:nvPr/>
        </p:nvSpPr>
        <p:spPr>
          <a:xfrm>
            <a:off x="1097280" y="4443984"/>
            <a:ext cx="6428232" cy="237744"/>
          </a:xfrm>
          <a:prstGeom prst="rect">
            <a:avLst/>
          </a:prstGeom>
          <a:noFill/>
        </p:spPr>
        <p:txBody>
          <a:bodyPr wrap="square" lIns="0" rIns="0" tIns="0" bIns="0">
            <a:spAutoFit/>
          </a:bodyPr>
          <a:lstStyle/>
          <a:p>
            <a:pPr>
              <a:lnSpc>
                <a:spcPct val="105000"/>
              </a:lnSpc>
              <a:spcBef>
                <a:spcPts val="0"/>
              </a:spcBef>
              <a:spcAft>
                <a:spcPts val="200"/>
              </a:spcAft>
              <a:defRPr sz="1200" b="0">
                <a:solidFill>
                  <a:srgbClr val="5B6C73"/>
                </a:solidFill>
                <a:latin typeface="Lato"/>
              </a:defRPr>
            </a:pPr>
            <a:r>
              <a:t>MCU, BLE, Sense IMU and component image.</a:t>
            </a:r>
          </a:p>
        </p:txBody>
      </p:sp>
      <p:sp>
        <p:nvSpPr>
          <p:cNvPr id="28" name="Rectangle 27"/>
          <p:cNvSpPr/>
          <p:nvPr/>
        </p:nvSpPr>
        <p:spPr>
          <a:xfrm>
            <a:off x="484632" y="4709160"/>
            <a:ext cx="7141464"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84632" y="4782312"/>
            <a:ext cx="448056" cy="356616"/>
          </a:xfrm>
          <a:prstGeom prst="rect">
            <a:avLst/>
          </a:prstGeom>
          <a:noFill/>
        </p:spPr>
        <p:txBody>
          <a:bodyPr wrap="square" lIns="0" rIns="0" tIns="0" bIns="0">
            <a:spAutoFit/>
          </a:bodyPr>
          <a:lstStyle/>
          <a:p>
            <a:pPr>
              <a:lnSpc>
                <a:spcPct val="105000"/>
              </a:lnSpc>
              <a:spcBef>
                <a:spcPts val="0"/>
              </a:spcBef>
              <a:spcAft>
                <a:spcPts val="200"/>
              </a:spcAft>
              <a:defRPr sz="2100" b="1">
                <a:solidFill>
                  <a:srgbClr val="287F79"/>
                </a:solidFill>
                <a:latin typeface="Lato"/>
              </a:defRPr>
            </a:pPr>
            <a:r>
              <a:t>05</a:t>
            </a:r>
          </a:p>
        </p:txBody>
      </p:sp>
      <p:sp>
        <p:nvSpPr>
          <p:cNvPr id="30" name="TextBox 29">
            <a:hlinkClick r:id="rId8"/>
          </p:cNvPr>
          <p:cNvSpPr txBox="1"/>
          <p:nvPr/>
        </p:nvSpPr>
        <p:spPr>
          <a:xfrm>
            <a:off x="1097280" y="4782312"/>
            <a:ext cx="6437376" cy="301752"/>
          </a:xfrm>
          <a:prstGeom prst="rect">
            <a:avLst/>
          </a:prstGeom>
          <a:noFill/>
        </p:spPr>
        <p:txBody>
          <a:bodyPr wrap="square" lIns="0" rIns="0" tIns="0" bIns="0">
            <a:spAutoFit/>
          </a:bodyPr>
          <a:lstStyle/>
          <a:p>
            <a:pPr>
              <a:lnSpc>
                <a:spcPct val="105000"/>
              </a:lnSpc>
              <a:spcBef>
                <a:spcPts val="0"/>
              </a:spcBef>
              <a:spcAft>
                <a:spcPts val="200"/>
              </a:spcAft>
              <a:defRPr sz="1500" b="1">
                <a:solidFill>
                  <a:srgbClr val="152C3B"/>
                </a:solidFill>
                <a:latin typeface="Lato"/>
              </a:defRPr>
            </a:pPr>
            <a:r>
              <a:rPr u="none">
                <a:solidFill>
                  <a:srgbClr val="152C3B"/>
                </a:solidFill>
              </a:rPr>
              <a:t>PRAHARI · firmware, KiCad and project notes</a:t>
            </a:r>
          </a:p>
        </p:txBody>
      </p:sp>
      <p:sp>
        <p:nvSpPr>
          <p:cNvPr id="31" name="TextBox 30"/>
          <p:cNvSpPr txBox="1"/>
          <p:nvPr/>
        </p:nvSpPr>
        <p:spPr>
          <a:xfrm>
            <a:off x="1097280" y="5148072"/>
            <a:ext cx="6428232" cy="237744"/>
          </a:xfrm>
          <a:prstGeom prst="rect">
            <a:avLst/>
          </a:prstGeom>
          <a:noFill/>
        </p:spPr>
        <p:txBody>
          <a:bodyPr wrap="square" lIns="0" rIns="0" tIns="0" bIns="0">
            <a:spAutoFit/>
          </a:bodyPr>
          <a:lstStyle/>
          <a:p>
            <a:pPr>
              <a:lnSpc>
                <a:spcPct val="105000"/>
              </a:lnSpc>
              <a:spcBef>
                <a:spcPts val="0"/>
              </a:spcBef>
              <a:spcAft>
                <a:spcPts val="200"/>
              </a:spcAft>
              <a:defRPr sz="1200" b="0">
                <a:solidFill>
                  <a:srgbClr val="5B6C73"/>
                </a:solidFill>
                <a:latin typeface="Lato"/>
              </a:defRPr>
            </a:pPr>
            <a:r>
              <a:t>Sensor/OLED work, BOM and bring-up evidence; private repo.</a:t>
            </a:r>
          </a:p>
        </p:txBody>
      </p:sp>
      <p:sp>
        <p:nvSpPr>
          <p:cNvPr id="32" name="Rectangle 31"/>
          <p:cNvSpPr/>
          <p:nvPr/>
        </p:nvSpPr>
        <p:spPr>
          <a:xfrm>
            <a:off x="484632" y="5413248"/>
            <a:ext cx="7141464"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ounded Rectangle 32"/>
          <p:cNvSpPr/>
          <p:nvPr/>
        </p:nvSpPr>
        <p:spPr>
          <a:xfrm>
            <a:off x="8001000" y="1920240"/>
            <a:ext cx="3730752" cy="3383280"/>
          </a:xfrm>
          <a:prstGeom prst="roundRect">
            <a:avLst>
              <a:gd name="adj" fmla="val 8000"/>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202168" y="2148840"/>
            <a:ext cx="3328416" cy="457200"/>
          </a:xfrm>
          <a:prstGeom prst="rect">
            <a:avLst/>
          </a:prstGeom>
          <a:noFill/>
        </p:spPr>
        <p:txBody>
          <a:bodyPr wrap="square" lIns="0" rIns="0" tIns="0" bIns="0">
            <a:spAutoFit/>
          </a:bodyPr>
          <a:lstStyle/>
          <a:p>
            <a:pPr>
              <a:lnSpc>
                <a:spcPct val="105000"/>
              </a:lnSpc>
              <a:spcBef>
                <a:spcPts val="0"/>
              </a:spcBef>
              <a:spcAft>
                <a:spcPts val="200"/>
              </a:spcAft>
              <a:defRPr sz="1500" b="1">
                <a:solidFill>
                  <a:srgbClr val="E5AE48"/>
                </a:solidFill>
                <a:latin typeface="Lato"/>
              </a:defRPr>
            </a:pPr>
            <a:r>
              <a:t>WHAT THE PILOT MUST TEST</a:t>
            </a:r>
          </a:p>
        </p:txBody>
      </p:sp>
      <p:sp>
        <p:nvSpPr>
          <p:cNvPr id="35" name="TextBox 34"/>
          <p:cNvSpPr txBox="1"/>
          <p:nvPr/>
        </p:nvSpPr>
        <p:spPr>
          <a:xfrm>
            <a:off x="8202168" y="2743200"/>
            <a:ext cx="3282696" cy="1920240"/>
          </a:xfrm>
          <a:prstGeom prst="rect">
            <a:avLst/>
          </a:prstGeom>
          <a:noFill/>
        </p:spPr>
        <p:txBody>
          <a:bodyPr wrap="square" lIns="0" rIns="0" tIns="0" bIns="0">
            <a:spAutoFit/>
          </a:bodyPr>
          <a:lstStyle/>
          <a:p>
            <a:pPr>
              <a:lnSpc>
                <a:spcPct val="105000"/>
              </a:lnSpc>
              <a:spcBef>
                <a:spcPts val="0"/>
              </a:spcBef>
              <a:spcAft>
                <a:spcPts val="200"/>
              </a:spcAft>
              <a:defRPr sz="1400" b="0">
                <a:solidFill>
                  <a:srgbClr val="FFFFFF"/>
                </a:solidFill>
                <a:latin typeface="Lato"/>
              </a:defRPr>
            </a:pPr>
            <a:r>
              <a:t>01  Does the forecast stay useful</a:t>
            </a:r>
          </a:p>
          <a:p>
            <a:pPr>
              <a:lnSpc>
                <a:spcPct val="105000"/>
              </a:lnSpc>
              <a:spcBef>
                <a:spcPts val="0"/>
              </a:spcBef>
              <a:spcAft>
                <a:spcPts val="200"/>
              </a:spcAft>
              <a:defRPr sz="1400" b="0">
                <a:solidFill>
                  <a:srgbClr val="FFFFFF"/>
                </a:solidFill>
                <a:latin typeface="Lato"/>
              </a:defRPr>
            </a:pPr>
            <a:r>
              <a:t>      during movement and recovery?</a:t>
            </a:r>
          </a:p>
          <a:p>
            <a:pPr>
              <a:lnSpc>
                <a:spcPct val="105000"/>
              </a:lnSpc>
              <a:spcBef>
                <a:spcPts val="0"/>
              </a:spcBef>
              <a:spcAft>
                <a:spcPts val="200"/>
              </a:spcAft>
              <a:defRPr sz="1400" b="0">
                <a:solidFill>
                  <a:srgbClr val="FFFFFF"/>
                </a:solidFill>
                <a:latin typeface="Lato"/>
              </a:defRPr>
            </a:pPr>
          </a:p>
          <a:p>
            <a:pPr>
              <a:lnSpc>
                <a:spcPct val="105000"/>
              </a:lnSpc>
              <a:spcBef>
                <a:spcPts val="0"/>
              </a:spcBef>
              <a:spcAft>
                <a:spcPts val="200"/>
              </a:spcAft>
              <a:defRPr sz="1400" b="0">
                <a:solidFill>
                  <a:srgbClr val="FFFFFF"/>
                </a:solidFill>
                <a:latin typeface="Lato"/>
              </a:defRPr>
            </a:pPr>
            <a:r>
              <a:t>02  Do alerts arrive reliably across</a:t>
            </a:r>
          </a:p>
          <a:p>
            <a:pPr>
              <a:lnSpc>
                <a:spcPct val="105000"/>
              </a:lnSpc>
              <a:spcBef>
                <a:spcPts val="0"/>
              </a:spcBef>
              <a:spcAft>
                <a:spcPts val="200"/>
              </a:spcAft>
              <a:defRPr sz="1400" b="0">
                <a:solidFill>
                  <a:srgbClr val="FFFFFF"/>
                </a:solidFill>
                <a:latin typeface="Lato"/>
              </a:defRPr>
            </a:pPr>
            <a:r>
              <a:t>      the actual deployment terrain?</a:t>
            </a:r>
          </a:p>
          <a:p>
            <a:pPr>
              <a:lnSpc>
                <a:spcPct val="105000"/>
              </a:lnSpc>
              <a:spcBef>
                <a:spcPts val="0"/>
              </a:spcBef>
              <a:spcAft>
                <a:spcPts val="200"/>
              </a:spcAft>
              <a:defRPr sz="1400" b="0">
                <a:solidFill>
                  <a:srgbClr val="FFFFFF"/>
                </a:solidFill>
                <a:latin typeface="Lato"/>
              </a:defRPr>
            </a:pPr>
          </a:p>
          <a:p>
            <a:pPr>
              <a:lnSpc>
                <a:spcPct val="105000"/>
              </a:lnSpc>
              <a:spcBef>
                <a:spcPts val="0"/>
              </a:spcBef>
              <a:spcAft>
                <a:spcPts val="200"/>
              </a:spcAft>
              <a:defRPr sz="1400" b="0">
                <a:solidFill>
                  <a:srgbClr val="FFFFFF"/>
                </a:solidFill>
                <a:latin typeface="Lato"/>
              </a:defRPr>
            </a:pPr>
            <a:r>
              <a:t>03  Can users distinguish, trust</a:t>
            </a:r>
          </a:p>
          <a:p>
            <a:pPr>
              <a:lnSpc>
                <a:spcPct val="105000"/>
              </a:lnSpc>
              <a:spcBef>
                <a:spcPts val="0"/>
              </a:spcBef>
              <a:spcAft>
                <a:spcPts val="200"/>
              </a:spcAft>
              <a:defRPr sz="1400" b="0">
                <a:solidFill>
                  <a:srgbClr val="FFFFFF"/>
                </a:solidFill>
                <a:latin typeface="Lato"/>
              </a:defRPr>
            </a:pPr>
            <a:r>
              <a:t>      and act on the warning?</a:t>
            </a:r>
          </a:p>
        </p:txBody>
      </p:sp>
      <p:sp>
        <p:nvSpPr>
          <p:cNvPr id="36" name="TextBox 35"/>
          <p:cNvSpPr txBox="1"/>
          <p:nvPr/>
        </p:nvSpPr>
        <p:spPr>
          <a:xfrm>
            <a:off x="8202168" y="4809744"/>
            <a:ext cx="3282696" cy="411480"/>
          </a:xfrm>
          <a:prstGeom prst="rect">
            <a:avLst/>
          </a:prstGeom>
          <a:noFill/>
        </p:spPr>
        <p:txBody>
          <a:bodyPr wrap="square" lIns="0" rIns="0" tIns="0" bIns="0">
            <a:spAutoFit/>
          </a:bodyPr>
          <a:lstStyle/>
          <a:p>
            <a:pPr>
              <a:lnSpc>
                <a:spcPct val="105000"/>
              </a:lnSpc>
              <a:spcBef>
                <a:spcPts val="0"/>
              </a:spcBef>
              <a:spcAft>
                <a:spcPts val="200"/>
              </a:spcAft>
              <a:defRPr sz="1100" b="0">
                <a:solidFill>
                  <a:srgbClr val="D2DFE0"/>
                </a:solidFill>
                <a:latin typeface="Lato"/>
              </a:defRPr>
            </a:pPr>
            <a:r>
              <a:t>Obsidian brain + Idea_3 PDF</a:t>
            </a:r>
          </a:p>
          <a:p>
            <a:pPr>
              <a:lnSpc>
                <a:spcPct val="105000"/>
              </a:lnSpc>
              <a:spcBef>
                <a:spcPts val="0"/>
              </a:spcBef>
              <a:spcAft>
                <a:spcPts val="200"/>
              </a:spcAft>
              <a:defRPr sz="1100" b="0">
                <a:solidFill>
                  <a:srgbClr val="D2DFE0"/>
                </a:solidFill>
                <a:latin typeface="Lato"/>
              </a:defRPr>
            </a:pPr>
            <a:r>
              <a:t>+ project report informed this deck.</a:t>
            </a:r>
          </a:p>
        </p:txBody>
      </p:sp>
      <p:sp>
        <p:nvSpPr>
          <p:cNvPr id="37" name="TextBox 36"/>
          <p:cNvSpPr txBox="1"/>
          <p:nvPr/>
        </p:nvSpPr>
        <p:spPr>
          <a:xfrm>
            <a:off x="484632" y="5660136"/>
            <a:ext cx="11064240" cy="219456"/>
          </a:xfrm>
          <a:prstGeom prst="rect">
            <a:avLst/>
          </a:prstGeom>
          <a:noFill/>
        </p:spPr>
        <p:txBody>
          <a:bodyPr wrap="square" lIns="0" rIns="0" tIns="0" bIns="0">
            <a:spAutoFit/>
          </a:bodyPr>
          <a:lstStyle/>
          <a:p>
            <a:pPr>
              <a:lnSpc>
                <a:spcPct val="105000"/>
              </a:lnSpc>
              <a:spcBef>
                <a:spcPts val="0"/>
              </a:spcBef>
              <a:spcAft>
                <a:spcPts val="200"/>
              </a:spcAft>
              <a:defRPr sz="1100" b="1">
                <a:solidFill>
                  <a:srgbClr val="287F79"/>
                </a:solidFill>
                <a:latin typeface="Lato"/>
              </a:defRPr>
            </a:pPr>
            <a:r>
              <a:t>REAL IMAGE CREDITS · PEXELS LICENSE</a:t>
            </a:r>
          </a:p>
        </p:txBody>
      </p:sp>
      <p:sp>
        <p:nvSpPr>
          <p:cNvPr id="38" name="TextBox 37"/>
          <p:cNvSpPr txBox="1"/>
          <p:nvPr/>
        </p:nvSpPr>
        <p:spPr>
          <a:xfrm>
            <a:off x="484632" y="5952744"/>
            <a:ext cx="11173968" cy="246888"/>
          </a:xfrm>
          <a:prstGeom prst="rect">
            <a:avLst/>
          </a:prstGeom>
          <a:noFill/>
        </p:spPr>
        <p:txBody>
          <a:bodyPr wrap="square" lIns="0" rIns="0" tIns="0" bIns="0">
            <a:spAutoFit/>
          </a:bodyPr>
          <a:lstStyle/>
          <a:p>
            <a:pPr>
              <a:lnSpc>
                <a:spcPct val="105000"/>
              </a:lnSpc>
              <a:spcBef>
                <a:spcPts val="0"/>
              </a:spcBef>
              <a:spcAft>
                <a:spcPts val="200"/>
              </a:spcAft>
              <a:defRPr sz="1070" b="0">
                <a:solidFill>
                  <a:srgbClr val="5B6C73"/>
                </a:solidFill>
                <a:latin typeface="Lato"/>
              </a:defRPr>
            </a:pPr>
            <a:r>
              <a:t>yajna S R — Mumbai workers  |  Abhishek Gupta — Indian farmer  |  Dibakar Roy — Kolkata flood  |  Seeed Studio — XIAO</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PRAHARI — The Countdown Band | SIH 2026 | Revised</dc:title>
  <dc:subject/>
  <dc:creator>Point Break</dc:creator>
  <cp:keywords/>
  <dc:description/>
  <cp:lastModifiedBy>AICTE</cp:lastModifiedBy>
  <cp:revision>148</cp:revision>
  <dcterms:created xsi:type="dcterms:W3CDTF">2013-12-12T18:46:50Z</dcterms:created>
  <dcterms:modified xsi:type="dcterms:W3CDTF">2026-06-02T09:29:39Z</dcterms:modified>
  <cp:category/>
</cp:coreProperties>
</file>