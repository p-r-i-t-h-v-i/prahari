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Detailed solution: A connected phone downloads official CAP alerts and sends relevant alerts over BLE to a gateway band. That LoRa-equipped band can relay them to nearby bands. Phones alone have no LoRa radio. New external alerts need at least one connected entry point; local body monitoring is intended to continue offline. Proposed originality is the combination of official multi-hazard warning, local relaying, individualized heat-strain forecasting, and a thermal-debt/recovery ledger. Forecast-to-threshold is a research feature, not a validated countdown to collapse. Do not present this as implemented mesh or proven prediction. SACHET confirms CAP-based multi-hazard dissemination and RSS: https://sachet.ndma.gov.in/.</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Methodology: sample sensors on the shared I2C bus; use motion and signal quality to decide whether the physiological estimate is usable; build individual baselines; evaluate trend prediction before presenting a time estimate. Low-quality input must show an unavailable estimate, not reassuring status. Rev B uses MAX30102, MAX30208 and SX1262/Ra-01SH from pcb/README.md and the project report; older breadboard firmware uses SX1278 and an earlier sensor breakout. LoRa relay, TinyML, app, security integration and forecasting are proposed, not demonstrated by the checked-in sensor test firmware. AHT20 measures air temperature and humidity, not solar radiant load; do not call this full measured WBGT. Sources: https://wiki.seeedstudio.com/XIAO_BLE/ ; https://ojs.aaai.org/index.php/AAAI/article/view/18809 ; https://sachet.ndma.gov.in/ . Manufacturer image shows an actual XIAO module, not a completed PRAHARI band.</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Evidence: README.md and Obsidian Projects/PRAHARI.md document live finger heart-rate testing and successful OLED integration. These are bench demonstrations, not clinical or field validation. The latest dated root notes record unresolved SX1278 SPI bring-up and PCB DRC issues (3 errors + 4 unconnected); the older pcb README contains a cleaner historical result. Do not claim the current board is fabrication-ready. A 70 x 40 mm rev B carrier design and BOM exist. The older ₹3,468 number covers selected rev A modules only and is not a finished rev B device price; it was omitted as a headline. The old ~2 km/hop and clinical accuracy values are unverified for this implementation. The next gates are hardware integrity, safe sensor/reference testing, radio delivery and power measurements, then supervised wearability and usability work. Applicable radio settings and permissions must be checked for the chosen region before field operation; no categorical regulatory approval is claimed.</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Potential impact, not demonstrated outcomes. Intended initial audience is outdoor work crews, followed by field responders and remote communities. Simple haptics and icon/status displays can reduce dependence on text literacy and individual phone ownership; validate distinct patterns and comprehension in the user pilot. Crew response still requires training and a local escalation protocol. Economic savings and reduced health harm are not quantified until evaluated. Modular repair and rechargeable power are design intentions; no environmental benefit is quantified. CEEW reports 57% of Indian districts at high to very high heat risk in its 2025 study: https://www.ceew.in/publications/mapping-climate-risks-and-impacts-of-extreme-heatwave-disaster-in-indian-districts . Photo is contextual, not an endorsement or completed trial: https://www.pexels.com/photo/construction-workers-working-on-top-of-a-building-20591230/ .</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Local reference materials: /home/per/Downloads/SIH2026-IDEA-Presentation-Format.pptx; /home/per/Downloads/PRAHARI_SIH2026_Idea_3.pdf; /home/per/Downloads/PRAHARI_Project_Report.pdf; /home/per/Documents/Obsidian/Projects/PRAHARI.md and linked XIAO, LoRa and MAX30102 notes; /home/per/PRAHARI/README.md; /home/per/PRAHARI/pcb/README.md. The supplied template is the base package; all six idea-detail sections are retained and the instruction slide is removed. Research supports motivation and architecture, not achieved PRAHARI performance. No mortality guarantee, regulatory approval, clinical accuracy, competitor claim, field range, or manufactured device cost is asserted. Real stock photography only; the board image is from its manufacturer. No AI image generation used. Photo license: https://www.pexels.com/license/.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PRAHARI aims to bring two early warnings to one wrist: official hazard alerts and personal heat-strain trends. Team name and PS ID/title are taken from PRAHARI_SIH2026_Idea_3.pdf. Team ID was absent from the supplied materials and must be filled before submission. The photograph is a real contextual photograph, not the team or a prototype trial. Photo: yajna S R, https://www.pexels.com/photo/construction-workers-working-on-top-of-a-building-20591230/ (Pexels License).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www.ceew.in/publications/mapping-climate-risks-and-impacts-of-extreme-heatwave-disaster-in-indian-districts" TargetMode="External"/><Relationship Id="rId5" Type="http://schemas.openxmlformats.org/officeDocument/2006/relationships/hyperlink" Target="https://sachet.ndma.gov.in/" TargetMode="External"/><Relationship Id="rId6" Type="http://schemas.openxmlformats.org/officeDocument/2006/relationships/hyperlink" Target="https://ojs.aaai.org/index.php/AAAI/article/view/18809" TargetMode="External"/><Relationship Id="rId7" Type="http://schemas.openxmlformats.org/officeDocument/2006/relationships/hyperlink" Target="https://wiki.seeedstudio.com/XIAO_BLE/" TargetMode="External"/><Relationship Id="rId8" Type="http://schemas.openxmlformats.org/officeDocument/2006/relationships/hyperlink" Target="https://github.com/P-r-i-t-h-v-i/PRAHARI" TargetMode="External"/><Relationship Id="rId9" Type="http://schemas.openxmlformats.org/officeDocument/2006/relationships/hyperlink" Target="https://www.pexels.com/photo/construction-workers-working-on-top-of-a-building-205912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65760" y="292608"/>
            <a:ext cx="1335024" cy="429768"/>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438912" y="425196"/>
            <a:ext cx="1188720" cy="210312"/>
          </a:xfrm>
          <a:prstGeom prst="rect">
            <a:avLst/>
          </a:prstGeom>
          <a:noFill/>
        </p:spPr>
        <p:txBody>
          <a:bodyPr wrap="square" lIns="0" rIns="0" tIns="0" bIns="0">
            <a:spAutoFit/>
          </a:bodyPr>
          <a:lstStyle/>
          <a:p>
            <a:pPr algn="ctr">
              <a:lnSpc>
                <a:spcPct val="105000"/>
              </a:lnSpc>
              <a:spcBef>
                <a:spcPts val="0"/>
              </a:spcBef>
              <a:spcAft>
                <a:spcPts val="200"/>
              </a:spcAft>
              <a:defRPr sz="1000" b="1">
                <a:solidFill>
                  <a:srgbClr val="FFFFFF"/>
                </a:solidFill>
                <a:latin typeface="Lato"/>
              </a:defRPr>
            </a:pPr>
            <a:r>
              <a:t>POINT BREAK</a:t>
            </a:r>
          </a:p>
        </p:txBody>
      </p:sp>
      <p:sp>
        <p:nvSpPr>
          <p:cNvPr id="5" name="TextBox 4"/>
          <p:cNvSpPr txBox="1"/>
          <p:nvPr/>
        </p:nvSpPr>
        <p:spPr>
          <a:xfrm>
            <a:off x="1874519" y="347472"/>
            <a:ext cx="7863840" cy="457200"/>
          </a:xfrm>
          <a:prstGeom prst="rect">
            <a:avLst/>
          </a:prstGeom>
          <a:noFill/>
        </p:spPr>
        <p:txBody>
          <a:bodyPr wrap="square" lIns="0" rIns="0" tIns="0" bIns="0">
            <a:spAutoFit/>
          </a:bodyPr>
          <a:lstStyle/>
          <a:p>
            <a:pPr algn="ctr">
              <a:lnSpc>
                <a:spcPct val="105000"/>
              </a:lnSpc>
              <a:spcBef>
                <a:spcPts val="0"/>
              </a:spcBef>
              <a:spcAft>
                <a:spcPts val="200"/>
              </a:spcAft>
              <a:defRPr sz="2300" b="1">
                <a:solidFill>
                  <a:srgbClr val="152C3B"/>
                </a:solidFill>
                <a:latin typeface="Lato"/>
              </a:defRPr>
            </a:pPr>
            <a:r>
              <a:t>SMART INDIA HACKATHON 2026</a:t>
            </a:r>
          </a:p>
        </p:txBody>
      </p:sp>
      <p:pic>
        <p:nvPicPr>
          <p:cNvPr id="6" name="Picture 5" descr="image.png"/>
          <p:cNvPicPr>
            <a:picLocks noChangeAspect="1"/>
          </p:cNvPicPr>
          <p:nvPr/>
        </p:nvPicPr>
        <p:blipFill>
          <a:blip r:embed="rId3"/>
          <a:stretch>
            <a:fillRect/>
          </a:stretch>
        </p:blipFill>
        <p:spPr>
          <a:xfrm>
            <a:off x="10125030" y="155448"/>
            <a:ext cx="1549235" cy="731520"/>
          </a:xfrm>
          <a:prstGeom prst="rect">
            <a:avLst/>
          </a:prstGeom>
        </p:spPr>
      </p:pic>
      <p:sp>
        <p:nvSpPr>
          <p:cNvPr id="7" name="Rectangle 6"/>
          <p:cNvSpPr/>
          <p:nvPr/>
        </p:nvSpPr>
        <p:spPr>
          <a:xfrm>
            <a:off x="365760" y="1024128"/>
            <a:ext cx="11430000"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0" y="6355080"/>
            <a:ext cx="12191695" cy="5029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11480" y="6510528"/>
            <a:ext cx="2743200" cy="182880"/>
          </a:xfrm>
          <a:prstGeom prst="rect">
            <a:avLst/>
          </a:prstGeom>
          <a:noFill/>
        </p:spPr>
        <p:txBody>
          <a:bodyPr wrap="square" lIns="0" rIns="0" tIns="0" bIns="0">
            <a:spAutoFit/>
          </a:bodyPr>
          <a:lstStyle/>
          <a:p>
            <a:pPr>
              <a:lnSpc>
                <a:spcPct val="105000"/>
              </a:lnSpc>
              <a:spcBef>
                <a:spcPts val="0"/>
              </a:spcBef>
              <a:spcAft>
                <a:spcPts val="200"/>
              </a:spcAft>
              <a:defRPr sz="900" b="1">
                <a:solidFill>
                  <a:srgbClr val="FFFFFF"/>
                </a:solidFill>
                <a:latin typeface="Lato"/>
              </a:defRPr>
            </a:pPr>
            <a:r>
              <a:t>PRAHARI  /  POINT BREAK</a:t>
            </a:r>
          </a:p>
        </p:txBody>
      </p:sp>
      <p:sp>
        <p:nvSpPr>
          <p:cNvPr id="10" name="TextBox 9"/>
          <p:cNvSpPr txBox="1"/>
          <p:nvPr/>
        </p:nvSpPr>
        <p:spPr>
          <a:xfrm>
            <a:off x="4389120" y="6510528"/>
            <a:ext cx="3749039" cy="182880"/>
          </a:xfrm>
          <a:prstGeom prst="rect">
            <a:avLst/>
          </a:prstGeom>
          <a:noFill/>
        </p:spPr>
        <p:txBody>
          <a:bodyPr wrap="square" lIns="0" rIns="0" tIns="0" bIns="0">
            <a:spAutoFit/>
          </a:bodyPr>
          <a:lstStyle/>
          <a:p>
            <a:pPr algn="ctr">
              <a:lnSpc>
                <a:spcPct val="105000"/>
              </a:lnSpc>
              <a:spcBef>
                <a:spcPts val="0"/>
              </a:spcBef>
              <a:spcAft>
                <a:spcPts val="200"/>
              </a:spcAft>
              <a:defRPr sz="900" b="0">
                <a:solidFill>
                  <a:srgbClr val="CFD9DB"/>
                </a:solidFill>
                <a:latin typeface="Lato"/>
              </a:defRPr>
            </a:pPr>
            <a:r>
              <a:t>@SIH Idea submission- Template</a:t>
            </a:r>
          </a:p>
        </p:txBody>
      </p:sp>
      <p:sp>
        <p:nvSpPr>
          <p:cNvPr id="11" name="TextBox 10"/>
          <p:cNvSpPr txBox="1"/>
          <p:nvPr/>
        </p:nvSpPr>
        <p:spPr>
          <a:xfrm>
            <a:off x="10652760" y="6492240"/>
            <a:ext cx="1051560" cy="210312"/>
          </a:xfrm>
          <a:prstGeom prst="rect">
            <a:avLst/>
          </a:prstGeom>
          <a:noFill/>
        </p:spPr>
        <p:txBody>
          <a:bodyPr wrap="square" lIns="0" rIns="0" tIns="0" bIns="0">
            <a:spAutoFit/>
          </a:bodyPr>
          <a:lstStyle/>
          <a:p>
            <a:pPr algn="r">
              <a:lnSpc>
                <a:spcPct val="105000"/>
              </a:lnSpc>
              <a:spcBef>
                <a:spcPts val="0"/>
              </a:spcBef>
              <a:spcAft>
                <a:spcPts val="200"/>
              </a:spcAft>
              <a:defRPr sz="1000" b="1">
                <a:solidFill>
                  <a:srgbClr val="FFFFFF"/>
                </a:solidFill>
                <a:latin typeface="Lato"/>
              </a:defRPr>
            </a:pPr>
            <a:r>
              <a:t>01 / 06</a:t>
            </a:r>
          </a:p>
        </p:txBody>
      </p:sp>
      <p:sp>
        <p:nvSpPr>
          <p:cNvPr id="12" name="Rounded Rectangle 11"/>
          <p:cNvSpPr/>
          <p:nvPr/>
        </p:nvSpPr>
        <p:spPr>
          <a:xfrm>
            <a:off x="411480" y="1261872"/>
            <a:ext cx="6565392" cy="2176272"/>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58368" y="1389888"/>
            <a:ext cx="6035040" cy="859536"/>
          </a:xfrm>
          <a:prstGeom prst="rect">
            <a:avLst/>
          </a:prstGeom>
          <a:noFill/>
        </p:spPr>
        <p:txBody>
          <a:bodyPr wrap="square" lIns="0" rIns="0" tIns="0" bIns="0">
            <a:spAutoFit/>
          </a:bodyPr>
          <a:lstStyle/>
          <a:p>
            <a:pPr>
              <a:lnSpc>
                <a:spcPct val="105000"/>
              </a:lnSpc>
              <a:spcBef>
                <a:spcPts val="0"/>
              </a:spcBef>
              <a:spcAft>
                <a:spcPts val="200"/>
              </a:spcAft>
              <a:defRPr sz="5700" b="1">
                <a:solidFill>
                  <a:srgbClr val="FFFFFF"/>
                </a:solidFill>
                <a:latin typeface="Lato"/>
              </a:defRPr>
            </a:pPr>
            <a:r>
              <a:t>PRAHARI</a:t>
            </a:r>
          </a:p>
        </p:txBody>
      </p:sp>
      <p:sp>
        <p:nvSpPr>
          <p:cNvPr id="14" name="TextBox 13"/>
          <p:cNvSpPr txBox="1"/>
          <p:nvPr/>
        </p:nvSpPr>
        <p:spPr>
          <a:xfrm>
            <a:off x="694944" y="2313432"/>
            <a:ext cx="5715000" cy="365760"/>
          </a:xfrm>
          <a:prstGeom prst="rect">
            <a:avLst/>
          </a:prstGeom>
          <a:noFill/>
        </p:spPr>
        <p:txBody>
          <a:bodyPr wrap="square" lIns="0" rIns="0" tIns="0" bIns="0">
            <a:spAutoFit/>
          </a:bodyPr>
          <a:lstStyle/>
          <a:p>
            <a:pPr>
              <a:lnSpc>
                <a:spcPct val="105000"/>
              </a:lnSpc>
              <a:spcBef>
                <a:spcPts val="0"/>
              </a:spcBef>
              <a:spcAft>
                <a:spcPts val="200"/>
              </a:spcAft>
              <a:defRPr sz="1900" b="1">
                <a:solidFill>
                  <a:srgbClr val="E5AE48"/>
                </a:solidFill>
                <a:latin typeface="Lato"/>
              </a:defRPr>
            </a:pPr>
            <a:r>
              <a:t>THE COUNTDOWN BAND</a:t>
            </a:r>
          </a:p>
        </p:txBody>
      </p:sp>
      <p:sp>
        <p:nvSpPr>
          <p:cNvPr id="15" name="TextBox 14"/>
          <p:cNvSpPr txBox="1"/>
          <p:nvPr/>
        </p:nvSpPr>
        <p:spPr>
          <a:xfrm>
            <a:off x="694944" y="2761488"/>
            <a:ext cx="5806440" cy="557784"/>
          </a:xfrm>
          <a:prstGeom prst="rect">
            <a:avLst/>
          </a:prstGeom>
          <a:noFill/>
        </p:spPr>
        <p:txBody>
          <a:bodyPr wrap="square" lIns="0" rIns="0" tIns="0" bIns="0">
            <a:spAutoFit/>
          </a:bodyPr>
          <a:lstStyle/>
          <a:p>
            <a:pPr>
              <a:lnSpc>
                <a:spcPct val="105000"/>
              </a:lnSpc>
              <a:spcBef>
                <a:spcPts val="0"/>
              </a:spcBef>
              <a:spcAft>
                <a:spcPts val="200"/>
              </a:spcAft>
              <a:defRPr sz="1900" b="0">
                <a:solidFill>
                  <a:srgbClr val="FFFFFF"/>
                </a:solidFill>
                <a:latin typeface="Lato"/>
              </a:defRPr>
            </a:pPr>
            <a:r>
              <a:t>The hazard outside. The strain inside.</a:t>
            </a:r>
          </a:p>
          <a:p>
            <a:pPr>
              <a:lnSpc>
                <a:spcPct val="105000"/>
              </a:lnSpc>
              <a:spcBef>
                <a:spcPts val="0"/>
              </a:spcBef>
              <a:spcAft>
                <a:spcPts val="200"/>
              </a:spcAft>
              <a:defRPr sz="1900" b="0">
                <a:solidFill>
                  <a:srgbClr val="FFFFFF"/>
                </a:solidFill>
                <a:latin typeface="Lato"/>
              </a:defRPr>
            </a:pPr>
            <a:r>
              <a:t>One warning on your wrist.</a:t>
            </a:r>
          </a:p>
        </p:txBody>
      </p:sp>
      <p:pic>
        <p:nvPicPr>
          <p:cNvPr id="16" name="Picture 15" descr="workers_mumbai.jpg"/>
          <p:cNvPicPr>
            <a:picLocks noChangeAspect="1"/>
          </p:cNvPicPr>
          <p:nvPr/>
        </p:nvPicPr>
        <p:blipFill>
          <a:blip r:embed="rId4"/>
          <a:srcRect l="11815" r="11815"/>
          <a:stretch>
            <a:fillRect/>
          </a:stretch>
        </p:blipFill>
        <p:spPr>
          <a:xfrm>
            <a:off x="7187184" y="1261872"/>
            <a:ext cx="4590288" cy="4507992"/>
          </a:xfrm>
          <a:prstGeom prst="rect">
            <a:avLst/>
          </a:prstGeom>
        </p:spPr>
      </p:pic>
      <p:sp>
        <p:nvSpPr>
          <p:cNvPr id="17" name="Rectangle 16"/>
          <p:cNvSpPr/>
          <p:nvPr/>
        </p:nvSpPr>
        <p:spPr>
          <a:xfrm>
            <a:off x="7187184" y="4892040"/>
            <a:ext cx="4590288" cy="877824"/>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406640" y="5020056"/>
            <a:ext cx="4160520" cy="621792"/>
          </a:xfrm>
          <a:prstGeom prst="rect">
            <a:avLst/>
          </a:prstGeom>
          <a:noFill/>
        </p:spPr>
        <p:txBody>
          <a:bodyPr wrap="square" lIns="0" rIns="0" tIns="0" bIns="0">
            <a:spAutoFit/>
          </a:bodyPr>
          <a:lstStyle/>
          <a:p>
            <a:pPr>
              <a:lnSpc>
                <a:spcPct val="105000"/>
              </a:lnSpc>
              <a:spcBef>
                <a:spcPts val="0"/>
              </a:spcBef>
              <a:spcAft>
                <a:spcPts val="200"/>
              </a:spcAft>
              <a:defRPr sz="2000" b="1">
                <a:solidFill>
                  <a:srgbClr val="FFFFFF"/>
                </a:solidFill>
                <a:latin typeface="Lato"/>
              </a:defRPr>
            </a:pPr>
            <a:r>
              <a:t>Built for people</a:t>
            </a:r>
          </a:p>
          <a:p>
            <a:pPr>
              <a:lnSpc>
                <a:spcPct val="105000"/>
              </a:lnSpc>
              <a:spcBef>
                <a:spcPts val="0"/>
              </a:spcBef>
              <a:spcAft>
                <a:spcPts val="200"/>
              </a:spcAft>
              <a:defRPr sz="2000" b="1">
                <a:solidFill>
                  <a:srgbClr val="FFFFFF"/>
                </a:solidFill>
                <a:latin typeface="Lato"/>
              </a:defRPr>
            </a:pPr>
            <a:r>
              <a:t>working beyond the last signal.</a:t>
            </a:r>
          </a:p>
        </p:txBody>
      </p:sp>
      <p:sp>
        <p:nvSpPr>
          <p:cNvPr id="19" name="TextBox 18"/>
          <p:cNvSpPr txBox="1"/>
          <p:nvPr/>
        </p:nvSpPr>
        <p:spPr>
          <a:xfrm>
            <a:off x="7223760" y="5861304"/>
            <a:ext cx="4526280" cy="201168"/>
          </a:xfrm>
          <a:prstGeom prst="rect">
            <a:avLst/>
          </a:prstGeom>
          <a:noFill/>
        </p:spPr>
        <p:txBody>
          <a:bodyPr wrap="square" lIns="0" rIns="0" tIns="0" bIns="0">
            <a:spAutoFit/>
          </a:bodyPr>
          <a:lstStyle/>
          <a:p>
            <a:pPr>
              <a:lnSpc>
                <a:spcPct val="105000"/>
              </a:lnSpc>
              <a:spcBef>
                <a:spcPts val="0"/>
              </a:spcBef>
              <a:spcAft>
                <a:spcPts val="200"/>
              </a:spcAft>
              <a:defRPr sz="900" b="0">
                <a:solidFill>
                  <a:srgbClr val="5B6C73"/>
                </a:solidFill>
                <a:latin typeface="Lato"/>
              </a:defRPr>
            </a:pPr>
            <a:r>
              <a:t>Photo: yajna S R / Pexels · Mumbai, India</a:t>
            </a:r>
          </a:p>
        </p:txBody>
      </p:sp>
      <p:sp>
        <p:nvSpPr>
          <p:cNvPr id="20" name="Rounded Rectangle 19"/>
          <p:cNvSpPr/>
          <p:nvPr/>
        </p:nvSpPr>
        <p:spPr>
          <a:xfrm>
            <a:off x="448056" y="3639312"/>
            <a:ext cx="2898648" cy="274320"/>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21207" y="3685032"/>
            <a:ext cx="2752344" cy="201168"/>
          </a:xfrm>
          <a:prstGeom prst="rect">
            <a:avLst/>
          </a:prstGeom>
          <a:noFill/>
        </p:spPr>
        <p:txBody>
          <a:bodyPr wrap="square" lIns="0" rIns="0" tIns="0" bIns="0">
            <a:spAutoFit/>
          </a:bodyPr>
          <a:lstStyle/>
          <a:p>
            <a:pPr>
              <a:lnSpc>
                <a:spcPct val="105000"/>
              </a:lnSpc>
              <a:spcBef>
                <a:spcPts val="0"/>
              </a:spcBef>
              <a:spcAft>
                <a:spcPts val="200"/>
              </a:spcAft>
              <a:defRPr sz="900" b="1">
                <a:solidFill>
                  <a:srgbClr val="FFFFFF"/>
                </a:solidFill>
                <a:latin typeface="Lato"/>
              </a:defRPr>
            </a:pPr>
            <a:r>
              <a:t>PROBLEM STATEMENT ID  26181</a:t>
            </a:r>
          </a:p>
        </p:txBody>
      </p:sp>
      <p:sp>
        <p:nvSpPr>
          <p:cNvPr id="22" name="TextBox 21"/>
          <p:cNvSpPr txBox="1"/>
          <p:nvPr/>
        </p:nvSpPr>
        <p:spPr>
          <a:xfrm>
            <a:off x="457200" y="4050791"/>
            <a:ext cx="6217920" cy="201168"/>
          </a:xfrm>
          <a:prstGeom prst="rect">
            <a:avLst/>
          </a:prstGeom>
          <a:noFill/>
        </p:spPr>
        <p:txBody>
          <a:bodyPr wrap="square" lIns="0" rIns="0" tIns="0" bIns="0">
            <a:spAutoFit/>
          </a:bodyPr>
          <a:lstStyle/>
          <a:p>
            <a:pPr>
              <a:lnSpc>
                <a:spcPct val="105000"/>
              </a:lnSpc>
              <a:spcBef>
                <a:spcPts val="0"/>
              </a:spcBef>
              <a:spcAft>
                <a:spcPts val="200"/>
              </a:spcAft>
              <a:defRPr sz="1000" b="1">
                <a:solidFill>
                  <a:srgbClr val="287F79"/>
                </a:solidFill>
                <a:latin typeface="Lato"/>
              </a:defRPr>
            </a:pPr>
            <a:r>
              <a:t>PROBLEM STATEMENT TITLE</a:t>
            </a:r>
          </a:p>
        </p:txBody>
      </p:sp>
      <p:sp>
        <p:nvSpPr>
          <p:cNvPr id="23" name="TextBox 22"/>
          <p:cNvSpPr txBox="1"/>
          <p:nvPr/>
        </p:nvSpPr>
        <p:spPr>
          <a:xfrm>
            <a:off x="457200" y="4361688"/>
            <a:ext cx="6400800" cy="1271016"/>
          </a:xfrm>
          <a:prstGeom prst="rect">
            <a:avLst/>
          </a:prstGeom>
          <a:noFill/>
        </p:spPr>
        <p:txBody>
          <a:bodyPr wrap="square" lIns="0" rIns="0" tIns="0" bIns="0">
            <a:spAutoFit/>
          </a:bodyPr>
          <a:lstStyle/>
          <a:p>
            <a:pPr>
              <a:lnSpc>
                <a:spcPct val="105000"/>
              </a:lnSpc>
              <a:spcBef>
                <a:spcPts val="0"/>
              </a:spcBef>
              <a:spcAft>
                <a:spcPts val="200"/>
              </a:spcAft>
              <a:defRPr sz="1320" b="0">
                <a:solidFill>
                  <a:srgbClr val="152C3B"/>
                </a:solidFill>
                <a:latin typeface="Lato"/>
              </a:defRPr>
            </a:pPr>
            <a:r>
              <a:t>A secure, AI-powered Personal Health Companion that delivers real-time, privacy-preserving health monitoring and early warning capabilities, helping individuals recognize health risks before they become emergencies. The solution should improve resilience during heat waves, floods, pollution events, and other disasters common in India while enabling continuous health support through on-device intelligence.</a:t>
            </a:r>
          </a:p>
        </p:txBody>
      </p:sp>
      <p:sp>
        <p:nvSpPr>
          <p:cNvPr id="24" name="Rectangle 23"/>
          <p:cNvSpPr/>
          <p:nvPr/>
        </p:nvSpPr>
        <p:spPr>
          <a:xfrm>
            <a:off x="457200" y="5614416"/>
            <a:ext cx="6400800"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7200" y="5742432"/>
            <a:ext cx="3200400" cy="173736"/>
          </a:xfrm>
          <a:prstGeom prst="rect">
            <a:avLst/>
          </a:prstGeom>
          <a:noFill/>
        </p:spPr>
        <p:txBody>
          <a:bodyPr wrap="square" lIns="0" rIns="0" tIns="0" bIns="0">
            <a:spAutoFit/>
          </a:bodyPr>
          <a:lstStyle/>
          <a:p>
            <a:pPr>
              <a:lnSpc>
                <a:spcPct val="105000"/>
              </a:lnSpc>
              <a:spcBef>
                <a:spcPts val="0"/>
              </a:spcBef>
              <a:spcAft>
                <a:spcPts val="200"/>
              </a:spcAft>
              <a:defRPr sz="900" b="1">
                <a:solidFill>
                  <a:srgbClr val="287F79"/>
                </a:solidFill>
                <a:latin typeface="Lato"/>
              </a:defRPr>
            </a:pPr>
            <a:r>
              <a:t>THEME</a:t>
            </a:r>
          </a:p>
        </p:txBody>
      </p:sp>
      <p:sp>
        <p:nvSpPr>
          <p:cNvPr id="26" name="TextBox 25"/>
          <p:cNvSpPr txBox="1"/>
          <p:nvPr/>
        </p:nvSpPr>
        <p:spPr>
          <a:xfrm>
            <a:off x="457200" y="5934456"/>
            <a:ext cx="3474720" cy="210312"/>
          </a:xfrm>
          <a:prstGeom prst="rect">
            <a:avLst/>
          </a:prstGeom>
          <a:noFill/>
        </p:spPr>
        <p:txBody>
          <a:bodyPr wrap="square" lIns="0" rIns="0" tIns="0" bIns="0">
            <a:spAutoFit/>
          </a:bodyPr>
          <a:lstStyle/>
          <a:p>
            <a:pPr>
              <a:lnSpc>
                <a:spcPct val="105000"/>
              </a:lnSpc>
              <a:spcBef>
                <a:spcPts val="0"/>
              </a:spcBef>
              <a:spcAft>
                <a:spcPts val="200"/>
              </a:spcAft>
              <a:defRPr sz="1200" b="1">
                <a:solidFill>
                  <a:srgbClr val="152C3B"/>
                </a:solidFill>
                <a:latin typeface="Lato"/>
              </a:defRPr>
            </a:pPr>
            <a:r>
              <a:t>MedTech / BioTech / HealthTech</a:t>
            </a:r>
          </a:p>
        </p:txBody>
      </p:sp>
      <p:sp>
        <p:nvSpPr>
          <p:cNvPr id="27" name="TextBox 26"/>
          <p:cNvSpPr txBox="1"/>
          <p:nvPr/>
        </p:nvSpPr>
        <p:spPr>
          <a:xfrm>
            <a:off x="4096512" y="5742432"/>
            <a:ext cx="1143000" cy="173736"/>
          </a:xfrm>
          <a:prstGeom prst="rect">
            <a:avLst/>
          </a:prstGeom>
          <a:noFill/>
        </p:spPr>
        <p:txBody>
          <a:bodyPr wrap="square" lIns="0" rIns="0" tIns="0" bIns="0">
            <a:spAutoFit/>
          </a:bodyPr>
          <a:lstStyle/>
          <a:p>
            <a:pPr>
              <a:lnSpc>
                <a:spcPct val="105000"/>
              </a:lnSpc>
              <a:spcBef>
                <a:spcPts val="0"/>
              </a:spcBef>
              <a:spcAft>
                <a:spcPts val="200"/>
              </a:spcAft>
              <a:defRPr sz="900" b="1">
                <a:solidFill>
                  <a:srgbClr val="287F79"/>
                </a:solidFill>
                <a:latin typeface="Lato"/>
              </a:defRPr>
            </a:pPr>
            <a:r>
              <a:t>PS CATEGORY</a:t>
            </a:r>
          </a:p>
        </p:txBody>
      </p:sp>
      <p:sp>
        <p:nvSpPr>
          <p:cNvPr id="28" name="TextBox 27"/>
          <p:cNvSpPr txBox="1"/>
          <p:nvPr/>
        </p:nvSpPr>
        <p:spPr>
          <a:xfrm>
            <a:off x="4096512" y="5934456"/>
            <a:ext cx="1097280" cy="210312"/>
          </a:xfrm>
          <a:prstGeom prst="rect">
            <a:avLst/>
          </a:prstGeom>
          <a:noFill/>
        </p:spPr>
        <p:txBody>
          <a:bodyPr wrap="square" lIns="0" rIns="0" tIns="0" bIns="0">
            <a:spAutoFit/>
          </a:bodyPr>
          <a:lstStyle/>
          <a:p>
            <a:pPr>
              <a:lnSpc>
                <a:spcPct val="105000"/>
              </a:lnSpc>
              <a:spcBef>
                <a:spcPts val="0"/>
              </a:spcBef>
              <a:spcAft>
                <a:spcPts val="200"/>
              </a:spcAft>
              <a:defRPr sz="1200" b="1">
                <a:solidFill>
                  <a:srgbClr val="152C3B"/>
                </a:solidFill>
                <a:latin typeface="Lato"/>
              </a:defRPr>
            </a:pPr>
            <a:r>
              <a:t>Hardware</a:t>
            </a:r>
          </a:p>
        </p:txBody>
      </p:sp>
      <p:sp>
        <p:nvSpPr>
          <p:cNvPr id="29" name="TextBox 28"/>
          <p:cNvSpPr txBox="1"/>
          <p:nvPr/>
        </p:nvSpPr>
        <p:spPr>
          <a:xfrm>
            <a:off x="5486400" y="5742432"/>
            <a:ext cx="1371600" cy="173736"/>
          </a:xfrm>
          <a:prstGeom prst="rect">
            <a:avLst/>
          </a:prstGeom>
          <a:noFill/>
        </p:spPr>
        <p:txBody>
          <a:bodyPr wrap="square" lIns="0" rIns="0" tIns="0" bIns="0">
            <a:spAutoFit/>
          </a:bodyPr>
          <a:lstStyle/>
          <a:p>
            <a:pPr>
              <a:lnSpc>
                <a:spcPct val="105000"/>
              </a:lnSpc>
              <a:spcBef>
                <a:spcPts val="0"/>
              </a:spcBef>
              <a:spcAft>
                <a:spcPts val="200"/>
              </a:spcAft>
              <a:defRPr sz="900" b="1">
                <a:solidFill>
                  <a:srgbClr val="287F79"/>
                </a:solidFill>
                <a:latin typeface="Lato"/>
              </a:defRPr>
            </a:pPr>
            <a:r>
              <a:t>TEAM ID</a:t>
            </a:r>
          </a:p>
        </p:txBody>
      </p:sp>
      <p:sp>
        <p:nvSpPr>
          <p:cNvPr id="30" name="TextBox 29"/>
          <p:cNvSpPr txBox="1"/>
          <p:nvPr/>
        </p:nvSpPr>
        <p:spPr>
          <a:xfrm>
            <a:off x="5486400" y="5934456"/>
            <a:ext cx="1417320" cy="210312"/>
          </a:xfrm>
          <a:prstGeom prst="rect">
            <a:avLst/>
          </a:prstGeom>
          <a:noFill/>
        </p:spPr>
        <p:txBody>
          <a:bodyPr wrap="square" lIns="0" rIns="0" tIns="0" bIns="0">
            <a:spAutoFit/>
          </a:bodyPr>
          <a:lstStyle/>
          <a:p>
            <a:pPr>
              <a:lnSpc>
                <a:spcPct val="105000"/>
              </a:lnSpc>
              <a:spcBef>
                <a:spcPts val="0"/>
              </a:spcBef>
              <a:spcAft>
                <a:spcPts val="200"/>
              </a:spcAft>
              <a:defRPr sz="1100" b="1">
                <a:solidFill>
                  <a:srgbClr val="152C3B"/>
                </a:solidFill>
                <a:latin typeface="Lato"/>
              </a:defRPr>
            </a:pPr>
            <a:r>
              <a:t>To be provided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65760" y="292608"/>
            <a:ext cx="1335024" cy="429768"/>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438912" y="425196"/>
            <a:ext cx="1188720" cy="210312"/>
          </a:xfrm>
          <a:prstGeom prst="rect">
            <a:avLst/>
          </a:prstGeom>
          <a:noFill/>
        </p:spPr>
        <p:txBody>
          <a:bodyPr wrap="square" lIns="0" rIns="0" tIns="0" bIns="0">
            <a:spAutoFit/>
          </a:bodyPr>
          <a:lstStyle/>
          <a:p>
            <a:pPr algn="ctr">
              <a:lnSpc>
                <a:spcPct val="105000"/>
              </a:lnSpc>
              <a:spcBef>
                <a:spcPts val="0"/>
              </a:spcBef>
              <a:spcAft>
                <a:spcPts val="200"/>
              </a:spcAft>
              <a:defRPr sz="1000" b="1">
                <a:solidFill>
                  <a:srgbClr val="FFFFFF"/>
                </a:solidFill>
                <a:latin typeface="Lato"/>
              </a:defRPr>
            </a:pPr>
            <a:r>
              <a:t>POINT BREAK</a:t>
            </a:r>
          </a:p>
        </p:txBody>
      </p:sp>
      <p:sp>
        <p:nvSpPr>
          <p:cNvPr id="5" name="TextBox 4"/>
          <p:cNvSpPr txBox="1"/>
          <p:nvPr/>
        </p:nvSpPr>
        <p:spPr>
          <a:xfrm>
            <a:off x="1874519" y="347472"/>
            <a:ext cx="7863840" cy="457200"/>
          </a:xfrm>
          <a:prstGeom prst="rect">
            <a:avLst/>
          </a:prstGeom>
          <a:noFill/>
        </p:spPr>
        <p:txBody>
          <a:bodyPr wrap="square" lIns="0" rIns="0" tIns="0" bIns="0">
            <a:spAutoFit/>
          </a:bodyPr>
          <a:lstStyle/>
          <a:p>
            <a:pPr algn="ctr">
              <a:lnSpc>
                <a:spcPct val="105000"/>
              </a:lnSpc>
              <a:spcBef>
                <a:spcPts val="0"/>
              </a:spcBef>
              <a:spcAft>
                <a:spcPts val="200"/>
              </a:spcAft>
              <a:defRPr sz="2300" b="1">
                <a:solidFill>
                  <a:srgbClr val="152C3B"/>
                </a:solidFill>
                <a:latin typeface="Lato"/>
              </a:defRPr>
            </a:pPr>
            <a:r>
              <a:t>IDEA TITLE</a:t>
            </a:r>
          </a:p>
        </p:txBody>
      </p:sp>
      <p:pic>
        <p:nvPicPr>
          <p:cNvPr id="6" name="Picture 5" descr="image.png"/>
          <p:cNvPicPr>
            <a:picLocks noChangeAspect="1"/>
          </p:cNvPicPr>
          <p:nvPr/>
        </p:nvPicPr>
        <p:blipFill>
          <a:blip r:embed="rId3"/>
          <a:stretch>
            <a:fillRect/>
          </a:stretch>
        </p:blipFill>
        <p:spPr>
          <a:xfrm>
            <a:off x="10125030" y="155448"/>
            <a:ext cx="1549235" cy="731520"/>
          </a:xfrm>
          <a:prstGeom prst="rect">
            <a:avLst/>
          </a:prstGeom>
        </p:spPr>
      </p:pic>
      <p:sp>
        <p:nvSpPr>
          <p:cNvPr id="7" name="Rectangle 6"/>
          <p:cNvSpPr/>
          <p:nvPr/>
        </p:nvSpPr>
        <p:spPr>
          <a:xfrm>
            <a:off x="365760" y="1024128"/>
            <a:ext cx="11430000"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0" y="6355080"/>
            <a:ext cx="12191695" cy="5029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11480" y="6510528"/>
            <a:ext cx="2743200" cy="182880"/>
          </a:xfrm>
          <a:prstGeom prst="rect">
            <a:avLst/>
          </a:prstGeom>
          <a:noFill/>
        </p:spPr>
        <p:txBody>
          <a:bodyPr wrap="square" lIns="0" rIns="0" tIns="0" bIns="0">
            <a:spAutoFit/>
          </a:bodyPr>
          <a:lstStyle/>
          <a:p>
            <a:pPr>
              <a:lnSpc>
                <a:spcPct val="105000"/>
              </a:lnSpc>
              <a:spcBef>
                <a:spcPts val="0"/>
              </a:spcBef>
              <a:spcAft>
                <a:spcPts val="200"/>
              </a:spcAft>
              <a:defRPr sz="900" b="1">
                <a:solidFill>
                  <a:srgbClr val="FFFFFF"/>
                </a:solidFill>
                <a:latin typeface="Lato"/>
              </a:defRPr>
            </a:pPr>
            <a:r>
              <a:t>PRAHARI  /  POINT BREAK</a:t>
            </a:r>
          </a:p>
        </p:txBody>
      </p:sp>
      <p:sp>
        <p:nvSpPr>
          <p:cNvPr id="10" name="TextBox 9"/>
          <p:cNvSpPr txBox="1"/>
          <p:nvPr/>
        </p:nvSpPr>
        <p:spPr>
          <a:xfrm>
            <a:off x="4389120" y="6510528"/>
            <a:ext cx="3749039" cy="182880"/>
          </a:xfrm>
          <a:prstGeom prst="rect">
            <a:avLst/>
          </a:prstGeom>
          <a:noFill/>
        </p:spPr>
        <p:txBody>
          <a:bodyPr wrap="square" lIns="0" rIns="0" tIns="0" bIns="0">
            <a:spAutoFit/>
          </a:bodyPr>
          <a:lstStyle/>
          <a:p>
            <a:pPr algn="ctr">
              <a:lnSpc>
                <a:spcPct val="105000"/>
              </a:lnSpc>
              <a:spcBef>
                <a:spcPts val="0"/>
              </a:spcBef>
              <a:spcAft>
                <a:spcPts val="200"/>
              </a:spcAft>
              <a:defRPr sz="900" b="0">
                <a:solidFill>
                  <a:srgbClr val="CFD9DB"/>
                </a:solidFill>
                <a:latin typeface="Lato"/>
              </a:defRPr>
            </a:pPr>
            <a:r>
              <a:t>@SIH Idea submission- Template</a:t>
            </a:r>
          </a:p>
        </p:txBody>
      </p:sp>
      <p:sp>
        <p:nvSpPr>
          <p:cNvPr id="11" name="TextBox 10"/>
          <p:cNvSpPr txBox="1"/>
          <p:nvPr/>
        </p:nvSpPr>
        <p:spPr>
          <a:xfrm>
            <a:off x="10652760" y="6492240"/>
            <a:ext cx="1051560" cy="210312"/>
          </a:xfrm>
          <a:prstGeom prst="rect">
            <a:avLst/>
          </a:prstGeom>
          <a:noFill/>
        </p:spPr>
        <p:txBody>
          <a:bodyPr wrap="square" lIns="0" rIns="0" tIns="0" bIns="0">
            <a:spAutoFit/>
          </a:bodyPr>
          <a:lstStyle/>
          <a:p>
            <a:pPr algn="r">
              <a:lnSpc>
                <a:spcPct val="105000"/>
              </a:lnSpc>
              <a:spcBef>
                <a:spcPts val="0"/>
              </a:spcBef>
              <a:spcAft>
                <a:spcPts val="200"/>
              </a:spcAft>
              <a:defRPr sz="1000" b="1">
                <a:solidFill>
                  <a:srgbClr val="FFFFFF"/>
                </a:solidFill>
                <a:latin typeface="Lato"/>
              </a:defRPr>
            </a:pPr>
            <a:r>
              <a:t>02 / 06</a:t>
            </a:r>
          </a:p>
        </p:txBody>
      </p:sp>
      <p:sp>
        <p:nvSpPr>
          <p:cNvPr id="12" name="TextBox 11"/>
          <p:cNvSpPr txBox="1"/>
          <p:nvPr/>
        </p:nvSpPr>
        <p:spPr>
          <a:xfrm>
            <a:off x="448056" y="1252728"/>
            <a:ext cx="11155680" cy="457200"/>
          </a:xfrm>
          <a:prstGeom prst="rect">
            <a:avLst/>
          </a:prstGeom>
          <a:noFill/>
        </p:spPr>
        <p:txBody>
          <a:bodyPr wrap="square" lIns="0" rIns="0" tIns="0" bIns="0">
            <a:spAutoFit/>
          </a:bodyPr>
          <a:lstStyle/>
          <a:p>
            <a:pPr>
              <a:lnSpc>
                <a:spcPct val="105000"/>
              </a:lnSpc>
              <a:spcBef>
                <a:spcPts val="0"/>
              </a:spcBef>
              <a:spcAft>
                <a:spcPts val="200"/>
              </a:spcAft>
              <a:defRPr sz="3000" b="1">
                <a:solidFill>
                  <a:srgbClr val="152C3B"/>
                </a:solidFill>
                <a:latin typeface="Lato"/>
              </a:defRPr>
            </a:pPr>
            <a:r>
              <a:t>Two threats. One personal warning system.</a:t>
            </a:r>
          </a:p>
        </p:txBody>
      </p:sp>
      <p:sp>
        <p:nvSpPr>
          <p:cNvPr id="13" name="TextBox 12"/>
          <p:cNvSpPr txBox="1"/>
          <p:nvPr/>
        </p:nvSpPr>
        <p:spPr>
          <a:xfrm>
            <a:off x="457200" y="1783080"/>
            <a:ext cx="10972800" cy="274320"/>
          </a:xfrm>
          <a:prstGeom prst="rect">
            <a:avLst/>
          </a:prstGeom>
          <a:noFill/>
        </p:spPr>
        <p:txBody>
          <a:bodyPr wrap="square" lIns="0" rIns="0" tIns="0" bIns="0">
            <a:spAutoFit/>
          </a:bodyPr>
          <a:lstStyle/>
          <a:p>
            <a:pPr>
              <a:lnSpc>
                <a:spcPct val="105000"/>
              </a:lnSpc>
              <a:spcBef>
                <a:spcPts val="0"/>
              </a:spcBef>
              <a:spcAft>
                <a:spcPts val="200"/>
              </a:spcAft>
              <a:defRPr sz="1400" b="0">
                <a:solidFill>
                  <a:srgbClr val="5B6C73"/>
                </a:solidFill>
                <a:latin typeface="Lato"/>
              </a:defRPr>
            </a:pPr>
            <a:r>
              <a:t>Proposed Solution  /  PRAHARI — The Countdown Band</a:t>
            </a:r>
          </a:p>
        </p:txBody>
      </p:sp>
      <p:sp>
        <p:nvSpPr>
          <p:cNvPr id="14" name="Rounded Rectangle 13"/>
          <p:cNvSpPr/>
          <p:nvPr/>
        </p:nvSpPr>
        <p:spPr>
          <a:xfrm>
            <a:off x="457200" y="2267712"/>
            <a:ext cx="5468112" cy="168249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457200" y="2267712"/>
            <a:ext cx="59436" cy="1682496"/>
          </a:xfrm>
          <a:prstGeom prst="rect">
            <a:avLst/>
          </a:prstGeom>
          <a:solidFill>
            <a:srgbClr val="287F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8368" y="2432304"/>
            <a:ext cx="576072" cy="548640"/>
          </a:xfrm>
          <a:prstGeom prst="rect">
            <a:avLst/>
          </a:prstGeom>
          <a:noFill/>
        </p:spPr>
        <p:txBody>
          <a:bodyPr wrap="square" lIns="0" rIns="0" tIns="0" bIns="0">
            <a:spAutoFit/>
          </a:bodyPr>
          <a:lstStyle/>
          <a:p>
            <a:pPr>
              <a:lnSpc>
                <a:spcPct val="105000"/>
              </a:lnSpc>
              <a:spcBef>
                <a:spcPts val="0"/>
              </a:spcBef>
              <a:spcAft>
                <a:spcPts val="200"/>
              </a:spcAft>
              <a:defRPr sz="3000" b="1">
                <a:solidFill>
                  <a:srgbClr val="287F79"/>
                </a:solidFill>
                <a:latin typeface="Lato"/>
              </a:defRPr>
            </a:pPr>
            <a:r>
              <a:t>01</a:t>
            </a:r>
          </a:p>
        </p:txBody>
      </p:sp>
      <p:sp>
        <p:nvSpPr>
          <p:cNvPr id="17" name="TextBox 16"/>
          <p:cNvSpPr txBox="1"/>
          <p:nvPr/>
        </p:nvSpPr>
        <p:spPr>
          <a:xfrm>
            <a:off x="1371600" y="2441448"/>
            <a:ext cx="4297680" cy="310896"/>
          </a:xfrm>
          <a:prstGeom prst="rect">
            <a:avLst/>
          </a:prstGeom>
          <a:noFill/>
        </p:spPr>
        <p:txBody>
          <a:bodyPr wrap="square" lIns="0" rIns="0" tIns="0" bIns="0">
            <a:spAutoFit/>
          </a:bodyPr>
          <a:lstStyle/>
          <a:p>
            <a:pPr>
              <a:lnSpc>
                <a:spcPct val="105000"/>
              </a:lnSpc>
              <a:spcBef>
                <a:spcPts val="0"/>
              </a:spcBef>
              <a:spcAft>
                <a:spcPts val="200"/>
              </a:spcAft>
              <a:defRPr sz="1900" b="1">
                <a:solidFill>
                  <a:srgbClr val="152C3B"/>
                </a:solidFill>
                <a:latin typeface="Lato"/>
              </a:defRPr>
            </a:pPr>
            <a:r>
              <a:t>THE HAZARD OUTSIDE</a:t>
            </a:r>
          </a:p>
        </p:txBody>
      </p:sp>
      <p:sp>
        <p:nvSpPr>
          <p:cNvPr id="18" name="TextBox 17"/>
          <p:cNvSpPr txBox="1"/>
          <p:nvPr/>
        </p:nvSpPr>
        <p:spPr>
          <a:xfrm>
            <a:off x="667512" y="2907792"/>
            <a:ext cx="5001768" cy="365760"/>
          </a:xfrm>
          <a:prstGeom prst="rect">
            <a:avLst/>
          </a:prstGeom>
          <a:noFill/>
        </p:spPr>
        <p:txBody>
          <a:bodyPr wrap="square" lIns="0" rIns="0" tIns="0" bIns="0">
            <a:spAutoFit/>
          </a:bodyPr>
          <a:lstStyle/>
          <a:p>
            <a:pPr>
              <a:lnSpc>
                <a:spcPct val="105000"/>
              </a:lnSpc>
              <a:spcBef>
                <a:spcPts val="0"/>
              </a:spcBef>
              <a:spcAft>
                <a:spcPts val="200"/>
              </a:spcAft>
              <a:defRPr sz="1600" b="0">
                <a:solidFill>
                  <a:srgbClr val="5B6C73"/>
                </a:solidFill>
                <a:latin typeface="Lato"/>
              </a:defRPr>
            </a:pPr>
            <a:r>
              <a:t>Warnings must travel past a network outage.</a:t>
            </a:r>
          </a:p>
        </p:txBody>
      </p:sp>
      <p:sp>
        <p:nvSpPr>
          <p:cNvPr id="19" name="Rounded Rectangle 18"/>
          <p:cNvSpPr/>
          <p:nvPr/>
        </p:nvSpPr>
        <p:spPr>
          <a:xfrm>
            <a:off x="6263640" y="2267712"/>
            <a:ext cx="5468112" cy="168249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263640" y="2267712"/>
            <a:ext cx="59436" cy="1682496"/>
          </a:xfrm>
          <a:prstGeom prst="rect">
            <a:avLst/>
          </a:prstGeom>
          <a:solidFill>
            <a:srgbClr val="E5AE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464807" y="2432304"/>
            <a:ext cx="576072" cy="548640"/>
          </a:xfrm>
          <a:prstGeom prst="rect">
            <a:avLst/>
          </a:prstGeom>
          <a:noFill/>
        </p:spPr>
        <p:txBody>
          <a:bodyPr wrap="square" lIns="0" rIns="0" tIns="0" bIns="0">
            <a:spAutoFit/>
          </a:bodyPr>
          <a:lstStyle/>
          <a:p>
            <a:pPr>
              <a:lnSpc>
                <a:spcPct val="105000"/>
              </a:lnSpc>
              <a:spcBef>
                <a:spcPts val="0"/>
              </a:spcBef>
              <a:spcAft>
                <a:spcPts val="200"/>
              </a:spcAft>
              <a:defRPr sz="3000" b="1">
                <a:solidFill>
                  <a:srgbClr val="E5AE48"/>
                </a:solidFill>
                <a:latin typeface="Lato"/>
              </a:defRPr>
            </a:pPr>
            <a:r>
              <a:t>02</a:t>
            </a:r>
          </a:p>
        </p:txBody>
      </p:sp>
      <p:sp>
        <p:nvSpPr>
          <p:cNvPr id="22" name="TextBox 21"/>
          <p:cNvSpPr txBox="1"/>
          <p:nvPr/>
        </p:nvSpPr>
        <p:spPr>
          <a:xfrm>
            <a:off x="7178040" y="2441448"/>
            <a:ext cx="4297680" cy="310896"/>
          </a:xfrm>
          <a:prstGeom prst="rect">
            <a:avLst/>
          </a:prstGeom>
          <a:noFill/>
        </p:spPr>
        <p:txBody>
          <a:bodyPr wrap="square" lIns="0" rIns="0" tIns="0" bIns="0">
            <a:spAutoFit/>
          </a:bodyPr>
          <a:lstStyle/>
          <a:p>
            <a:pPr>
              <a:lnSpc>
                <a:spcPct val="105000"/>
              </a:lnSpc>
              <a:spcBef>
                <a:spcPts val="0"/>
              </a:spcBef>
              <a:spcAft>
                <a:spcPts val="200"/>
              </a:spcAft>
              <a:defRPr sz="1900" b="1">
                <a:solidFill>
                  <a:srgbClr val="152C3B"/>
                </a:solidFill>
                <a:latin typeface="Lato"/>
              </a:defRPr>
            </a:pPr>
            <a:r>
              <a:t>THE STRAIN INSIDE</a:t>
            </a:r>
          </a:p>
        </p:txBody>
      </p:sp>
      <p:sp>
        <p:nvSpPr>
          <p:cNvPr id="23" name="TextBox 22"/>
          <p:cNvSpPr txBox="1"/>
          <p:nvPr/>
        </p:nvSpPr>
        <p:spPr>
          <a:xfrm>
            <a:off x="6473952" y="2907792"/>
            <a:ext cx="5001768" cy="365760"/>
          </a:xfrm>
          <a:prstGeom prst="rect">
            <a:avLst/>
          </a:prstGeom>
          <a:noFill/>
        </p:spPr>
        <p:txBody>
          <a:bodyPr wrap="square" lIns="0" rIns="0" tIns="0" bIns="0">
            <a:spAutoFit/>
          </a:bodyPr>
          <a:lstStyle/>
          <a:p>
            <a:pPr>
              <a:lnSpc>
                <a:spcPct val="105000"/>
              </a:lnSpc>
              <a:spcBef>
                <a:spcPts val="0"/>
              </a:spcBef>
              <a:spcAft>
                <a:spcPts val="200"/>
              </a:spcAft>
              <a:defRPr sz="1600" b="0">
                <a:solidFill>
                  <a:srgbClr val="5B6C73"/>
                </a:solidFill>
                <a:latin typeface="Lato"/>
              </a:defRPr>
            </a:pPr>
            <a:r>
              <a:t>A regional forecast cannot see your body.</a:t>
            </a:r>
          </a:p>
        </p:txBody>
      </p:sp>
      <p:sp>
        <p:nvSpPr>
          <p:cNvPr id="24" name="TextBox 23"/>
          <p:cNvSpPr txBox="1"/>
          <p:nvPr/>
        </p:nvSpPr>
        <p:spPr>
          <a:xfrm>
            <a:off x="676656" y="3383280"/>
            <a:ext cx="4983480" cy="466344"/>
          </a:xfrm>
          <a:prstGeom prst="rect">
            <a:avLst/>
          </a:prstGeom>
          <a:noFill/>
        </p:spPr>
        <p:txBody>
          <a:bodyPr wrap="square" lIns="0" rIns="0" tIns="0" bIns="0">
            <a:spAutoFit/>
          </a:bodyPr>
          <a:lstStyle/>
          <a:p>
            <a:pPr>
              <a:lnSpc>
                <a:spcPct val="105000"/>
              </a:lnSpc>
              <a:spcBef>
                <a:spcPts val="0"/>
              </a:spcBef>
              <a:spcAft>
                <a:spcPts val="200"/>
              </a:spcAft>
              <a:defRPr sz="1400" b="1">
                <a:solidFill>
                  <a:srgbClr val="152C3B"/>
                </a:solidFill>
                <a:latin typeface="Lato"/>
              </a:defRPr>
            </a:pPr>
            <a:r>
              <a:t>Official CAP alerts → phone + gateway band</a:t>
            </a:r>
          </a:p>
          <a:p>
            <a:pPr>
              <a:lnSpc>
                <a:spcPct val="105000"/>
              </a:lnSpc>
              <a:spcBef>
                <a:spcPts val="0"/>
              </a:spcBef>
              <a:spcAft>
                <a:spcPts val="200"/>
              </a:spcAft>
              <a:defRPr sz="1400" b="1">
                <a:solidFill>
                  <a:srgbClr val="152C3B"/>
                </a:solidFill>
                <a:latin typeface="Lato"/>
              </a:defRPr>
            </a:pPr>
            <a:r>
              <a:t>→ LoRa peer relay → vibration at the wrist</a:t>
            </a:r>
          </a:p>
        </p:txBody>
      </p:sp>
      <p:sp>
        <p:nvSpPr>
          <p:cNvPr id="25" name="TextBox 24"/>
          <p:cNvSpPr txBox="1"/>
          <p:nvPr/>
        </p:nvSpPr>
        <p:spPr>
          <a:xfrm>
            <a:off x="6473952" y="3383280"/>
            <a:ext cx="5010912" cy="466344"/>
          </a:xfrm>
          <a:prstGeom prst="rect">
            <a:avLst/>
          </a:prstGeom>
          <a:noFill/>
        </p:spPr>
        <p:txBody>
          <a:bodyPr wrap="square" lIns="0" rIns="0" tIns="0" bIns="0">
            <a:spAutoFit/>
          </a:bodyPr>
          <a:lstStyle/>
          <a:p>
            <a:pPr>
              <a:lnSpc>
                <a:spcPct val="105000"/>
              </a:lnSpc>
              <a:spcBef>
                <a:spcPts val="0"/>
              </a:spcBef>
              <a:spcAft>
                <a:spcPts val="200"/>
              </a:spcAft>
              <a:defRPr sz="1400" b="1">
                <a:solidFill>
                  <a:srgbClr val="152C3B"/>
                </a:solidFill>
                <a:latin typeface="Lato"/>
              </a:defRPr>
            </a:pPr>
            <a:r>
              <a:t>Heart rate + skin temperature + ambient heat</a:t>
            </a:r>
          </a:p>
          <a:p>
            <a:pPr>
              <a:lnSpc>
                <a:spcPct val="105000"/>
              </a:lnSpc>
              <a:spcBef>
                <a:spcPts val="0"/>
              </a:spcBef>
              <a:spcAft>
                <a:spcPts val="200"/>
              </a:spcAft>
              <a:defRPr sz="1400" b="1">
                <a:solidFill>
                  <a:srgbClr val="152C3B"/>
                </a:solidFill>
                <a:latin typeface="Lato"/>
              </a:defRPr>
            </a:pPr>
            <a:r>
              <a:t>→ on-device trend → early rest / cooling prompt</a:t>
            </a:r>
          </a:p>
        </p:txBody>
      </p:sp>
      <p:sp>
        <p:nvSpPr>
          <p:cNvPr id="26" name="Rounded Rectangle 25"/>
          <p:cNvSpPr/>
          <p:nvPr/>
        </p:nvSpPr>
        <p:spPr>
          <a:xfrm>
            <a:off x="457200" y="4206240"/>
            <a:ext cx="11274552" cy="1042415"/>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76656" y="4389120"/>
            <a:ext cx="1828800" cy="256032"/>
          </a:xfrm>
          <a:prstGeom prst="rect">
            <a:avLst/>
          </a:prstGeom>
          <a:noFill/>
        </p:spPr>
        <p:txBody>
          <a:bodyPr wrap="square" lIns="0" rIns="0" tIns="0" bIns="0">
            <a:spAutoFit/>
          </a:bodyPr>
          <a:lstStyle/>
          <a:p>
            <a:pPr>
              <a:lnSpc>
                <a:spcPct val="105000"/>
              </a:lnSpc>
              <a:spcBef>
                <a:spcPts val="0"/>
              </a:spcBef>
              <a:spcAft>
                <a:spcPts val="200"/>
              </a:spcAft>
              <a:defRPr sz="1400" b="1">
                <a:solidFill>
                  <a:srgbClr val="E5AE48"/>
                </a:solidFill>
                <a:latin typeface="Lato"/>
              </a:defRPr>
            </a:pPr>
            <a:r>
              <a:t>THE BAND</a:t>
            </a:r>
          </a:p>
        </p:txBody>
      </p:sp>
      <p:sp>
        <p:nvSpPr>
          <p:cNvPr id="28" name="TextBox 27"/>
          <p:cNvSpPr txBox="1"/>
          <p:nvPr/>
        </p:nvSpPr>
        <p:spPr>
          <a:xfrm>
            <a:off x="676656" y="4727448"/>
            <a:ext cx="3063240" cy="274320"/>
          </a:xfrm>
          <a:prstGeom prst="rect">
            <a:avLst/>
          </a:prstGeom>
          <a:noFill/>
        </p:spPr>
        <p:txBody>
          <a:bodyPr wrap="square" lIns="0" rIns="0" tIns="0" bIns="0">
            <a:spAutoFit/>
          </a:bodyPr>
          <a:lstStyle/>
          <a:p>
            <a:pPr>
              <a:lnSpc>
                <a:spcPct val="105000"/>
              </a:lnSpc>
              <a:spcBef>
                <a:spcPts val="0"/>
              </a:spcBef>
              <a:spcAft>
                <a:spcPts val="200"/>
              </a:spcAft>
              <a:defRPr sz="1600" b="0">
                <a:solidFill>
                  <a:srgbClr val="FFFFFF"/>
                </a:solidFill>
                <a:latin typeface="Lato"/>
              </a:defRPr>
            </a:pPr>
            <a:r>
              <a:t>Senses • decides • warns</a:t>
            </a:r>
          </a:p>
        </p:txBody>
      </p:sp>
      <p:cxnSp>
        <p:nvCxnSpPr>
          <p:cNvPr id="29" name="Connector 28"/>
          <p:cNvCxnSpPr/>
          <p:nvPr/>
        </p:nvCxnSpPr>
        <p:spPr>
          <a:xfrm>
            <a:off x="3840480" y="4407408"/>
            <a:ext cx="0" cy="603504"/>
          </a:xfrm>
          <a:prstGeom prst="line">
            <a:avLst/>
          </a:prstGeom>
          <a:ln w="12700">
            <a:solidFill>
              <a:srgbClr val="506571"/>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078224" y="4389120"/>
            <a:ext cx="3200400" cy="256032"/>
          </a:xfrm>
          <a:prstGeom prst="rect">
            <a:avLst/>
          </a:prstGeom>
          <a:noFill/>
        </p:spPr>
        <p:txBody>
          <a:bodyPr wrap="square" lIns="0" rIns="0" tIns="0" bIns="0">
            <a:spAutoFit/>
          </a:bodyPr>
          <a:lstStyle/>
          <a:p>
            <a:pPr>
              <a:lnSpc>
                <a:spcPct val="105000"/>
              </a:lnSpc>
              <a:spcBef>
                <a:spcPts val="0"/>
              </a:spcBef>
              <a:spcAft>
                <a:spcPts val="200"/>
              </a:spcAft>
              <a:defRPr sz="1400" b="1">
                <a:solidFill>
                  <a:srgbClr val="E5AE48"/>
                </a:solidFill>
                <a:latin typeface="Lato"/>
              </a:defRPr>
            </a:pPr>
            <a:r>
              <a:t>THE COMPANION APP</a:t>
            </a:r>
          </a:p>
        </p:txBody>
      </p:sp>
      <p:sp>
        <p:nvSpPr>
          <p:cNvPr id="31" name="TextBox 30"/>
          <p:cNvSpPr txBox="1"/>
          <p:nvPr/>
        </p:nvSpPr>
        <p:spPr>
          <a:xfrm>
            <a:off x="4078224" y="4727448"/>
            <a:ext cx="4133087" cy="274320"/>
          </a:xfrm>
          <a:prstGeom prst="rect">
            <a:avLst/>
          </a:prstGeom>
          <a:noFill/>
        </p:spPr>
        <p:txBody>
          <a:bodyPr wrap="square" lIns="0" rIns="0" tIns="0" bIns="0">
            <a:spAutoFit/>
          </a:bodyPr>
          <a:lstStyle/>
          <a:p>
            <a:pPr>
              <a:lnSpc>
                <a:spcPct val="105000"/>
              </a:lnSpc>
              <a:spcBef>
                <a:spcPts val="0"/>
              </a:spcBef>
              <a:spcAft>
                <a:spcPts val="200"/>
              </a:spcAft>
              <a:defRPr sz="1600" b="0">
                <a:solidFill>
                  <a:srgbClr val="FFFFFF"/>
                </a:solidFill>
                <a:latin typeface="Lato"/>
              </a:defRPr>
            </a:pPr>
            <a:r>
              <a:t>Fetches alerts • keeps offline history</a:t>
            </a:r>
          </a:p>
        </p:txBody>
      </p:sp>
      <p:sp>
        <p:nvSpPr>
          <p:cNvPr id="32" name="TextBox 31"/>
          <p:cNvSpPr txBox="1"/>
          <p:nvPr/>
        </p:nvSpPr>
        <p:spPr>
          <a:xfrm>
            <a:off x="8622792" y="4544568"/>
            <a:ext cx="2834640" cy="457200"/>
          </a:xfrm>
          <a:prstGeom prst="rect">
            <a:avLst/>
          </a:prstGeom>
          <a:noFill/>
        </p:spPr>
        <p:txBody>
          <a:bodyPr wrap="square" lIns="0" rIns="0" tIns="0" bIns="0">
            <a:spAutoFit/>
          </a:bodyPr>
          <a:lstStyle/>
          <a:p>
            <a:pPr>
              <a:lnSpc>
                <a:spcPct val="105000"/>
              </a:lnSpc>
              <a:spcBef>
                <a:spcPts val="0"/>
              </a:spcBef>
              <a:spcAft>
                <a:spcPts val="200"/>
              </a:spcAft>
              <a:defRPr sz="1200" b="1">
                <a:solidFill>
                  <a:srgbClr val="FFFFFF"/>
                </a:solidFill>
                <a:latin typeface="Lato"/>
              </a:defRPr>
            </a:pPr>
            <a:r>
              <a:t>ONE CONNECTED ENTRY POINT</a:t>
            </a:r>
          </a:p>
          <a:p>
            <a:pPr>
              <a:lnSpc>
                <a:spcPct val="105000"/>
              </a:lnSpc>
              <a:spcBef>
                <a:spcPts val="0"/>
              </a:spcBef>
              <a:spcAft>
                <a:spcPts val="200"/>
              </a:spcAft>
              <a:defRPr sz="1200" b="1">
                <a:solidFill>
                  <a:srgbClr val="FFFFFF"/>
                </a:solidFill>
                <a:latin typeface="Lato"/>
              </a:defRPr>
            </a:pPr>
            <a:r>
              <a:t>SHARES WARNINGS LOCALLY</a:t>
            </a:r>
          </a:p>
        </p:txBody>
      </p:sp>
      <p:sp>
        <p:nvSpPr>
          <p:cNvPr id="33" name="TextBox 32"/>
          <p:cNvSpPr txBox="1"/>
          <p:nvPr/>
        </p:nvSpPr>
        <p:spPr>
          <a:xfrm>
            <a:off x="475488" y="5504688"/>
            <a:ext cx="2926080" cy="256032"/>
          </a:xfrm>
          <a:prstGeom prst="rect">
            <a:avLst/>
          </a:prstGeom>
          <a:noFill/>
        </p:spPr>
        <p:txBody>
          <a:bodyPr wrap="square" lIns="0" rIns="0" tIns="0" bIns="0">
            <a:spAutoFit/>
          </a:bodyPr>
          <a:lstStyle/>
          <a:p>
            <a:pPr>
              <a:lnSpc>
                <a:spcPct val="105000"/>
              </a:lnSpc>
              <a:spcBef>
                <a:spcPts val="0"/>
              </a:spcBef>
              <a:spcAft>
                <a:spcPts val="200"/>
              </a:spcAft>
              <a:defRPr sz="1200" b="1">
                <a:solidFill>
                  <a:srgbClr val="287F79"/>
                </a:solidFill>
                <a:latin typeface="Lato"/>
              </a:defRPr>
            </a:pPr>
            <a:r>
              <a:t>INNOVATION &amp; UNIQUENESS</a:t>
            </a:r>
          </a:p>
        </p:txBody>
      </p:sp>
      <p:sp>
        <p:nvSpPr>
          <p:cNvPr id="34" name="TextBox 33"/>
          <p:cNvSpPr txBox="1"/>
          <p:nvPr/>
        </p:nvSpPr>
        <p:spPr>
          <a:xfrm>
            <a:off x="475488" y="5870448"/>
            <a:ext cx="3566160" cy="256032"/>
          </a:xfrm>
          <a:prstGeom prst="rect">
            <a:avLst/>
          </a:prstGeom>
          <a:noFill/>
        </p:spPr>
        <p:txBody>
          <a:bodyPr wrap="square" lIns="0" rIns="0" tIns="0" bIns="0">
            <a:spAutoFit/>
          </a:bodyPr>
          <a:lstStyle/>
          <a:p>
            <a:pPr>
              <a:lnSpc>
                <a:spcPct val="105000"/>
              </a:lnSpc>
              <a:spcBef>
                <a:spcPts val="0"/>
              </a:spcBef>
              <a:spcAft>
                <a:spcPts val="200"/>
              </a:spcAft>
              <a:defRPr sz="1700" b="1">
                <a:solidFill>
                  <a:srgbClr val="152C3B"/>
                </a:solidFill>
                <a:latin typeface="Lato"/>
              </a:defRPr>
            </a:pPr>
            <a:r>
              <a:t>Body + hazard in one device</a:t>
            </a:r>
          </a:p>
        </p:txBody>
      </p:sp>
      <p:sp>
        <p:nvSpPr>
          <p:cNvPr id="35" name="TextBox 34"/>
          <p:cNvSpPr txBox="1"/>
          <p:nvPr/>
        </p:nvSpPr>
        <p:spPr>
          <a:xfrm>
            <a:off x="4352544" y="5870448"/>
            <a:ext cx="3749039" cy="256032"/>
          </a:xfrm>
          <a:prstGeom prst="rect">
            <a:avLst/>
          </a:prstGeom>
          <a:noFill/>
        </p:spPr>
        <p:txBody>
          <a:bodyPr wrap="square" lIns="0" rIns="0" tIns="0" bIns="0">
            <a:spAutoFit/>
          </a:bodyPr>
          <a:lstStyle/>
          <a:p>
            <a:pPr>
              <a:lnSpc>
                <a:spcPct val="105000"/>
              </a:lnSpc>
              <a:spcBef>
                <a:spcPts val="0"/>
              </a:spcBef>
              <a:spcAft>
                <a:spcPts val="200"/>
              </a:spcAft>
              <a:defRPr sz="1700" b="1">
                <a:solidFill>
                  <a:srgbClr val="152C3B"/>
                </a:solidFill>
                <a:latin typeface="Lato"/>
              </a:defRPr>
            </a:pPr>
            <a:r>
              <a:t>Time to heat-risk threshold*</a:t>
            </a:r>
          </a:p>
        </p:txBody>
      </p:sp>
      <p:sp>
        <p:nvSpPr>
          <p:cNvPr id="36" name="TextBox 35"/>
          <p:cNvSpPr txBox="1"/>
          <p:nvPr/>
        </p:nvSpPr>
        <p:spPr>
          <a:xfrm>
            <a:off x="8247888" y="5870448"/>
            <a:ext cx="3520440" cy="256032"/>
          </a:xfrm>
          <a:prstGeom prst="rect">
            <a:avLst/>
          </a:prstGeom>
          <a:noFill/>
        </p:spPr>
        <p:txBody>
          <a:bodyPr wrap="square" lIns="0" rIns="0" tIns="0" bIns="0">
            <a:spAutoFit/>
          </a:bodyPr>
          <a:lstStyle/>
          <a:p>
            <a:pPr>
              <a:lnSpc>
                <a:spcPct val="105000"/>
              </a:lnSpc>
              <a:spcBef>
                <a:spcPts val="0"/>
              </a:spcBef>
              <a:spcAft>
                <a:spcPts val="200"/>
              </a:spcAft>
              <a:defRPr sz="1700" b="1">
                <a:solidFill>
                  <a:srgbClr val="152C3B"/>
                </a:solidFill>
                <a:latin typeface="Lato"/>
              </a:defRPr>
            </a:pPr>
            <a:r>
              <a:t>Recovery across shifts*</a:t>
            </a:r>
          </a:p>
        </p:txBody>
      </p:sp>
      <p:sp>
        <p:nvSpPr>
          <p:cNvPr id="37" name="TextBox 36"/>
          <p:cNvSpPr txBox="1"/>
          <p:nvPr/>
        </p:nvSpPr>
        <p:spPr>
          <a:xfrm>
            <a:off x="4352544" y="5541264"/>
            <a:ext cx="7406640" cy="228600"/>
          </a:xfrm>
          <a:prstGeom prst="rect">
            <a:avLst/>
          </a:prstGeom>
          <a:noFill/>
        </p:spPr>
        <p:txBody>
          <a:bodyPr wrap="square" lIns="0" rIns="0" tIns="0" bIns="0">
            <a:spAutoFit/>
          </a:bodyPr>
          <a:lstStyle/>
          <a:p>
            <a:pPr>
              <a:lnSpc>
                <a:spcPct val="105000"/>
              </a:lnSpc>
              <a:spcBef>
                <a:spcPts val="0"/>
              </a:spcBef>
              <a:spcAft>
                <a:spcPts val="200"/>
              </a:spcAft>
              <a:defRPr sz="1000" b="0">
                <a:solidFill>
                  <a:srgbClr val="5B6C73"/>
                </a:solidFill>
                <a:latin typeface="Lato"/>
              </a:defRPr>
            </a:pPr>
            <a:r>
              <a:t>*Proposed features; personal forecasts and recovery tracking require validation.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65760" y="292608"/>
            <a:ext cx="1335024" cy="429768"/>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438912" y="425196"/>
            <a:ext cx="1188720" cy="210312"/>
          </a:xfrm>
          <a:prstGeom prst="rect">
            <a:avLst/>
          </a:prstGeom>
          <a:noFill/>
        </p:spPr>
        <p:txBody>
          <a:bodyPr wrap="square" lIns="0" rIns="0" tIns="0" bIns="0">
            <a:spAutoFit/>
          </a:bodyPr>
          <a:lstStyle/>
          <a:p>
            <a:pPr algn="ctr">
              <a:lnSpc>
                <a:spcPct val="105000"/>
              </a:lnSpc>
              <a:spcBef>
                <a:spcPts val="0"/>
              </a:spcBef>
              <a:spcAft>
                <a:spcPts val="200"/>
              </a:spcAft>
              <a:defRPr sz="1000" b="1">
                <a:solidFill>
                  <a:srgbClr val="FFFFFF"/>
                </a:solidFill>
                <a:latin typeface="Lato"/>
              </a:defRPr>
            </a:pPr>
            <a:r>
              <a:t>POINT BREAK</a:t>
            </a:r>
          </a:p>
        </p:txBody>
      </p:sp>
      <p:sp>
        <p:nvSpPr>
          <p:cNvPr id="5" name="TextBox 4"/>
          <p:cNvSpPr txBox="1"/>
          <p:nvPr/>
        </p:nvSpPr>
        <p:spPr>
          <a:xfrm>
            <a:off x="1874519" y="347472"/>
            <a:ext cx="7863840" cy="457200"/>
          </a:xfrm>
          <a:prstGeom prst="rect">
            <a:avLst/>
          </a:prstGeom>
          <a:noFill/>
        </p:spPr>
        <p:txBody>
          <a:bodyPr wrap="square" lIns="0" rIns="0" tIns="0" bIns="0">
            <a:spAutoFit/>
          </a:bodyPr>
          <a:lstStyle/>
          <a:p>
            <a:pPr algn="ctr">
              <a:lnSpc>
                <a:spcPct val="105000"/>
              </a:lnSpc>
              <a:spcBef>
                <a:spcPts val="0"/>
              </a:spcBef>
              <a:spcAft>
                <a:spcPts val="200"/>
              </a:spcAft>
              <a:defRPr sz="2300" b="1">
                <a:solidFill>
                  <a:srgbClr val="152C3B"/>
                </a:solidFill>
                <a:latin typeface="Lato"/>
              </a:defRPr>
            </a:pPr>
            <a:r>
              <a:t>TECHNICAL APPROACH</a:t>
            </a:r>
          </a:p>
        </p:txBody>
      </p:sp>
      <p:pic>
        <p:nvPicPr>
          <p:cNvPr id="6" name="Picture 5" descr="image.png"/>
          <p:cNvPicPr>
            <a:picLocks noChangeAspect="1"/>
          </p:cNvPicPr>
          <p:nvPr/>
        </p:nvPicPr>
        <p:blipFill>
          <a:blip r:embed="rId3"/>
          <a:stretch>
            <a:fillRect/>
          </a:stretch>
        </p:blipFill>
        <p:spPr>
          <a:xfrm>
            <a:off x="10125030" y="155448"/>
            <a:ext cx="1549235" cy="731520"/>
          </a:xfrm>
          <a:prstGeom prst="rect">
            <a:avLst/>
          </a:prstGeom>
        </p:spPr>
      </p:pic>
      <p:sp>
        <p:nvSpPr>
          <p:cNvPr id="7" name="Rectangle 6"/>
          <p:cNvSpPr/>
          <p:nvPr/>
        </p:nvSpPr>
        <p:spPr>
          <a:xfrm>
            <a:off x="365760" y="1024128"/>
            <a:ext cx="11430000"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0" y="6355080"/>
            <a:ext cx="12191695" cy="5029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11480" y="6510528"/>
            <a:ext cx="2743200" cy="182880"/>
          </a:xfrm>
          <a:prstGeom prst="rect">
            <a:avLst/>
          </a:prstGeom>
          <a:noFill/>
        </p:spPr>
        <p:txBody>
          <a:bodyPr wrap="square" lIns="0" rIns="0" tIns="0" bIns="0">
            <a:spAutoFit/>
          </a:bodyPr>
          <a:lstStyle/>
          <a:p>
            <a:pPr>
              <a:lnSpc>
                <a:spcPct val="105000"/>
              </a:lnSpc>
              <a:spcBef>
                <a:spcPts val="0"/>
              </a:spcBef>
              <a:spcAft>
                <a:spcPts val="200"/>
              </a:spcAft>
              <a:defRPr sz="900" b="1">
                <a:solidFill>
                  <a:srgbClr val="FFFFFF"/>
                </a:solidFill>
                <a:latin typeface="Lato"/>
              </a:defRPr>
            </a:pPr>
            <a:r>
              <a:t>PRAHARI  /  POINT BREAK</a:t>
            </a:r>
          </a:p>
        </p:txBody>
      </p:sp>
      <p:sp>
        <p:nvSpPr>
          <p:cNvPr id="10" name="TextBox 9"/>
          <p:cNvSpPr txBox="1"/>
          <p:nvPr/>
        </p:nvSpPr>
        <p:spPr>
          <a:xfrm>
            <a:off x="4389120" y="6510528"/>
            <a:ext cx="3749039" cy="182880"/>
          </a:xfrm>
          <a:prstGeom prst="rect">
            <a:avLst/>
          </a:prstGeom>
          <a:noFill/>
        </p:spPr>
        <p:txBody>
          <a:bodyPr wrap="square" lIns="0" rIns="0" tIns="0" bIns="0">
            <a:spAutoFit/>
          </a:bodyPr>
          <a:lstStyle/>
          <a:p>
            <a:pPr algn="ctr">
              <a:lnSpc>
                <a:spcPct val="105000"/>
              </a:lnSpc>
              <a:spcBef>
                <a:spcPts val="0"/>
              </a:spcBef>
              <a:spcAft>
                <a:spcPts val="200"/>
              </a:spcAft>
              <a:defRPr sz="900" b="0">
                <a:solidFill>
                  <a:srgbClr val="CFD9DB"/>
                </a:solidFill>
                <a:latin typeface="Lato"/>
              </a:defRPr>
            </a:pPr>
            <a:r>
              <a:t>@SIH Idea submission- Template</a:t>
            </a:r>
          </a:p>
        </p:txBody>
      </p:sp>
      <p:sp>
        <p:nvSpPr>
          <p:cNvPr id="11" name="TextBox 10"/>
          <p:cNvSpPr txBox="1"/>
          <p:nvPr/>
        </p:nvSpPr>
        <p:spPr>
          <a:xfrm>
            <a:off x="10652760" y="6492240"/>
            <a:ext cx="1051560" cy="210312"/>
          </a:xfrm>
          <a:prstGeom prst="rect">
            <a:avLst/>
          </a:prstGeom>
          <a:noFill/>
        </p:spPr>
        <p:txBody>
          <a:bodyPr wrap="square" lIns="0" rIns="0" tIns="0" bIns="0">
            <a:spAutoFit/>
          </a:bodyPr>
          <a:lstStyle/>
          <a:p>
            <a:pPr algn="r">
              <a:lnSpc>
                <a:spcPct val="105000"/>
              </a:lnSpc>
              <a:spcBef>
                <a:spcPts val="0"/>
              </a:spcBef>
              <a:spcAft>
                <a:spcPts val="200"/>
              </a:spcAft>
              <a:defRPr sz="1000" b="1">
                <a:solidFill>
                  <a:srgbClr val="FFFFFF"/>
                </a:solidFill>
                <a:latin typeface="Lato"/>
              </a:defRPr>
            </a:pPr>
            <a:r>
              <a:t>03 / 06</a:t>
            </a:r>
          </a:p>
        </p:txBody>
      </p:sp>
      <p:sp>
        <p:nvSpPr>
          <p:cNvPr id="12" name="TextBox 11"/>
          <p:cNvSpPr txBox="1"/>
          <p:nvPr/>
        </p:nvSpPr>
        <p:spPr>
          <a:xfrm>
            <a:off x="457200" y="1243584"/>
            <a:ext cx="11247120" cy="466344"/>
          </a:xfrm>
          <a:prstGeom prst="rect">
            <a:avLst/>
          </a:prstGeom>
          <a:noFill/>
        </p:spPr>
        <p:txBody>
          <a:bodyPr wrap="square" lIns="0" rIns="0" tIns="0" bIns="0">
            <a:spAutoFit/>
          </a:bodyPr>
          <a:lstStyle/>
          <a:p>
            <a:pPr>
              <a:lnSpc>
                <a:spcPct val="105000"/>
              </a:lnSpc>
              <a:spcBef>
                <a:spcPts val="0"/>
              </a:spcBef>
              <a:spcAft>
                <a:spcPts val="200"/>
              </a:spcAft>
              <a:defRPr sz="2800" b="1">
                <a:solidFill>
                  <a:srgbClr val="152C3B"/>
                </a:solidFill>
                <a:latin typeface="Lato"/>
              </a:defRPr>
            </a:pPr>
            <a:r>
              <a:t>Sense locally. Decide on-device. Relay the warning.</a:t>
            </a:r>
          </a:p>
        </p:txBody>
      </p:sp>
      <p:sp>
        <p:nvSpPr>
          <p:cNvPr id="13" name="TextBox 12"/>
          <p:cNvSpPr txBox="1"/>
          <p:nvPr/>
        </p:nvSpPr>
        <p:spPr>
          <a:xfrm>
            <a:off x="457200" y="1792224"/>
            <a:ext cx="10972800" cy="274320"/>
          </a:xfrm>
          <a:prstGeom prst="rect">
            <a:avLst/>
          </a:prstGeom>
          <a:noFill/>
        </p:spPr>
        <p:txBody>
          <a:bodyPr wrap="square" lIns="0" rIns="0" tIns="0" bIns="0">
            <a:spAutoFit/>
          </a:bodyPr>
          <a:lstStyle/>
          <a:p>
            <a:pPr>
              <a:lnSpc>
                <a:spcPct val="105000"/>
              </a:lnSpc>
              <a:spcBef>
                <a:spcPts val="0"/>
              </a:spcBef>
              <a:spcAft>
                <a:spcPts val="200"/>
              </a:spcAft>
              <a:defRPr sz="1400" b="0">
                <a:solidFill>
                  <a:srgbClr val="5B6C73"/>
                </a:solidFill>
                <a:latin typeface="Lato"/>
              </a:defRPr>
            </a:pPr>
            <a:r>
              <a:t>Proposed rev B architecture · hardware + embedded intelligence + offline companion</a:t>
            </a:r>
          </a:p>
        </p:txBody>
      </p:sp>
      <p:sp>
        <p:nvSpPr>
          <p:cNvPr id="14" name="Rounded Rectangle 13"/>
          <p:cNvSpPr/>
          <p:nvPr/>
        </p:nvSpPr>
        <p:spPr>
          <a:xfrm>
            <a:off x="457200" y="2267712"/>
            <a:ext cx="3566160" cy="213969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21792" y="2450592"/>
            <a:ext cx="429768" cy="429768"/>
          </a:xfrm>
          <a:prstGeom prst="roundRect">
            <a:avLst>
              <a:gd name="adj" fmla="val 8000"/>
            </a:avLst>
          </a:prstGeom>
          <a:solidFill>
            <a:srgbClr val="287F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21792" y="2523744"/>
            <a:ext cx="429768" cy="237744"/>
          </a:xfrm>
          <a:prstGeom prst="rect">
            <a:avLst/>
          </a:prstGeom>
          <a:noFill/>
        </p:spPr>
        <p:txBody>
          <a:bodyPr wrap="square" lIns="0" rIns="0" tIns="0" bIns="0">
            <a:spAutoFit/>
          </a:bodyPr>
          <a:lstStyle/>
          <a:p>
            <a:pPr algn="ctr">
              <a:lnSpc>
                <a:spcPct val="105000"/>
              </a:lnSpc>
              <a:spcBef>
                <a:spcPts val="0"/>
              </a:spcBef>
              <a:spcAft>
                <a:spcPts val="200"/>
              </a:spcAft>
              <a:defRPr sz="1700" b="1">
                <a:solidFill>
                  <a:srgbClr val="FFFFFF"/>
                </a:solidFill>
                <a:latin typeface="Lato"/>
              </a:defRPr>
            </a:pPr>
            <a:r>
              <a:t>1</a:t>
            </a:r>
          </a:p>
        </p:txBody>
      </p:sp>
      <p:sp>
        <p:nvSpPr>
          <p:cNvPr id="17" name="TextBox 16"/>
          <p:cNvSpPr txBox="1"/>
          <p:nvPr/>
        </p:nvSpPr>
        <p:spPr>
          <a:xfrm>
            <a:off x="1197864" y="2532888"/>
            <a:ext cx="2651760" cy="365760"/>
          </a:xfrm>
          <a:prstGeom prst="rect">
            <a:avLst/>
          </a:prstGeom>
          <a:noFill/>
        </p:spPr>
        <p:txBody>
          <a:bodyPr wrap="square" lIns="0" rIns="0" tIns="0" bIns="0">
            <a:spAutoFit/>
          </a:bodyPr>
          <a:lstStyle/>
          <a:p>
            <a:pPr>
              <a:lnSpc>
                <a:spcPct val="105000"/>
              </a:lnSpc>
              <a:spcBef>
                <a:spcPts val="0"/>
              </a:spcBef>
              <a:spcAft>
                <a:spcPts val="200"/>
              </a:spcAft>
              <a:defRPr sz="2000" b="1">
                <a:solidFill>
                  <a:srgbClr val="152C3B"/>
                </a:solidFill>
                <a:latin typeface="Lato"/>
              </a:defRPr>
            </a:pPr>
            <a:r>
              <a:t>SENSE</a:t>
            </a:r>
          </a:p>
        </p:txBody>
      </p:sp>
      <p:sp>
        <p:nvSpPr>
          <p:cNvPr id="18" name="Rounded Rectangle 17"/>
          <p:cNvSpPr/>
          <p:nvPr/>
        </p:nvSpPr>
        <p:spPr>
          <a:xfrm>
            <a:off x="4306824" y="2267712"/>
            <a:ext cx="3566160" cy="213969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4471416" y="2450592"/>
            <a:ext cx="429768" cy="429768"/>
          </a:xfrm>
          <a:prstGeom prst="roundRect">
            <a:avLst>
              <a:gd name="adj" fmla="val 8000"/>
            </a:avLst>
          </a:prstGeom>
          <a:solidFill>
            <a:srgbClr val="287F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471416" y="2523744"/>
            <a:ext cx="429768" cy="237744"/>
          </a:xfrm>
          <a:prstGeom prst="rect">
            <a:avLst/>
          </a:prstGeom>
          <a:noFill/>
        </p:spPr>
        <p:txBody>
          <a:bodyPr wrap="square" lIns="0" rIns="0" tIns="0" bIns="0">
            <a:spAutoFit/>
          </a:bodyPr>
          <a:lstStyle/>
          <a:p>
            <a:pPr algn="ctr">
              <a:lnSpc>
                <a:spcPct val="105000"/>
              </a:lnSpc>
              <a:spcBef>
                <a:spcPts val="0"/>
              </a:spcBef>
              <a:spcAft>
                <a:spcPts val="200"/>
              </a:spcAft>
              <a:defRPr sz="1700" b="1">
                <a:solidFill>
                  <a:srgbClr val="FFFFFF"/>
                </a:solidFill>
                <a:latin typeface="Lato"/>
              </a:defRPr>
            </a:pPr>
            <a:r>
              <a:t>2</a:t>
            </a:r>
          </a:p>
        </p:txBody>
      </p:sp>
      <p:sp>
        <p:nvSpPr>
          <p:cNvPr id="21" name="TextBox 20"/>
          <p:cNvSpPr txBox="1"/>
          <p:nvPr/>
        </p:nvSpPr>
        <p:spPr>
          <a:xfrm>
            <a:off x="5047488" y="2532888"/>
            <a:ext cx="2651760" cy="365760"/>
          </a:xfrm>
          <a:prstGeom prst="rect">
            <a:avLst/>
          </a:prstGeom>
          <a:noFill/>
        </p:spPr>
        <p:txBody>
          <a:bodyPr wrap="square" lIns="0" rIns="0" tIns="0" bIns="0">
            <a:spAutoFit/>
          </a:bodyPr>
          <a:lstStyle/>
          <a:p>
            <a:pPr>
              <a:lnSpc>
                <a:spcPct val="105000"/>
              </a:lnSpc>
              <a:spcBef>
                <a:spcPts val="0"/>
              </a:spcBef>
              <a:spcAft>
                <a:spcPts val="200"/>
              </a:spcAft>
              <a:defRPr sz="2000" b="1">
                <a:solidFill>
                  <a:srgbClr val="152C3B"/>
                </a:solidFill>
                <a:latin typeface="Lato"/>
              </a:defRPr>
            </a:pPr>
            <a:r>
              <a:t>DECIDE</a:t>
            </a:r>
          </a:p>
        </p:txBody>
      </p:sp>
      <p:sp>
        <p:nvSpPr>
          <p:cNvPr id="22" name="Rounded Rectangle 21"/>
          <p:cNvSpPr/>
          <p:nvPr/>
        </p:nvSpPr>
        <p:spPr>
          <a:xfrm>
            <a:off x="8156448" y="2267712"/>
            <a:ext cx="3566160" cy="213969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8321040" y="2450592"/>
            <a:ext cx="429768" cy="429768"/>
          </a:xfrm>
          <a:prstGeom prst="roundRect">
            <a:avLst>
              <a:gd name="adj" fmla="val 8000"/>
            </a:avLst>
          </a:prstGeom>
          <a:solidFill>
            <a:srgbClr val="E5AE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321040" y="2523744"/>
            <a:ext cx="429768" cy="237744"/>
          </a:xfrm>
          <a:prstGeom prst="rect">
            <a:avLst/>
          </a:prstGeom>
          <a:noFill/>
        </p:spPr>
        <p:txBody>
          <a:bodyPr wrap="square" lIns="0" rIns="0" tIns="0" bIns="0">
            <a:spAutoFit/>
          </a:bodyPr>
          <a:lstStyle/>
          <a:p>
            <a:pPr algn="ctr">
              <a:lnSpc>
                <a:spcPct val="105000"/>
              </a:lnSpc>
              <a:spcBef>
                <a:spcPts val="0"/>
              </a:spcBef>
              <a:spcAft>
                <a:spcPts val="200"/>
              </a:spcAft>
              <a:defRPr sz="1700" b="1">
                <a:solidFill>
                  <a:srgbClr val="FFFFFF"/>
                </a:solidFill>
                <a:latin typeface="Lato"/>
              </a:defRPr>
            </a:pPr>
            <a:r>
              <a:t>3</a:t>
            </a:r>
          </a:p>
        </p:txBody>
      </p:sp>
      <p:sp>
        <p:nvSpPr>
          <p:cNvPr id="25" name="TextBox 24"/>
          <p:cNvSpPr txBox="1"/>
          <p:nvPr/>
        </p:nvSpPr>
        <p:spPr>
          <a:xfrm>
            <a:off x="8897112" y="2532888"/>
            <a:ext cx="2651760" cy="365760"/>
          </a:xfrm>
          <a:prstGeom prst="rect">
            <a:avLst/>
          </a:prstGeom>
          <a:noFill/>
        </p:spPr>
        <p:txBody>
          <a:bodyPr wrap="square" lIns="0" rIns="0" tIns="0" bIns="0">
            <a:spAutoFit/>
          </a:bodyPr>
          <a:lstStyle/>
          <a:p>
            <a:pPr>
              <a:lnSpc>
                <a:spcPct val="105000"/>
              </a:lnSpc>
              <a:spcBef>
                <a:spcPts val="0"/>
              </a:spcBef>
              <a:spcAft>
                <a:spcPts val="200"/>
              </a:spcAft>
              <a:defRPr sz="2000" b="1">
                <a:solidFill>
                  <a:srgbClr val="152C3B"/>
                </a:solidFill>
                <a:latin typeface="Lato"/>
              </a:defRPr>
            </a:pPr>
            <a:r>
              <a:t>WARN</a:t>
            </a:r>
          </a:p>
        </p:txBody>
      </p:sp>
      <p:sp>
        <p:nvSpPr>
          <p:cNvPr id="26" name="TextBox 25"/>
          <p:cNvSpPr txBox="1"/>
          <p:nvPr/>
        </p:nvSpPr>
        <p:spPr>
          <a:xfrm>
            <a:off x="667512" y="3099816"/>
            <a:ext cx="3163824" cy="1024128"/>
          </a:xfrm>
          <a:prstGeom prst="rect">
            <a:avLst/>
          </a:prstGeom>
          <a:noFill/>
        </p:spPr>
        <p:txBody>
          <a:bodyPr wrap="square" lIns="0" rIns="0" tIns="0" bIns="0">
            <a:spAutoFit/>
          </a:bodyPr>
          <a:lstStyle/>
          <a:p>
            <a:pPr>
              <a:lnSpc>
                <a:spcPct val="105000"/>
              </a:lnSpc>
              <a:spcBef>
                <a:spcPts val="0"/>
              </a:spcBef>
              <a:spcAft>
                <a:spcPts val="200"/>
              </a:spcAft>
              <a:defRPr sz="1500" b="0">
                <a:solidFill>
                  <a:srgbClr val="152C3B"/>
                </a:solidFill>
                <a:latin typeface="Lato"/>
              </a:defRPr>
            </a:pPr>
            <a:r>
              <a:t>MAX30102 · heart rate / PPG</a:t>
            </a:r>
          </a:p>
          <a:p>
            <a:pPr>
              <a:lnSpc>
                <a:spcPct val="105000"/>
              </a:lnSpc>
              <a:spcBef>
                <a:spcPts val="0"/>
              </a:spcBef>
              <a:spcAft>
                <a:spcPts val="200"/>
              </a:spcAft>
              <a:defRPr sz="1500" b="0">
                <a:solidFill>
                  <a:srgbClr val="152C3B"/>
                </a:solidFill>
                <a:latin typeface="Lato"/>
              </a:defRPr>
            </a:pPr>
            <a:r>
              <a:t>MAX30208 · contact skin temp</a:t>
            </a:r>
          </a:p>
          <a:p>
            <a:pPr>
              <a:lnSpc>
                <a:spcPct val="105000"/>
              </a:lnSpc>
              <a:spcBef>
                <a:spcPts val="0"/>
              </a:spcBef>
              <a:spcAft>
                <a:spcPts val="200"/>
              </a:spcAft>
              <a:defRPr sz="1500" b="0">
                <a:solidFill>
                  <a:srgbClr val="152C3B"/>
                </a:solidFill>
                <a:latin typeface="Lato"/>
              </a:defRPr>
            </a:pPr>
            <a:r>
              <a:t>AHT20 · air temp + humidity</a:t>
            </a:r>
          </a:p>
          <a:p>
            <a:pPr>
              <a:lnSpc>
                <a:spcPct val="105000"/>
              </a:lnSpc>
              <a:spcBef>
                <a:spcPts val="0"/>
              </a:spcBef>
              <a:spcAft>
                <a:spcPts val="200"/>
              </a:spcAft>
              <a:defRPr sz="1500" b="0">
                <a:solidFill>
                  <a:srgbClr val="152C3B"/>
                </a:solidFill>
                <a:latin typeface="Lato"/>
              </a:defRPr>
            </a:pPr>
            <a:r>
              <a:t>Onboard IMU · motion context</a:t>
            </a:r>
          </a:p>
        </p:txBody>
      </p:sp>
      <p:sp>
        <p:nvSpPr>
          <p:cNvPr id="27" name="TextBox 26"/>
          <p:cNvSpPr txBox="1"/>
          <p:nvPr/>
        </p:nvSpPr>
        <p:spPr>
          <a:xfrm>
            <a:off x="4517136" y="3099816"/>
            <a:ext cx="3154680" cy="1060704"/>
          </a:xfrm>
          <a:prstGeom prst="rect">
            <a:avLst/>
          </a:prstGeom>
          <a:noFill/>
        </p:spPr>
        <p:txBody>
          <a:bodyPr wrap="square" lIns="0" rIns="0" tIns="0" bIns="0">
            <a:spAutoFit/>
          </a:bodyPr>
          <a:lstStyle/>
          <a:p>
            <a:pPr>
              <a:lnSpc>
                <a:spcPct val="105000"/>
              </a:lnSpc>
              <a:spcBef>
                <a:spcPts val="0"/>
              </a:spcBef>
              <a:spcAft>
                <a:spcPts val="200"/>
              </a:spcAft>
              <a:defRPr sz="1420" b="0">
                <a:solidFill>
                  <a:srgbClr val="152C3B"/>
                </a:solidFill>
                <a:latin typeface="Lato"/>
              </a:defRPr>
            </a:pPr>
            <a:r>
              <a:t>Signal-quality + motion gate</a:t>
            </a:r>
          </a:p>
          <a:p>
            <a:pPr>
              <a:lnSpc>
                <a:spcPct val="105000"/>
              </a:lnSpc>
              <a:spcBef>
                <a:spcPts val="0"/>
              </a:spcBef>
              <a:spcAft>
                <a:spcPts val="200"/>
              </a:spcAft>
              <a:defRPr sz="1420" b="0">
                <a:solidFill>
                  <a:srgbClr val="152C3B"/>
                </a:solidFill>
                <a:latin typeface="Lato"/>
              </a:defRPr>
            </a:pPr>
            <a:r>
              <a:t>Kalman estimate + personal baseline</a:t>
            </a:r>
          </a:p>
          <a:p>
            <a:pPr>
              <a:lnSpc>
                <a:spcPct val="105000"/>
              </a:lnSpc>
              <a:spcBef>
                <a:spcPts val="0"/>
              </a:spcBef>
              <a:spcAft>
                <a:spcPts val="200"/>
              </a:spcAft>
              <a:defRPr sz="1420" b="0">
                <a:solidFill>
                  <a:srgbClr val="152C3B"/>
                </a:solidFill>
                <a:latin typeface="Lato"/>
              </a:defRPr>
            </a:pPr>
            <a:r>
              <a:t>Trend-to-threshold forecast*</a:t>
            </a:r>
          </a:p>
          <a:p>
            <a:pPr>
              <a:lnSpc>
                <a:spcPct val="105000"/>
              </a:lnSpc>
              <a:spcBef>
                <a:spcPts val="0"/>
              </a:spcBef>
              <a:spcAft>
                <a:spcPts val="200"/>
              </a:spcAft>
              <a:defRPr sz="1420" b="0">
                <a:solidFill>
                  <a:srgbClr val="152C3B"/>
                </a:solidFill>
                <a:latin typeface="Lato"/>
              </a:defRPr>
            </a:pPr>
            <a:r>
              <a:t>Recovery / thermal-debt ledger*</a:t>
            </a:r>
          </a:p>
        </p:txBody>
      </p:sp>
      <p:sp>
        <p:nvSpPr>
          <p:cNvPr id="28" name="TextBox 27"/>
          <p:cNvSpPr txBox="1"/>
          <p:nvPr/>
        </p:nvSpPr>
        <p:spPr>
          <a:xfrm>
            <a:off x="8366760" y="3099816"/>
            <a:ext cx="3154680" cy="1060704"/>
          </a:xfrm>
          <a:prstGeom prst="rect">
            <a:avLst/>
          </a:prstGeom>
          <a:noFill/>
        </p:spPr>
        <p:txBody>
          <a:bodyPr wrap="square" lIns="0" rIns="0" tIns="0" bIns="0">
            <a:spAutoFit/>
          </a:bodyPr>
          <a:lstStyle/>
          <a:p>
            <a:pPr>
              <a:lnSpc>
                <a:spcPct val="105000"/>
              </a:lnSpc>
              <a:spcBef>
                <a:spcPts val="0"/>
              </a:spcBef>
              <a:spcAft>
                <a:spcPts val="200"/>
              </a:spcAft>
              <a:defRPr sz="1450" b="0">
                <a:solidFill>
                  <a:srgbClr val="152C3B"/>
                </a:solidFill>
                <a:latin typeface="Lato"/>
              </a:defRPr>
            </a:pPr>
            <a:r>
              <a:t>Distinct haptics + OLED status</a:t>
            </a:r>
          </a:p>
          <a:p>
            <a:pPr>
              <a:lnSpc>
                <a:spcPct val="105000"/>
              </a:lnSpc>
              <a:spcBef>
                <a:spcPts val="0"/>
              </a:spcBef>
              <a:spcAft>
                <a:spcPts val="200"/>
              </a:spcAft>
              <a:defRPr sz="1450" b="0">
                <a:solidFill>
                  <a:srgbClr val="152C3B"/>
                </a:solidFill>
                <a:latin typeface="Lato"/>
              </a:defRPr>
            </a:pPr>
            <a:r>
              <a:t>SX1262 LoRa · local peer relay*</a:t>
            </a:r>
          </a:p>
          <a:p>
            <a:pPr>
              <a:lnSpc>
                <a:spcPct val="105000"/>
              </a:lnSpc>
              <a:spcBef>
                <a:spcPts val="0"/>
              </a:spcBef>
              <a:spcAft>
                <a:spcPts val="200"/>
              </a:spcAft>
              <a:defRPr sz="1450" b="0">
                <a:solidFill>
                  <a:srgbClr val="152C3B"/>
                </a:solidFill>
                <a:latin typeface="Lato"/>
              </a:defRPr>
            </a:pPr>
            <a:r>
              <a:t>BLE · Android companion*</a:t>
            </a:r>
          </a:p>
          <a:p>
            <a:pPr>
              <a:lnSpc>
                <a:spcPct val="105000"/>
              </a:lnSpc>
              <a:spcBef>
                <a:spcPts val="0"/>
              </a:spcBef>
              <a:spcAft>
                <a:spcPts val="200"/>
              </a:spcAft>
              <a:defRPr sz="1450" b="0">
                <a:solidFill>
                  <a:srgbClr val="152C3B"/>
                </a:solidFill>
                <a:latin typeface="Lato"/>
              </a:defRPr>
            </a:pPr>
            <a:r>
              <a:t>Local records + protected keys*</a:t>
            </a:r>
          </a:p>
        </p:txBody>
      </p:sp>
      <p:sp>
        <p:nvSpPr>
          <p:cNvPr id="29" name="Chevron 28"/>
          <p:cNvSpPr/>
          <p:nvPr/>
        </p:nvSpPr>
        <p:spPr>
          <a:xfrm>
            <a:off x="4059936" y="3310128"/>
            <a:ext cx="201168" cy="210312"/>
          </a:xfrm>
          <a:prstGeom prst="chevron">
            <a:avLst/>
          </a:prstGeom>
          <a:solidFill>
            <a:srgbClr val="2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hevron 29"/>
          <p:cNvSpPr/>
          <p:nvPr/>
        </p:nvSpPr>
        <p:spPr>
          <a:xfrm>
            <a:off x="7909560" y="3310128"/>
            <a:ext cx="201168" cy="210312"/>
          </a:xfrm>
          <a:prstGeom prst="chevron">
            <a:avLst/>
          </a:prstGeom>
          <a:solidFill>
            <a:srgbClr val="28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xiao_sense.png"/>
          <p:cNvPicPr>
            <a:picLocks noChangeAspect="1"/>
          </p:cNvPicPr>
          <p:nvPr/>
        </p:nvPicPr>
        <p:blipFill>
          <a:blip r:embed="rId4"/>
          <a:stretch>
            <a:fillRect/>
          </a:stretch>
        </p:blipFill>
        <p:spPr>
          <a:xfrm>
            <a:off x="502920" y="4537850"/>
            <a:ext cx="1216152" cy="909546"/>
          </a:xfrm>
          <a:prstGeom prst="rect">
            <a:avLst/>
          </a:prstGeom>
        </p:spPr>
      </p:pic>
      <p:sp>
        <p:nvSpPr>
          <p:cNvPr id="32" name="TextBox 31"/>
          <p:cNvSpPr txBox="1"/>
          <p:nvPr/>
        </p:nvSpPr>
        <p:spPr>
          <a:xfrm>
            <a:off x="1837943" y="4553712"/>
            <a:ext cx="4160520" cy="274320"/>
          </a:xfrm>
          <a:prstGeom prst="rect">
            <a:avLst/>
          </a:prstGeom>
          <a:noFill/>
        </p:spPr>
        <p:txBody>
          <a:bodyPr wrap="square" lIns="0" rIns="0" tIns="0" bIns="0">
            <a:spAutoFit/>
          </a:bodyPr>
          <a:lstStyle/>
          <a:p>
            <a:pPr>
              <a:lnSpc>
                <a:spcPct val="105000"/>
              </a:lnSpc>
              <a:spcBef>
                <a:spcPts val="0"/>
              </a:spcBef>
              <a:spcAft>
                <a:spcPts val="200"/>
              </a:spcAft>
              <a:defRPr sz="1700" b="1">
                <a:solidFill>
                  <a:srgbClr val="152C3B"/>
                </a:solidFill>
                <a:latin typeface="Lato"/>
              </a:defRPr>
            </a:pPr>
            <a:r>
              <a:t>XIAO nRF52840 Sense</a:t>
            </a:r>
          </a:p>
        </p:txBody>
      </p:sp>
      <p:sp>
        <p:nvSpPr>
          <p:cNvPr id="33" name="TextBox 32"/>
          <p:cNvSpPr txBox="1"/>
          <p:nvPr/>
        </p:nvSpPr>
        <p:spPr>
          <a:xfrm>
            <a:off x="1837943" y="4928616"/>
            <a:ext cx="4873752" cy="548640"/>
          </a:xfrm>
          <a:prstGeom prst="rect">
            <a:avLst/>
          </a:prstGeom>
          <a:noFill/>
        </p:spPr>
        <p:txBody>
          <a:bodyPr wrap="square" lIns="0" rIns="0" tIns="0" bIns="0">
            <a:spAutoFit/>
          </a:bodyPr>
          <a:lstStyle/>
          <a:p>
            <a:pPr>
              <a:lnSpc>
                <a:spcPct val="105000"/>
              </a:lnSpc>
              <a:spcBef>
                <a:spcPts val="0"/>
              </a:spcBef>
              <a:spcAft>
                <a:spcPts val="200"/>
              </a:spcAft>
              <a:defRPr sz="1400" b="0">
                <a:solidFill>
                  <a:srgbClr val="5B6C73"/>
                </a:solidFill>
                <a:latin typeface="Lato"/>
              </a:defRPr>
            </a:pPr>
            <a:r>
              <a:t>C/C++ · Arduino   |   TinyML planned</a:t>
            </a:r>
          </a:p>
          <a:p>
            <a:pPr>
              <a:lnSpc>
                <a:spcPct val="105000"/>
              </a:lnSpc>
              <a:spcBef>
                <a:spcPts val="0"/>
              </a:spcBef>
              <a:spcAft>
                <a:spcPts val="200"/>
              </a:spcAft>
              <a:defRPr sz="1400" b="0">
                <a:solidFill>
                  <a:srgbClr val="5B6C73"/>
                </a:solidFill>
                <a:latin typeface="Lato"/>
              </a:defRPr>
            </a:pPr>
            <a:r>
              <a:t>Flutter / Dart · local storage planned</a:t>
            </a:r>
          </a:p>
        </p:txBody>
      </p:sp>
      <p:sp>
        <p:nvSpPr>
          <p:cNvPr id="34" name="TextBox 33"/>
          <p:cNvSpPr txBox="1"/>
          <p:nvPr/>
        </p:nvSpPr>
        <p:spPr>
          <a:xfrm>
            <a:off x="7315200" y="4553712"/>
            <a:ext cx="4050791" cy="274320"/>
          </a:xfrm>
          <a:prstGeom prst="rect">
            <a:avLst/>
          </a:prstGeom>
          <a:noFill/>
        </p:spPr>
        <p:txBody>
          <a:bodyPr wrap="square" lIns="0" rIns="0" tIns="0" bIns="0">
            <a:spAutoFit/>
          </a:bodyPr>
          <a:lstStyle/>
          <a:p>
            <a:pPr>
              <a:lnSpc>
                <a:spcPct val="105000"/>
              </a:lnSpc>
              <a:spcBef>
                <a:spcPts val="0"/>
              </a:spcBef>
              <a:spcAft>
                <a:spcPts val="200"/>
              </a:spcAft>
              <a:defRPr sz="1700" b="1">
                <a:solidFill>
                  <a:srgbClr val="152C3B"/>
                </a:solidFill>
                <a:latin typeface="Lato"/>
              </a:defRPr>
            </a:pPr>
            <a:r>
              <a:t>Privacy by design</a:t>
            </a:r>
          </a:p>
        </p:txBody>
      </p:sp>
      <p:sp>
        <p:nvSpPr>
          <p:cNvPr id="35" name="TextBox 34"/>
          <p:cNvSpPr txBox="1"/>
          <p:nvPr/>
        </p:nvSpPr>
        <p:spPr>
          <a:xfrm>
            <a:off x="7315200" y="4928616"/>
            <a:ext cx="4279392" cy="548640"/>
          </a:xfrm>
          <a:prstGeom prst="rect">
            <a:avLst/>
          </a:prstGeom>
          <a:noFill/>
        </p:spPr>
        <p:txBody>
          <a:bodyPr wrap="square" lIns="0" rIns="0" tIns="0" bIns="0">
            <a:spAutoFit/>
          </a:bodyPr>
          <a:lstStyle/>
          <a:p>
            <a:pPr>
              <a:lnSpc>
                <a:spcPct val="105000"/>
              </a:lnSpc>
              <a:spcBef>
                <a:spcPts val="0"/>
              </a:spcBef>
              <a:spcAft>
                <a:spcPts val="200"/>
              </a:spcAft>
              <a:defRPr sz="1400" b="0">
                <a:solidFill>
                  <a:srgbClr val="5B6C73"/>
                </a:solidFill>
                <a:latin typeface="Lato"/>
              </a:defRPr>
            </a:pPr>
            <a:r>
              <a:t>Keep raw physiology on-device;</a:t>
            </a:r>
          </a:p>
          <a:p>
            <a:pPr>
              <a:lnSpc>
                <a:spcPct val="105000"/>
              </a:lnSpc>
              <a:spcBef>
                <a:spcPts val="0"/>
              </a:spcBef>
              <a:spcAft>
                <a:spcPts val="200"/>
              </a:spcAft>
              <a:defRPr sz="1400" b="0">
                <a:solidFill>
                  <a:srgbClr val="5B6C73"/>
                </a:solidFill>
                <a:latin typeface="Lato"/>
              </a:defRPr>
            </a:pPr>
            <a:r>
              <a:t>share only necessary alert data.*</a:t>
            </a:r>
          </a:p>
        </p:txBody>
      </p:sp>
      <p:sp>
        <p:nvSpPr>
          <p:cNvPr id="36" name="Rounded Rectangle 35"/>
          <p:cNvSpPr/>
          <p:nvPr/>
        </p:nvSpPr>
        <p:spPr>
          <a:xfrm>
            <a:off x="457200" y="5641848"/>
            <a:ext cx="11274552" cy="438912"/>
          </a:xfrm>
          <a:prstGeom prst="roundRect">
            <a:avLst>
              <a:gd name="adj" fmla="val 8000"/>
            </a:avLst>
          </a:prstGeom>
          <a:solidFill>
            <a:srgbClr val="E7EF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640080" y="5760720"/>
            <a:ext cx="10890504" cy="246888"/>
          </a:xfrm>
          <a:prstGeom prst="rect">
            <a:avLst/>
          </a:prstGeom>
          <a:noFill/>
        </p:spPr>
        <p:txBody>
          <a:bodyPr wrap="square" lIns="0" rIns="0" tIns="0" bIns="0">
            <a:spAutoFit/>
          </a:bodyPr>
          <a:lstStyle/>
          <a:p>
            <a:pPr algn="ctr">
              <a:lnSpc>
                <a:spcPct val="105000"/>
              </a:lnSpc>
              <a:spcBef>
                <a:spcPts val="0"/>
              </a:spcBef>
              <a:spcAft>
                <a:spcPts val="200"/>
              </a:spcAft>
              <a:defRPr sz="1600" b="1">
                <a:solidFill>
                  <a:srgbClr val="287F79"/>
                </a:solidFill>
                <a:latin typeface="Lato"/>
              </a:defRPr>
            </a:pPr>
            <a:r>
              <a:t>CAP → connected phone → BLE gateway band → LoRa peers → haptic warning</a:t>
            </a:r>
          </a:p>
        </p:txBody>
      </p:sp>
      <p:sp>
        <p:nvSpPr>
          <p:cNvPr id="38" name="TextBox 37"/>
          <p:cNvSpPr txBox="1"/>
          <p:nvPr/>
        </p:nvSpPr>
        <p:spPr>
          <a:xfrm>
            <a:off x="512064" y="6144768"/>
            <a:ext cx="11155680" cy="164592"/>
          </a:xfrm>
          <a:prstGeom prst="rect">
            <a:avLst/>
          </a:prstGeom>
          <a:noFill/>
        </p:spPr>
        <p:txBody>
          <a:bodyPr wrap="square" lIns="0" rIns="0" tIns="0" bIns="0">
            <a:spAutoFit/>
          </a:bodyPr>
          <a:lstStyle/>
          <a:p>
            <a:pPr>
              <a:lnSpc>
                <a:spcPct val="105000"/>
              </a:lnSpc>
              <a:spcBef>
                <a:spcPts val="0"/>
              </a:spcBef>
              <a:spcAft>
                <a:spcPts val="200"/>
              </a:spcAft>
              <a:defRPr sz="900" b="0">
                <a:solidFill>
                  <a:srgbClr val="5B6C73"/>
                </a:solidFill>
                <a:latin typeface="Lato"/>
              </a:defRPr>
            </a:pPr>
            <a:r>
              <a:t>Board image: Seeed Studio   ·   *Planned / requires validation; air temperature + humidity alone are not full WBGT.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65760" y="292608"/>
            <a:ext cx="1335024" cy="429768"/>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438912" y="425196"/>
            <a:ext cx="1188720" cy="210312"/>
          </a:xfrm>
          <a:prstGeom prst="rect">
            <a:avLst/>
          </a:prstGeom>
          <a:noFill/>
        </p:spPr>
        <p:txBody>
          <a:bodyPr wrap="square" lIns="0" rIns="0" tIns="0" bIns="0">
            <a:spAutoFit/>
          </a:bodyPr>
          <a:lstStyle/>
          <a:p>
            <a:pPr algn="ctr">
              <a:lnSpc>
                <a:spcPct val="105000"/>
              </a:lnSpc>
              <a:spcBef>
                <a:spcPts val="0"/>
              </a:spcBef>
              <a:spcAft>
                <a:spcPts val="200"/>
              </a:spcAft>
              <a:defRPr sz="1000" b="1">
                <a:solidFill>
                  <a:srgbClr val="FFFFFF"/>
                </a:solidFill>
                <a:latin typeface="Lato"/>
              </a:defRPr>
            </a:pPr>
            <a:r>
              <a:t>POINT BREAK</a:t>
            </a:r>
          </a:p>
        </p:txBody>
      </p:sp>
      <p:sp>
        <p:nvSpPr>
          <p:cNvPr id="5" name="TextBox 4"/>
          <p:cNvSpPr txBox="1"/>
          <p:nvPr/>
        </p:nvSpPr>
        <p:spPr>
          <a:xfrm>
            <a:off x="1874519" y="347472"/>
            <a:ext cx="7863840" cy="457200"/>
          </a:xfrm>
          <a:prstGeom prst="rect">
            <a:avLst/>
          </a:prstGeom>
          <a:noFill/>
        </p:spPr>
        <p:txBody>
          <a:bodyPr wrap="square" lIns="0" rIns="0" tIns="0" bIns="0">
            <a:spAutoFit/>
          </a:bodyPr>
          <a:lstStyle/>
          <a:p>
            <a:pPr algn="ctr">
              <a:lnSpc>
                <a:spcPct val="105000"/>
              </a:lnSpc>
              <a:spcBef>
                <a:spcPts val="0"/>
              </a:spcBef>
              <a:spcAft>
                <a:spcPts val="200"/>
              </a:spcAft>
              <a:defRPr sz="2300" b="1">
                <a:solidFill>
                  <a:srgbClr val="152C3B"/>
                </a:solidFill>
                <a:latin typeface="Lato"/>
              </a:defRPr>
            </a:pPr>
            <a:r>
              <a:t>FEASIBILITY AND VIABILITY</a:t>
            </a:r>
          </a:p>
        </p:txBody>
      </p:sp>
      <p:pic>
        <p:nvPicPr>
          <p:cNvPr id="6" name="Picture 5" descr="image.png"/>
          <p:cNvPicPr>
            <a:picLocks noChangeAspect="1"/>
          </p:cNvPicPr>
          <p:nvPr/>
        </p:nvPicPr>
        <p:blipFill>
          <a:blip r:embed="rId3"/>
          <a:stretch>
            <a:fillRect/>
          </a:stretch>
        </p:blipFill>
        <p:spPr>
          <a:xfrm>
            <a:off x="10125030" y="155448"/>
            <a:ext cx="1549235" cy="731520"/>
          </a:xfrm>
          <a:prstGeom prst="rect">
            <a:avLst/>
          </a:prstGeom>
        </p:spPr>
      </p:pic>
      <p:sp>
        <p:nvSpPr>
          <p:cNvPr id="7" name="Rectangle 6"/>
          <p:cNvSpPr/>
          <p:nvPr/>
        </p:nvSpPr>
        <p:spPr>
          <a:xfrm>
            <a:off x="365760" y="1024128"/>
            <a:ext cx="11430000"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0" y="6355080"/>
            <a:ext cx="12191695" cy="5029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11480" y="6510528"/>
            <a:ext cx="2743200" cy="182880"/>
          </a:xfrm>
          <a:prstGeom prst="rect">
            <a:avLst/>
          </a:prstGeom>
          <a:noFill/>
        </p:spPr>
        <p:txBody>
          <a:bodyPr wrap="square" lIns="0" rIns="0" tIns="0" bIns="0">
            <a:spAutoFit/>
          </a:bodyPr>
          <a:lstStyle/>
          <a:p>
            <a:pPr>
              <a:lnSpc>
                <a:spcPct val="105000"/>
              </a:lnSpc>
              <a:spcBef>
                <a:spcPts val="0"/>
              </a:spcBef>
              <a:spcAft>
                <a:spcPts val="200"/>
              </a:spcAft>
              <a:defRPr sz="900" b="1">
                <a:solidFill>
                  <a:srgbClr val="FFFFFF"/>
                </a:solidFill>
                <a:latin typeface="Lato"/>
              </a:defRPr>
            </a:pPr>
            <a:r>
              <a:t>PRAHARI  /  POINT BREAK</a:t>
            </a:r>
          </a:p>
        </p:txBody>
      </p:sp>
      <p:sp>
        <p:nvSpPr>
          <p:cNvPr id="10" name="TextBox 9"/>
          <p:cNvSpPr txBox="1"/>
          <p:nvPr/>
        </p:nvSpPr>
        <p:spPr>
          <a:xfrm>
            <a:off x="4389120" y="6510528"/>
            <a:ext cx="3749039" cy="182880"/>
          </a:xfrm>
          <a:prstGeom prst="rect">
            <a:avLst/>
          </a:prstGeom>
          <a:noFill/>
        </p:spPr>
        <p:txBody>
          <a:bodyPr wrap="square" lIns="0" rIns="0" tIns="0" bIns="0">
            <a:spAutoFit/>
          </a:bodyPr>
          <a:lstStyle/>
          <a:p>
            <a:pPr algn="ctr">
              <a:lnSpc>
                <a:spcPct val="105000"/>
              </a:lnSpc>
              <a:spcBef>
                <a:spcPts val="0"/>
              </a:spcBef>
              <a:spcAft>
                <a:spcPts val="200"/>
              </a:spcAft>
              <a:defRPr sz="900" b="0">
                <a:solidFill>
                  <a:srgbClr val="CFD9DB"/>
                </a:solidFill>
                <a:latin typeface="Lato"/>
              </a:defRPr>
            </a:pPr>
            <a:r>
              <a:t>@SIH Idea submission- Template</a:t>
            </a:r>
          </a:p>
        </p:txBody>
      </p:sp>
      <p:sp>
        <p:nvSpPr>
          <p:cNvPr id="11" name="TextBox 10"/>
          <p:cNvSpPr txBox="1"/>
          <p:nvPr/>
        </p:nvSpPr>
        <p:spPr>
          <a:xfrm>
            <a:off x="10652760" y="6492240"/>
            <a:ext cx="1051560" cy="210312"/>
          </a:xfrm>
          <a:prstGeom prst="rect">
            <a:avLst/>
          </a:prstGeom>
          <a:noFill/>
        </p:spPr>
        <p:txBody>
          <a:bodyPr wrap="square" lIns="0" rIns="0" tIns="0" bIns="0">
            <a:spAutoFit/>
          </a:bodyPr>
          <a:lstStyle/>
          <a:p>
            <a:pPr algn="r">
              <a:lnSpc>
                <a:spcPct val="105000"/>
              </a:lnSpc>
              <a:spcBef>
                <a:spcPts val="0"/>
              </a:spcBef>
              <a:spcAft>
                <a:spcPts val="200"/>
              </a:spcAft>
              <a:defRPr sz="1000" b="1">
                <a:solidFill>
                  <a:srgbClr val="FFFFFF"/>
                </a:solidFill>
                <a:latin typeface="Lato"/>
              </a:defRPr>
            </a:pPr>
            <a:r>
              <a:t>04 / 06</a:t>
            </a:r>
          </a:p>
        </p:txBody>
      </p:sp>
      <p:sp>
        <p:nvSpPr>
          <p:cNvPr id="12" name="TextBox 11"/>
          <p:cNvSpPr txBox="1"/>
          <p:nvPr/>
        </p:nvSpPr>
        <p:spPr>
          <a:xfrm>
            <a:off x="457200" y="1243584"/>
            <a:ext cx="11247120" cy="475488"/>
          </a:xfrm>
          <a:prstGeom prst="rect">
            <a:avLst/>
          </a:prstGeom>
          <a:noFill/>
        </p:spPr>
        <p:txBody>
          <a:bodyPr wrap="square" lIns="0" rIns="0" tIns="0" bIns="0">
            <a:spAutoFit/>
          </a:bodyPr>
          <a:lstStyle/>
          <a:p>
            <a:pPr>
              <a:lnSpc>
                <a:spcPct val="105000"/>
              </a:lnSpc>
              <a:spcBef>
                <a:spcPts val="0"/>
              </a:spcBef>
              <a:spcAft>
                <a:spcPts val="200"/>
              </a:spcAft>
              <a:defRPr sz="2800" b="1">
                <a:solidFill>
                  <a:srgbClr val="152C3B"/>
                </a:solidFill>
                <a:latin typeface="Lato"/>
              </a:defRPr>
            </a:pPr>
            <a:r>
              <a:t>A working sensing core. A focused path to a field pilot.</a:t>
            </a:r>
          </a:p>
        </p:txBody>
      </p:sp>
      <p:sp>
        <p:nvSpPr>
          <p:cNvPr id="13" name="Rounded Rectangle 12"/>
          <p:cNvSpPr/>
          <p:nvPr/>
        </p:nvSpPr>
        <p:spPr>
          <a:xfrm>
            <a:off x="457200" y="1993392"/>
            <a:ext cx="3657600" cy="3099816"/>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85800" y="2212848"/>
            <a:ext cx="3163824" cy="310896"/>
          </a:xfrm>
          <a:prstGeom prst="rect">
            <a:avLst/>
          </a:prstGeom>
          <a:noFill/>
        </p:spPr>
        <p:txBody>
          <a:bodyPr wrap="square" lIns="0" rIns="0" tIns="0" bIns="0">
            <a:spAutoFit/>
          </a:bodyPr>
          <a:lstStyle/>
          <a:p>
            <a:pPr>
              <a:lnSpc>
                <a:spcPct val="105000"/>
              </a:lnSpc>
              <a:spcBef>
                <a:spcPts val="0"/>
              </a:spcBef>
              <a:spcAft>
                <a:spcPts val="200"/>
              </a:spcAft>
              <a:defRPr sz="1700" b="1">
                <a:solidFill>
                  <a:srgbClr val="E5AE48"/>
                </a:solidFill>
                <a:latin typeface="Lato"/>
              </a:defRPr>
            </a:pPr>
            <a:r>
              <a:t>FEASIBILITY TODAY</a:t>
            </a:r>
          </a:p>
        </p:txBody>
      </p:sp>
      <p:sp>
        <p:nvSpPr>
          <p:cNvPr id="15" name="TextBox 14"/>
          <p:cNvSpPr txBox="1"/>
          <p:nvPr/>
        </p:nvSpPr>
        <p:spPr>
          <a:xfrm>
            <a:off x="685800" y="2715768"/>
            <a:ext cx="3200400" cy="292608"/>
          </a:xfrm>
          <a:prstGeom prst="rect">
            <a:avLst/>
          </a:prstGeom>
          <a:noFill/>
        </p:spPr>
        <p:txBody>
          <a:bodyPr wrap="square" lIns="0" rIns="0" tIns="0" bIns="0">
            <a:spAutoFit/>
          </a:bodyPr>
          <a:lstStyle/>
          <a:p>
            <a:pPr>
              <a:lnSpc>
                <a:spcPct val="105000"/>
              </a:lnSpc>
              <a:spcBef>
                <a:spcPts val="0"/>
              </a:spcBef>
              <a:spcAft>
                <a:spcPts val="200"/>
              </a:spcAft>
              <a:defRPr sz="1800" b="1">
                <a:solidFill>
                  <a:srgbClr val="FFFFFF"/>
                </a:solidFill>
                <a:latin typeface="Lato"/>
              </a:defRPr>
            </a:pPr>
            <a:r>
              <a:t>Verified on the bench</a:t>
            </a:r>
          </a:p>
        </p:txBody>
      </p:sp>
      <p:sp>
        <p:nvSpPr>
          <p:cNvPr id="16" name="TextBox 15"/>
          <p:cNvSpPr txBox="1"/>
          <p:nvPr/>
        </p:nvSpPr>
        <p:spPr>
          <a:xfrm>
            <a:off x="685800" y="3127248"/>
            <a:ext cx="3172968" cy="621792"/>
          </a:xfrm>
          <a:prstGeom prst="rect">
            <a:avLst/>
          </a:prstGeom>
          <a:noFill/>
        </p:spPr>
        <p:txBody>
          <a:bodyPr wrap="square" lIns="0" rIns="0" tIns="0" bIns="0">
            <a:spAutoFit/>
          </a:bodyPr>
          <a:lstStyle/>
          <a:p>
            <a:pPr>
              <a:lnSpc>
                <a:spcPct val="105000"/>
              </a:lnSpc>
              <a:spcBef>
                <a:spcPts val="0"/>
              </a:spcBef>
              <a:spcAft>
                <a:spcPts val="200"/>
              </a:spcAft>
              <a:defRPr sz="1500" b="0">
                <a:solidFill>
                  <a:srgbClr val="FFFFFF"/>
                </a:solidFill>
                <a:latin typeface="Lato"/>
              </a:defRPr>
            </a:pPr>
            <a:r>
              <a:t>Live heart-rate sensing + OLED</a:t>
            </a:r>
          </a:p>
          <a:p>
            <a:pPr>
              <a:lnSpc>
                <a:spcPct val="105000"/>
              </a:lnSpc>
              <a:spcBef>
                <a:spcPts val="0"/>
              </a:spcBef>
              <a:spcAft>
                <a:spcPts val="200"/>
              </a:spcAft>
              <a:defRPr sz="1500" b="0">
                <a:solidFill>
                  <a:srgbClr val="FFFFFF"/>
                </a:solidFill>
                <a:latin typeface="Lato"/>
              </a:defRPr>
            </a:pPr>
            <a:r>
              <a:t>I²C discovery and sensor diagnostics</a:t>
            </a:r>
          </a:p>
        </p:txBody>
      </p:sp>
      <p:sp>
        <p:nvSpPr>
          <p:cNvPr id="17" name="TextBox 16"/>
          <p:cNvSpPr txBox="1"/>
          <p:nvPr/>
        </p:nvSpPr>
        <p:spPr>
          <a:xfrm>
            <a:off x="685800" y="3877056"/>
            <a:ext cx="3200400" cy="310896"/>
          </a:xfrm>
          <a:prstGeom prst="rect">
            <a:avLst/>
          </a:prstGeom>
          <a:noFill/>
        </p:spPr>
        <p:txBody>
          <a:bodyPr wrap="square" lIns="0" rIns="0" tIns="0" bIns="0">
            <a:spAutoFit/>
          </a:bodyPr>
          <a:lstStyle/>
          <a:p>
            <a:pPr>
              <a:lnSpc>
                <a:spcPct val="105000"/>
              </a:lnSpc>
              <a:spcBef>
                <a:spcPts val="0"/>
              </a:spcBef>
              <a:spcAft>
                <a:spcPts val="200"/>
              </a:spcAft>
              <a:defRPr sz="1800" b="1">
                <a:solidFill>
                  <a:srgbClr val="FFFFFF"/>
                </a:solidFill>
                <a:latin typeface="Lato"/>
              </a:defRPr>
            </a:pPr>
            <a:r>
              <a:t>Engineering in progress</a:t>
            </a:r>
          </a:p>
        </p:txBody>
      </p:sp>
      <p:sp>
        <p:nvSpPr>
          <p:cNvPr id="18" name="TextBox 17"/>
          <p:cNvSpPr txBox="1"/>
          <p:nvPr/>
        </p:nvSpPr>
        <p:spPr>
          <a:xfrm>
            <a:off x="685800" y="4279392"/>
            <a:ext cx="3172968" cy="685800"/>
          </a:xfrm>
          <a:prstGeom prst="rect">
            <a:avLst/>
          </a:prstGeom>
          <a:noFill/>
        </p:spPr>
        <p:txBody>
          <a:bodyPr wrap="square" lIns="0" rIns="0" tIns="0" bIns="0">
            <a:spAutoFit/>
          </a:bodyPr>
          <a:lstStyle/>
          <a:p>
            <a:pPr>
              <a:lnSpc>
                <a:spcPct val="105000"/>
              </a:lnSpc>
              <a:spcBef>
                <a:spcPts val="0"/>
              </a:spcBef>
              <a:spcAft>
                <a:spcPts val="200"/>
              </a:spcAft>
              <a:defRPr sz="1400" b="0">
                <a:solidFill>
                  <a:srgbClr val="D2DFE0"/>
                </a:solidFill>
                <a:latin typeface="Lato"/>
              </a:defRPr>
            </a:pPr>
            <a:r>
              <a:t>Rev B PCB + BOM available</a:t>
            </a:r>
          </a:p>
          <a:p>
            <a:pPr>
              <a:lnSpc>
                <a:spcPct val="105000"/>
              </a:lnSpc>
              <a:spcBef>
                <a:spcPts val="0"/>
              </a:spcBef>
              <a:spcAft>
                <a:spcPts val="200"/>
              </a:spcAft>
              <a:defRPr sz="1400" b="0">
                <a:solidFill>
                  <a:srgbClr val="D2DFE0"/>
                </a:solidFill>
                <a:latin typeface="Lato"/>
              </a:defRPr>
            </a:pPr>
            <a:r>
              <a:t>Radio bring-up / PCB checks open</a:t>
            </a:r>
          </a:p>
          <a:p>
            <a:pPr>
              <a:lnSpc>
                <a:spcPct val="105000"/>
              </a:lnSpc>
              <a:spcBef>
                <a:spcPts val="0"/>
              </a:spcBef>
              <a:spcAft>
                <a:spcPts val="200"/>
              </a:spcAft>
              <a:defRPr sz="1400" b="0">
                <a:solidFill>
                  <a:srgbClr val="D2DFE0"/>
                </a:solidFill>
                <a:latin typeface="Lato"/>
              </a:defRPr>
            </a:pPr>
            <a:r>
              <a:t>App + forecasting + relay to integrate</a:t>
            </a:r>
          </a:p>
        </p:txBody>
      </p:sp>
      <p:sp>
        <p:nvSpPr>
          <p:cNvPr id="19" name="TextBox 18"/>
          <p:cNvSpPr txBox="1"/>
          <p:nvPr/>
        </p:nvSpPr>
        <p:spPr>
          <a:xfrm>
            <a:off x="4425696" y="2057400"/>
            <a:ext cx="2386584" cy="237744"/>
          </a:xfrm>
          <a:prstGeom prst="rect">
            <a:avLst/>
          </a:prstGeom>
          <a:noFill/>
        </p:spPr>
        <p:txBody>
          <a:bodyPr wrap="square" lIns="0" rIns="0" tIns="0" bIns="0">
            <a:spAutoFit/>
          </a:bodyPr>
          <a:lstStyle/>
          <a:p>
            <a:pPr>
              <a:lnSpc>
                <a:spcPct val="105000"/>
              </a:lnSpc>
              <a:spcBef>
                <a:spcPts val="0"/>
              </a:spcBef>
              <a:spcAft>
                <a:spcPts val="200"/>
              </a:spcAft>
              <a:defRPr sz="1100" b="1">
                <a:solidFill>
                  <a:srgbClr val="287F79"/>
                </a:solidFill>
                <a:latin typeface="Lato"/>
              </a:defRPr>
            </a:pPr>
            <a:r>
              <a:t>CHALLENGE</a:t>
            </a:r>
          </a:p>
        </p:txBody>
      </p:sp>
      <p:sp>
        <p:nvSpPr>
          <p:cNvPr id="20" name="TextBox 19"/>
          <p:cNvSpPr txBox="1"/>
          <p:nvPr/>
        </p:nvSpPr>
        <p:spPr>
          <a:xfrm>
            <a:off x="7022592" y="2057400"/>
            <a:ext cx="4562856" cy="237744"/>
          </a:xfrm>
          <a:prstGeom prst="rect">
            <a:avLst/>
          </a:prstGeom>
          <a:noFill/>
        </p:spPr>
        <p:txBody>
          <a:bodyPr wrap="square" lIns="0" rIns="0" tIns="0" bIns="0">
            <a:spAutoFit/>
          </a:bodyPr>
          <a:lstStyle/>
          <a:p>
            <a:pPr>
              <a:lnSpc>
                <a:spcPct val="105000"/>
              </a:lnSpc>
              <a:spcBef>
                <a:spcPts val="0"/>
              </a:spcBef>
              <a:spcAft>
                <a:spcPts val="200"/>
              </a:spcAft>
              <a:defRPr sz="1100" b="1">
                <a:solidFill>
                  <a:srgbClr val="287F79"/>
                </a:solidFill>
                <a:latin typeface="Lato"/>
              </a:defRPr>
            </a:pPr>
            <a:r>
              <a:t>STRATEGY TO OVERCOME IT</a:t>
            </a:r>
          </a:p>
        </p:txBody>
      </p:sp>
      <p:sp>
        <p:nvSpPr>
          <p:cNvPr id="21" name="Rectangle 20"/>
          <p:cNvSpPr/>
          <p:nvPr/>
        </p:nvSpPr>
        <p:spPr>
          <a:xfrm>
            <a:off x="4407408" y="2441448"/>
            <a:ext cx="7287768"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25696" y="2542032"/>
            <a:ext cx="2368296" cy="603504"/>
          </a:xfrm>
          <a:prstGeom prst="rect">
            <a:avLst/>
          </a:prstGeom>
          <a:noFill/>
        </p:spPr>
        <p:txBody>
          <a:bodyPr wrap="square" lIns="0" rIns="0" tIns="0" bIns="0">
            <a:spAutoFit/>
          </a:bodyPr>
          <a:lstStyle/>
          <a:p>
            <a:pPr>
              <a:lnSpc>
                <a:spcPct val="105000"/>
              </a:lnSpc>
              <a:spcBef>
                <a:spcPts val="0"/>
              </a:spcBef>
              <a:spcAft>
                <a:spcPts val="200"/>
              </a:spcAft>
              <a:defRPr sz="1600" b="1">
                <a:solidFill>
                  <a:srgbClr val="152C3B"/>
                </a:solidFill>
                <a:latin typeface="Lato"/>
              </a:defRPr>
            </a:pPr>
            <a:r>
              <a:t>Motion &amp; sensor uncertainty</a:t>
            </a:r>
          </a:p>
        </p:txBody>
      </p:sp>
      <p:sp>
        <p:nvSpPr>
          <p:cNvPr id="23" name="TextBox 22"/>
          <p:cNvSpPr txBox="1"/>
          <p:nvPr/>
        </p:nvSpPr>
        <p:spPr>
          <a:xfrm>
            <a:off x="7022592" y="2542032"/>
            <a:ext cx="4645152" cy="640080"/>
          </a:xfrm>
          <a:prstGeom prst="rect">
            <a:avLst/>
          </a:prstGeom>
          <a:noFill/>
        </p:spPr>
        <p:txBody>
          <a:bodyPr wrap="square" lIns="0" rIns="0" tIns="0" bIns="0">
            <a:spAutoFit/>
          </a:bodyPr>
          <a:lstStyle/>
          <a:p>
            <a:pPr>
              <a:lnSpc>
                <a:spcPct val="105000"/>
              </a:lnSpc>
              <a:spcBef>
                <a:spcPts val="0"/>
              </a:spcBef>
              <a:spcAft>
                <a:spcPts val="200"/>
              </a:spcAft>
              <a:defRPr sz="1500" b="0">
                <a:solidFill>
                  <a:srgbClr val="5B6C73"/>
                </a:solidFill>
                <a:latin typeface="Lato"/>
              </a:defRPr>
            </a:pPr>
            <a:r>
              <a:t>Quality gate; reference-device validation;</a:t>
            </a:r>
          </a:p>
          <a:p>
            <a:pPr>
              <a:lnSpc>
                <a:spcPct val="105000"/>
              </a:lnSpc>
              <a:spcBef>
                <a:spcPts val="0"/>
              </a:spcBef>
              <a:spcAft>
                <a:spcPts val="200"/>
              </a:spcAft>
              <a:defRPr sz="1500" b="0">
                <a:solidFill>
                  <a:srgbClr val="5B6C73"/>
                </a:solidFill>
                <a:latin typeface="Lato"/>
              </a:defRPr>
            </a:pPr>
            <a:r>
              <a:t>show “estimate unavailable” on poor signal.</a:t>
            </a:r>
          </a:p>
        </p:txBody>
      </p:sp>
      <p:sp>
        <p:nvSpPr>
          <p:cNvPr id="24" name="Rectangle 23"/>
          <p:cNvSpPr/>
          <p:nvPr/>
        </p:nvSpPr>
        <p:spPr>
          <a:xfrm>
            <a:off x="4407408" y="3282696"/>
            <a:ext cx="7287768"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25696" y="3383279"/>
            <a:ext cx="2368296" cy="603504"/>
          </a:xfrm>
          <a:prstGeom prst="rect">
            <a:avLst/>
          </a:prstGeom>
          <a:noFill/>
        </p:spPr>
        <p:txBody>
          <a:bodyPr wrap="square" lIns="0" rIns="0" tIns="0" bIns="0">
            <a:spAutoFit/>
          </a:bodyPr>
          <a:lstStyle/>
          <a:p>
            <a:pPr>
              <a:lnSpc>
                <a:spcPct val="105000"/>
              </a:lnSpc>
              <a:spcBef>
                <a:spcPts val="0"/>
              </a:spcBef>
              <a:spcAft>
                <a:spcPts val="200"/>
              </a:spcAft>
              <a:defRPr sz="1600" b="1">
                <a:solidFill>
                  <a:srgbClr val="152C3B"/>
                </a:solidFill>
                <a:latin typeface="Lato"/>
              </a:defRPr>
            </a:pPr>
            <a:r>
              <a:t>Radio loss &amp; stale alerts</a:t>
            </a:r>
          </a:p>
        </p:txBody>
      </p:sp>
      <p:sp>
        <p:nvSpPr>
          <p:cNvPr id="26" name="TextBox 25"/>
          <p:cNvSpPr txBox="1"/>
          <p:nvPr/>
        </p:nvSpPr>
        <p:spPr>
          <a:xfrm>
            <a:off x="7022592" y="3383279"/>
            <a:ext cx="4645152" cy="640080"/>
          </a:xfrm>
          <a:prstGeom prst="rect">
            <a:avLst/>
          </a:prstGeom>
          <a:noFill/>
        </p:spPr>
        <p:txBody>
          <a:bodyPr wrap="square" lIns="0" rIns="0" tIns="0" bIns="0">
            <a:spAutoFit/>
          </a:bodyPr>
          <a:lstStyle/>
          <a:p>
            <a:pPr>
              <a:lnSpc>
                <a:spcPct val="105000"/>
              </a:lnSpc>
              <a:spcBef>
                <a:spcPts val="0"/>
              </a:spcBef>
              <a:spcAft>
                <a:spcPts val="200"/>
              </a:spcAft>
              <a:defRPr sz="1500" b="0">
                <a:solidFill>
                  <a:srgbClr val="5B6C73"/>
                </a:solidFill>
                <a:latin typeface="Lato"/>
              </a:defRPr>
            </a:pPr>
            <a:r>
              <a:t>Time stamps, expiry, deduplication, hop limits;</a:t>
            </a:r>
          </a:p>
          <a:p>
            <a:pPr>
              <a:lnSpc>
                <a:spcPct val="105000"/>
              </a:lnSpc>
              <a:spcBef>
                <a:spcPts val="0"/>
              </a:spcBef>
              <a:spcAft>
                <a:spcPts val="200"/>
              </a:spcAft>
              <a:defRPr sz="1500" b="0">
                <a:solidFill>
                  <a:srgbClr val="5B6C73"/>
                </a:solidFill>
                <a:latin typeface="Lato"/>
              </a:defRPr>
            </a:pPr>
            <a:r>
              <a:t>measure delivery and battery life in the field.</a:t>
            </a:r>
          </a:p>
        </p:txBody>
      </p:sp>
      <p:sp>
        <p:nvSpPr>
          <p:cNvPr id="27" name="Rectangle 26"/>
          <p:cNvSpPr/>
          <p:nvPr/>
        </p:nvSpPr>
        <p:spPr>
          <a:xfrm>
            <a:off x="4407408" y="4123944"/>
            <a:ext cx="7287768"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4425696" y="4224528"/>
            <a:ext cx="2368296" cy="603504"/>
          </a:xfrm>
          <a:prstGeom prst="rect">
            <a:avLst/>
          </a:prstGeom>
          <a:noFill/>
        </p:spPr>
        <p:txBody>
          <a:bodyPr wrap="square" lIns="0" rIns="0" tIns="0" bIns="0">
            <a:spAutoFit/>
          </a:bodyPr>
          <a:lstStyle/>
          <a:p>
            <a:pPr>
              <a:lnSpc>
                <a:spcPct val="105000"/>
              </a:lnSpc>
              <a:spcBef>
                <a:spcPts val="0"/>
              </a:spcBef>
              <a:spcAft>
                <a:spcPts val="200"/>
              </a:spcAft>
              <a:defRPr sz="1600" b="1">
                <a:solidFill>
                  <a:srgbClr val="152C3B"/>
                </a:solidFill>
                <a:latin typeface="Lato"/>
              </a:defRPr>
            </a:pPr>
            <a:r>
              <a:t>Fit, power &amp; deployment cost</a:t>
            </a:r>
          </a:p>
        </p:txBody>
      </p:sp>
      <p:sp>
        <p:nvSpPr>
          <p:cNvPr id="29" name="TextBox 28"/>
          <p:cNvSpPr txBox="1"/>
          <p:nvPr/>
        </p:nvSpPr>
        <p:spPr>
          <a:xfrm>
            <a:off x="7022592" y="4224528"/>
            <a:ext cx="4645152" cy="640080"/>
          </a:xfrm>
          <a:prstGeom prst="rect">
            <a:avLst/>
          </a:prstGeom>
          <a:noFill/>
        </p:spPr>
        <p:txBody>
          <a:bodyPr wrap="square" lIns="0" rIns="0" tIns="0" bIns="0">
            <a:spAutoFit/>
          </a:bodyPr>
          <a:lstStyle/>
          <a:p>
            <a:pPr>
              <a:lnSpc>
                <a:spcPct val="105000"/>
              </a:lnSpc>
              <a:spcBef>
                <a:spcPts val="0"/>
              </a:spcBef>
              <a:spcAft>
                <a:spcPts val="200"/>
              </a:spcAft>
              <a:defRPr sz="1500" b="0">
                <a:solidFill>
                  <a:srgbClr val="5B6C73"/>
                </a:solidFill>
                <a:latin typeface="Lato"/>
              </a:defRPr>
            </a:pPr>
            <a:r>
              <a:t>Modular parts; duty cycling; enclosure trials;</a:t>
            </a:r>
          </a:p>
          <a:p>
            <a:pPr>
              <a:lnSpc>
                <a:spcPct val="105000"/>
              </a:lnSpc>
              <a:spcBef>
                <a:spcPts val="0"/>
              </a:spcBef>
              <a:spcAft>
                <a:spcPts val="200"/>
              </a:spcAft>
              <a:defRPr sz="1500" b="0">
                <a:solidFill>
                  <a:srgbClr val="5B6C73"/>
                </a:solidFill>
                <a:latin typeface="Lato"/>
              </a:defRPr>
            </a:pPr>
            <a:r>
              <a:t>quote the complete rev B assembly before pilot.</a:t>
            </a:r>
          </a:p>
        </p:txBody>
      </p:sp>
      <p:sp>
        <p:nvSpPr>
          <p:cNvPr id="30" name="TextBox 29"/>
          <p:cNvSpPr txBox="1"/>
          <p:nvPr/>
        </p:nvSpPr>
        <p:spPr>
          <a:xfrm>
            <a:off x="475488" y="5330952"/>
            <a:ext cx="3200400" cy="274320"/>
          </a:xfrm>
          <a:prstGeom prst="rect">
            <a:avLst/>
          </a:prstGeom>
          <a:noFill/>
        </p:spPr>
        <p:txBody>
          <a:bodyPr wrap="square" lIns="0" rIns="0" tIns="0" bIns="0">
            <a:spAutoFit/>
          </a:bodyPr>
          <a:lstStyle/>
          <a:p>
            <a:pPr>
              <a:lnSpc>
                <a:spcPct val="105000"/>
              </a:lnSpc>
              <a:spcBef>
                <a:spcPts val="0"/>
              </a:spcBef>
              <a:spcAft>
                <a:spcPts val="200"/>
              </a:spcAft>
              <a:defRPr sz="1500" b="1">
                <a:solidFill>
                  <a:srgbClr val="287F79"/>
                </a:solidFill>
                <a:latin typeface="Lato"/>
              </a:defRPr>
            </a:pPr>
            <a:r>
              <a:t>Pilot readiness gates</a:t>
            </a:r>
          </a:p>
        </p:txBody>
      </p:sp>
      <p:sp>
        <p:nvSpPr>
          <p:cNvPr id="31" name="TextBox 30"/>
          <p:cNvSpPr txBox="1"/>
          <p:nvPr/>
        </p:nvSpPr>
        <p:spPr>
          <a:xfrm>
            <a:off x="3584448" y="5321808"/>
            <a:ext cx="420624" cy="329184"/>
          </a:xfrm>
          <a:prstGeom prst="rect">
            <a:avLst/>
          </a:prstGeom>
          <a:noFill/>
        </p:spPr>
        <p:txBody>
          <a:bodyPr wrap="square" lIns="0" rIns="0" tIns="0" bIns="0">
            <a:spAutoFit/>
          </a:bodyPr>
          <a:lstStyle/>
          <a:p>
            <a:pPr>
              <a:lnSpc>
                <a:spcPct val="105000"/>
              </a:lnSpc>
              <a:spcBef>
                <a:spcPts val="0"/>
              </a:spcBef>
              <a:spcAft>
                <a:spcPts val="200"/>
              </a:spcAft>
              <a:defRPr sz="1800" b="1">
                <a:solidFill>
                  <a:srgbClr val="287F79"/>
                </a:solidFill>
                <a:latin typeface="Lato"/>
              </a:defRPr>
            </a:pPr>
            <a:r>
              <a:t>01</a:t>
            </a:r>
          </a:p>
        </p:txBody>
      </p:sp>
      <p:sp>
        <p:nvSpPr>
          <p:cNvPr id="32" name="TextBox 31"/>
          <p:cNvSpPr txBox="1"/>
          <p:nvPr/>
        </p:nvSpPr>
        <p:spPr>
          <a:xfrm>
            <a:off x="4087368" y="5349240"/>
            <a:ext cx="2039112" cy="502920"/>
          </a:xfrm>
          <a:prstGeom prst="rect">
            <a:avLst/>
          </a:prstGeom>
          <a:noFill/>
        </p:spPr>
        <p:txBody>
          <a:bodyPr wrap="square" lIns="0" rIns="0" tIns="0" bIns="0">
            <a:spAutoFit/>
          </a:bodyPr>
          <a:lstStyle/>
          <a:p>
            <a:pPr>
              <a:lnSpc>
                <a:spcPct val="105000"/>
              </a:lnSpc>
              <a:spcBef>
                <a:spcPts val="0"/>
              </a:spcBef>
              <a:spcAft>
                <a:spcPts val="200"/>
              </a:spcAft>
              <a:defRPr sz="1400" b="1">
                <a:solidFill>
                  <a:srgbClr val="152C3B"/>
                </a:solidFill>
                <a:latin typeface="Lato"/>
              </a:defRPr>
            </a:pPr>
            <a:r>
              <a:t>Close hardware issues</a:t>
            </a:r>
          </a:p>
        </p:txBody>
      </p:sp>
      <p:sp>
        <p:nvSpPr>
          <p:cNvPr id="33" name="TextBox 32"/>
          <p:cNvSpPr txBox="1"/>
          <p:nvPr/>
        </p:nvSpPr>
        <p:spPr>
          <a:xfrm>
            <a:off x="6345936" y="5321808"/>
            <a:ext cx="420624" cy="329184"/>
          </a:xfrm>
          <a:prstGeom prst="rect">
            <a:avLst/>
          </a:prstGeom>
          <a:noFill/>
        </p:spPr>
        <p:txBody>
          <a:bodyPr wrap="square" lIns="0" rIns="0" tIns="0" bIns="0">
            <a:spAutoFit/>
          </a:bodyPr>
          <a:lstStyle/>
          <a:p>
            <a:pPr>
              <a:lnSpc>
                <a:spcPct val="105000"/>
              </a:lnSpc>
              <a:spcBef>
                <a:spcPts val="0"/>
              </a:spcBef>
              <a:spcAft>
                <a:spcPts val="200"/>
              </a:spcAft>
              <a:defRPr sz="1800" b="1">
                <a:solidFill>
                  <a:srgbClr val="287F79"/>
                </a:solidFill>
                <a:latin typeface="Lato"/>
              </a:defRPr>
            </a:pPr>
            <a:r>
              <a:t>02</a:t>
            </a:r>
          </a:p>
        </p:txBody>
      </p:sp>
      <p:sp>
        <p:nvSpPr>
          <p:cNvPr id="34" name="TextBox 33"/>
          <p:cNvSpPr txBox="1"/>
          <p:nvPr/>
        </p:nvSpPr>
        <p:spPr>
          <a:xfrm>
            <a:off x="6848856" y="5349240"/>
            <a:ext cx="2039112" cy="502920"/>
          </a:xfrm>
          <a:prstGeom prst="rect">
            <a:avLst/>
          </a:prstGeom>
          <a:noFill/>
        </p:spPr>
        <p:txBody>
          <a:bodyPr wrap="square" lIns="0" rIns="0" tIns="0" bIns="0">
            <a:spAutoFit/>
          </a:bodyPr>
          <a:lstStyle/>
          <a:p>
            <a:pPr>
              <a:lnSpc>
                <a:spcPct val="105000"/>
              </a:lnSpc>
              <a:spcBef>
                <a:spcPts val="0"/>
              </a:spcBef>
              <a:spcAft>
                <a:spcPts val="200"/>
              </a:spcAft>
              <a:defRPr sz="1400" b="1">
                <a:solidFill>
                  <a:srgbClr val="152C3B"/>
                </a:solidFill>
                <a:latin typeface="Lato"/>
              </a:defRPr>
            </a:pPr>
            <a:r>
              <a:t>Validate sensing + relay</a:t>
            </a:r>
          </a:p>
        </p:txBody>
      </p:sp>
      <p:sp>
        <p:nvSpPr>
          <p:cNvPr id="35" name="TextBox 34"/>
          <p:cNvSpPr txBox="1"/>
          <p:nvPr/>
        </p:nvSpPr>
        <p:spPr>
          <a:xfrm>
            <a:off x="9189720" y="5321808"/>
            <a:ext cx="420624" cy="329184"/>
          </a:xfrm>
          <a:prstGeom prst="rect">
            <a:avLst/>
          </a:prstGeom>
          <a:noFill/>
        </p:spPr>
        <p:txBody>
          <a:bodyPr wrap="square" lIns="0" rIns="0" tIns="0" bIns="0">
            <a:spAutoFit/>
          </a:bodyPr>
          <a:lstStyle/>
          <a:p>
            <a:pPr>
              <a:lnSpc>
                <a:spcPct val="105000"/>
              </a:lnSpc>
              <a:spcBef>
                <a:spcPts val="0"/>
              </a:spcBef>
              <a:spcAft>
                <a:spcPts val="200"/>
              </a:spcAft>
              <a:defRPr sz="1800" b="1">
                <a:solidFill>
                  <a:srgbClr val="287F79"/>
                </a:solidFill>
                <a:latin typeface="Lato"/>
              </a:defRPr>
            </a:pPr>
            <a:r>
              <a:t>03</a:t>
            </a:r>
          </a:p>
        </p:txBody>
      </p:sp>
      <p:sp>
        <p:nvSpPr>
          <p:cNvPr id="36" name="TextBox 35"/>
          <p:cNvSpPr txBox="1"/>
          <p:nvPr/>
        </p:nvSpPr>
        <p:spPr>
          <a:xfrm>
            <a:off x="9692640" y="5349240"/>
            <a:ext cx="2039112" cy="502920"/>
          </a:xfrm>
          <a:prstGeom prst="rect">
            <a:avLst/>
          </a:prstGeom>
          <a:noFill/>
        </p:spPr>
        <p:txBody>
          <a:bodyPr wrap="square" lIns="0" rIns="0" tIns="0" bIns="0">
            <a:spAutoFit/>
          </a:bodyPr>
          <a:lstStyle/>
          <a:p>
            <a:pPr>
              <a:lnSpc>
                <a:spcPct val="105000"/>
              </a:lnSpc>
              <a:spcBef>
                <a:spcPts val="0"/>
              </a:spcBef>
              <a:spcAft>
                <a:spcPts val="200"/>
              </a:spcAft>
              <a:defRPr sz="1400" b="1">
                <a:solidFill>
                  <a:srgbClr val="152C3B"/>
                </a:solidFill>
                <a:latin typeface="Lato"/>
              </a:defRPr>
            </a:pPr>
            <a:r>
              <a:t>Supervised worker pilot</a:t>
            </a:r>
          </a:p>
        </p:txBody>
      </p:sp>
      <p:sp>
        <p:nvSpPr>
          <p:cNvPr id="37" name="TextBox 36"/>
          <p:cNvSpPr txBox="1"/>
          <p:nvPr/>
        </p:nvSpPr>
        <p:spPr>
          <a:xfrm>
            <a:off x="484632" y="5952744"/>
            <a:ext cx="11109960" cy="265176"/>
          </a:xfrm>
          <a:prstGeom prst="rect">
            <a:avLst/>
          </a:prstGeom>
          <a:noFill/>
        </p:spPr>
        <p:txBody>
          <a:bodyPr wrap="square" lIns="0" rIns="0" tIns="0" bIns="0">
            <a:spAutoFit/>
          </a:bodyPr>
          <a:lstStyle/>
          <a:p>
            <a:pPr>
              <a:lnSpc>
                <a:spcPct val="105000"/>
              </a:lnSpc>
              <a:spcBef>
                <a:spcPts val="0"/>
              </a:spcBef>
              <a:spcAft>
                <a:spcPts val="200"/>
              </a:spcAft>
              <a:defRPr sz="1200" b="0">
                <a:solidFill>
                  <a:srgbClr val="5B6C73"/>
                </a:solidFill>
                <a:latin typeface="Lato"/>
              </a:defRPr>
            </a:pPr>
            <a:r>
              <a:t>Economic viability: off-the-shelf modules + a two-layer PCB; final cost awaits rev B BOM, battery, enclosure and assembly quotes.</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65760" y="292608"/>
            <a:ext cx="1335024" cy="429768"/>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438912" y="425196"/>
            <a:ext cx="1188720" cy="210312"/>
          </a:xfrm>
          <a:prstGeom prst="rect">
            <a:avLst/>
          </a:prstGeom>
          <a:noFill/>
        </p:spPr>
        <p:txBody>
          <a:bodyPr wrap="square" lIns="0" rIns="0" tIns="0" bIns="0">
            <a:spAutoFit/>
          </a:bodyPr>
          <a:lstStyle/>
          <a:p>
            <a:pPr algn="ctr">
              <a:lnSpc>
                <a:spcPct val="105000"/>
              </a:lnSpc>
              <a:spcBef>
                <a:spcPts val="0"/>
              </a:spcBef>
              <a:spcAft>
                <a:spcPts val="200"/>
              </a:spcAft>
              <a:defRPr sz="1000" b="1">
                <a:solidFill>
                  <a:srgbClr val="FFFFFF"/>
                </a:solidFill>
                <a:latin typeface="Lato"/>
              </a:defRPr>
            </a:pPr>
            <a:r>
              <a:t>POINT BREAK</a:t>
            </a:r>
          </a:p>
        </p:txBody>
      </p:sp>
      <p:sp>
        <p:nvSpPr>
          <p:cNvPr id="5" name="TextBox 4"/>
          <p:cNvSpPr txBox="1"/>
          <p:nvPr/>
        </p:nvSpPr>
        <p:spPr>
          <a:xfrm>
            <a:off x="1874519" y="347472"/>
            <a:ext cx="7863840" cy="457200"/>
          </a:xfrm>
          <a:prstGeom prst="rect">
            <a:avLst/>
          </a:prstGeom>
          <a:noFill/>
        </p:spPr>
        <p:txBody>
          <a:bodyPr wrap="square" lIns="0" rIns="0" tIns="0" bIns="0">
            <a:spAutoFit/>
          </a:bodyPr>
          <a:lstStyle/>
          <a:p>
            <a:pPr algn="ctr">
              <a:lnSpc>
                <a:spcPct val="105000"/>
              </a:lnSpc>
              <a:spcBef>
                <a:spcPts val="0"/>
              </a:spcBef>
              <a:spcAft>
                <a:spcPts val="200"/>
              </a:spcAft>
              <a:defRPr sz="2300" b="1">
                <a:solidFill>
                  <a:srgbClr val="152C3B"/>
                </a:solidFill>
                <a:latin typeface="Lato"/>
              </a:defRPr>
            </a:pPr>
            <a:r>
              <a:t>IMPACT AND BENEFITS</a:t>
            </a:r>
          </a:p>
        </p:txBody>
      </p:sp>
      <p:pic>
        <p:nvPicPr>
          <p:cNvPr id="6" name="Picture 5" descr="image.png"/>
          <p:cNvPicPr>
            <a:picLocks noChangeAspect="1"/>
          </p:cNvPicPr>
          <p:nvPr/>
        </p:nvPicPr>
        <p:blipFill>
          <a:blip r:embed="rId3"/>
          <a:stretch>
            <a:fillRect/>
          </a:stretch>
        </p:blipFill>
        <p:spPr>
          <a:xfrm>
            <a:off x="10125030" y="155448"/>
            <a:ext cx="1549235" cy="731520"/>
          </a:xfrm>
          <a:prstGeom prst="rect">
            <a:avLst/>
          </a:prstGeom>
        </p:spPr>
      </p:pic>
      <p:sp>
        <p:nvSpPr>
          <p:cNvPr id="7" name="Rectangle 6"/>
          <p:cNvSpPr/>
          <p:nvPr/>
        </p:nvSpPr>
        <p:spPr>
          <a:xfrm>
            <a:off x="365760" y="1024128"/>
            <a:ext cx="11430000"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0" y="6355080"/>
            <a:ext cx="12191695" cy="5029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11480" y="6510528"/>
            <a:ext cx="2743200" cy="182880"/>
          </a:xfrm>
          <a:prstGeom prst="rect">
            <a:avLst/>
          </a:prstGeom>
          <a:noFill/>
        </p:spPr>
        <p:txBody>
          <a:bodyPr wrap="square" lIns="0" rIns="0" tIns="0" bIns="0">
            <a:spAutoFit/>
          </a:bodyPr>
          <a:lstStyle/>
          <a:p>
            <a:pPr>
              <a:lnSpc>
                <a:spcPct val="105000"/>
              </a:lnSpc>
              <a:spcBef>
                <a:spcPts val="0"/>
              </a:spcBef>
              <a:spcAft>
                <a:spcPts val="200"/>
              </a:spcAft>
              <a:defRPr sz="900" b="1">
                <a:solidFill>
                  <a:srgbClr val="FFFFFF"/>
                </a:solidFill>
                <a:latin typeface="Lato"/>
              </a:defRPr>
            </a:pPr>
            <a:r>
              <a:t>PRAHARI  /  POINT BREAK</a:t>
            </a:r>
          </a:p>
        </p:txBody>
      </p:sp>
      <p:sp>
        <p:nvSpPr>
          <p:cNvPr id="10" name="TextBox 9"/>
          <p:cNvSpPr txBox="1"/>
          <p:nvPr/>
        </p:nvSpPr>
        <p:spPr>
          <a:xfrm>
            <a:off x="4389120" y="6510528"/>
            <a:ext cx="3749039" cy="182880"/>
          </a:xfrm>
          <a:prstGeom prst="rect">
            <a:avLst/>
          </a:prstGeom>
          <a:noFill/>
        </p:spPr>
        <p:txBody>
          <a:bodyPr wrap="square" lIns="0" rIns="0" tIns="0" bIns="0">
            <a:spAutoFit/>
          </a:bodyPr>
          <a:lstStyle/>
          <a:p>
            <a:pPr algn="ctr">
              <a:lnSpc>
                <a:spcPct val="105000"/>
              </a:lnSpc>
              <a:spcBef>
                <a:spcPts val="0"/>
              </a:spcBef>
              <a:spcAft>
                <a:spcPts val="200"/>
              </a:spcAft>
              <a:defRPr sz="900" b="0">
                <a:solidFill>
                  <a:srgbClr val="CFD9DB"/>
                </a:solidFill>
                <a:latin typeface="Lato"/>
              </a:defRPr>
            </a:pPr>
            <a:r>
              <a:t>@SIH Idea submission- Template</a:t>
            </a:r>
          </a:p>
        </p:txBody>
      </p:sp>
      <p:sp>
        <p:nvSpPr>
          <p:cNvPr id="11" name="TextBox 10"/>
          <p:cNvSpPr txBox="1"/>
          <p:nvPr/>
        </p:nvSpPr>
        <p:spPr>
          <a:xfrm>
            <a:off x="10652760" y="6492240"/>
            <a:ext cx="1051560" cy="210312"/>
          </a:xfrm>
          <a:prstGeom prst="rect">
            <a:avLst/>
          </a:prstGeom>
          <a:noFill/>
        </p:spPr>
        <p:txBody>
          <a:bodyPr wrap="square" lIns="0" rIns="0" tIns="0" bIns="0">
            <a:spAutoFit/>
          </a:bodyPr>
          <a:lstStyle/>
          <a:p>
            <a:pPr algn="r">
              <a:lnSpc>
                <a:spcPct val="105000"/>
              </a:lnSpc>
              <a:spcBef>
                <a:spcPts val="0"/>
              </a:spcBef>
              <a:spcAft>
                <a:spcPts val="200"/>
              </a:spcAft>
              <a:defRPr sz="1000" b="1">
                <a:solidFill>
                  <a:srgbClr val="FFFFFF"/>
                </a:solidFill>
                <a:latin typeface="Lato"/>
              </a:defRPr>
            </a:pPr>
            <a:r>
              <a:t>05 / 06</a:t>
            </a:r>
          </a:p>
        </p:txBody>
      </p:sp>
      <p:sp>
        <p:nvSpPr>
          <p:cNvPr id="12" name="TextBox 11"/>
          <p:cNvSpPr txBox="1"/>
          <p:nvPr/>
        </p:nvSpPr>
        <p:spPr>
          <a:xfrm>
            <a:off x="457200" y="1243584"/>
            <a:ext cx="11247120" cy="466344"/>
          </a:xfrm>
          <a:prstGeom prst="rect">
            <a:avLst/>
          </a:prstGeom>
          <a:noFill/>
        </p:spPr>
        <p:txBody>
          <a:bodyPr wrap="square" lIns="0" rIns="0" tIns="0" bIns="0">
            <a:spAutoFit/>
          </a:bodyPr>
          <a:lstStyle/>
          <a:p>
            <a:pPr>
              <a:lnSpc>
                <a:spcPct val="105000"/>
              </a:lnSpc>
              <a:spcBef>
                <a:spcPts val="0"/>
              </a:spcBef>
              <a:spcAft>
                <a:spcPts val="200"/>
              </a:spcAft>
              <a:defRPr sz="3000" b="1">
                <a:solidFill>
                  <a:srgbClr val="152C3B"/>
                </a:solidFill>
                <a:latin typeface="Lato"/>
              </a:defRPr>
            </a:pPr>
            <a:r>
              <a:t>Earlier awareness. A clearer next action.</a:t>
            </a:r>
          </a:p>
        </p:txBody>
      </p:sp>
      <p:pic>
        <p:nvPicPr>
          <p:cNvPr id="13" name="Picture 12" descr="workers_mumbai.jpg"/>
          <p:cNvPicPr>
            <a:picLocks noChangeAspect="1"/>
          </p:cNvPicPr>
          <p:nvPr/>
        </p:nvPicPr>
        <p:blipFill>
          <a:blip r:embed="rId4"/>
          <a:srcRect l="8808" r="8808"/>
          <a:stretch>
            <a:fillRect/>
          </a:stretch>
        </p:blipFill>
        <p:spPr>
          <a:xfrm>
            <a:off x="457200" y="1965960"/>
            <a:ext cx="3877056" cy="3529584"/>
          </a:xfrm>
          <a:prstGeom prst="rect">
            <a:avLst/>
          </a:prstGeom>
        </p:spPr>
      </p:pic>
      <p:sp>
        <p:nvSpPr>
          <p:cNvPr id="14" name="Rectangle 13"/>
          <p:cNvSpPr/>
          <p:nvPr/>
        </p:nvSpPr>
        <p:spPr>
          <a:xfrm>
            <a:off x="457200" y="4590288"/>
            <a:ext cx="3877056" cy="905256"/>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9224" y="4754880"/>
            <a:ext cx="3456432" cy="356616"/>
          </a:xfrm>
          <a:prstGeom prst="rect">
            <a:avLst/>
          </a:prstGeom>
          <a:noFill/>
        </p:spPr>
        <p:txBody>
          <a:bodyPr wrap="square" lIns="0" rIns="0" tIns="0" bIns="0">
            <a:spAutoFit/>
          </a:bodyPr>
          <a:lstStyle/>
          <a:p>
            <a:pPr>
              <a:lnSpc>
                <a:spcPct val="105000"/>
              </a:lnSpc>
              <a:spcBef>
                <a:spcPts val="0"/>
              </a:spcBef>
              <a:spcAft>
                <a:spcPts val="200"/>
              </a:spcAft>
              <a:defRPr sz="1900" b="1">
                <a:solidFill>
                  <a:srgbClr val="FFFFFF"/>
                </a:solidFill>
                <a:latin typeface="Lato"/>
              </a:defRPr>
            </a:pPr>
            <a:r>
              <a:t>Start with outdoor work crews.</a:t>
            </a:r>
          </a:p>
        </p:txBody>
      </p:sp>
      <p:sp>
        <p:nvSpPr>
          <p:cNvPr id="16" name="TextBox 15"/>
          <p:cNvSpPr txBox="1"/>
          <p:nvPr/>
        </p:nvSpPr>
        <p:spPr>
          <a:xfrm>
            <a:off x="649224" y="5193792"/>
            <a:ext cx="3465576" cy="219456"/>
          </a:xfrm>
          <a:prstGeom prst="rect">
            <a:avLst/>
          </a:prstGeom>
          <a:noFill/>
        </p:spPr>
        <p:txBody>
          <a:bodyPr wrap="square" lIns="0" rIns="0" tIns="0" bIns="0">
            <a:spAutoFit/>
          </a:bodyPr>
          <a:lstStyle/>
          <a:p>
            <a:pPr>
              <a:lnSpc>
                <a:spcPct val="105000"/>
              </a:lnSpc>
              <a:spcBef>
                <a:spcPts val="0"/>
              </a:spcBef>
              <a:spcAft>
                <a:spcPts val="200"/>
              </a:spcAft>
              <a:defRPr sz="1100" b="0">
                <a:solidFill>
                  <a:srgbClr val="FFFFFF"/>
                </a:solidFill>
                <a:latin typeface="Lato"/>
              </a:defRPr>
            </a:pPr>
            <a:r>
              <a:t>Construction · agriculture · municipal work</a:t>
            </a:r>
          </a:p>
        </p:txBody>
      </p:sp>
      <p:sp>
        <p:nvSpPr>
          <p:cNvPr id="17" name="TextBox 16"/>
          <p:cNvSpPr txBox="1"/>
          <p:nvPr/>
        </p:nvSpPr>
        <p:spPr>
          <a:xfrm>
            <a:off x="4672584" y="1965960"/>
            <a:ext cx="2057400" cy="832104"/>
          </a:xfrm>
          <a:prstGeom prst="rect">
            <a:avLst/>
          </a:prstGeom>
          <a:noFill/>
        </p:spPr>
        <p:txBody>
          <a:bodyPr wrap="square" lIns="0" rIns="0" tIns="0" bIns="0">
            <a:spAutoFit/>
          </a:bodyPr>
          <a:lstStyle/>
          <a:p>
            <a:pPr>
              <a:lnSpc>
                <a:spcPct val="105000"/>
              </a:lnSpc>
              <a:spcBef>
                <a:spcPts val="0"/>
              </a:spcBef>
              <a:spcAft>
                <a:spcPts val="200"/>
              </a:spcAft>
              <a:defRPr sz="5200" b="1">
                <a:solidFill>
                  <a:srgbClr val="287F79"/>
                </a:solidFill>
                <a:latin typeface="Lato"/>
              </a:defRPr>
            </a:pPr>
            <a:r>
              <a:t>57%</a:t>
            </a:r>
          </a:p>
        </p:txBody>
      </p:sp>
      <p:sp>
        <p:nvSpPr>
          <p:cNvPr id="18" name="TextBox 17"/>
          <p:cNvSpPr txBox="1"/>
          <p:nvPr/>
        </p:nvSpPr>
        <p:spPr>
          <a:xfrm>
            <a:off x="6949440" y="2139696"/>
            <a:ext cx="4517136" cy="630936"/>
          </a:xfrm>
          <a:prstGeom prst="rect">
            <a:avLst/>
          </a:prstGeom>
          <a:noFill/>
        </p:spPr>
        <p:txBody>
          <a:bodyPr wrap="square" lIns="0" rIns="0" tIns="0" bIns="0">
            <a:spAutoFit/>
          </a:bodyPr>
          <a:lstStyle/>
          <a:p>
            <a:pPr>
              <a:lnSpc>
                <a:spcPct val="105000"/>
              </a:lnSpc>
              <a:spcBef>
                <a:spcPts val="0"/>
              </a:spcBef>
              <a:spcAft>
                <a:spcPts val="200"/>
              </a:spcAft>
              <a:defRPr sz="2100" b="1">
                <a:solidFill>
                  <a:srgbClr val="152C3B"/>
                </a:solidFill>
                <a:latin typeface="Lato"/>
              </a:defRPr>
            </a:pPr>
            <a:r>
              <a:t>of Indian districts face high</a:t>
            </a:r>
          </a:p>
          <a:p>
            <a:pPr>
              <a:lnSpc>
                <a:spcPct val="105000"/>
              </a:lnSpc>
              <a:spcBef>
                <a:spcPts val="0"/>
              </a:spcBef>
              <a:spcAft>
                <a:spcPts val="200"/>
              </a:spcAft>
              <a:defRPr sz="2100" b="1">
                <a:solidFill>
                  <a:srgbClr val="152C3B"/>
                </a:solidFill>
                <a:latin typeface="Lato"/>
              </a:defRPr>
            </a:pPr>
            <a:r>
              <a:t>to very high heat risk.</a:t>
            </a:r>
          </a:p>
        </p:txBody>
      </p:sp>
      <p:sp>
        <p:nvSpPr>
          <p:cNvPr id="19" name="TextBox 18"/>
          <p:cNvSpPr txBox="1"/>
          <p:nvPr/>
        </p:nvSpPr>
        <p:spPr>
          <a:xfrm>
            <a:off x="4727448" y="2962656"/>
            <a:ext cx="6885432" cy="228600"/>
          </a:xfrm>
          <a:prstGeom prst="rect">
            <a:avLst/>
          </a:prstGeom>
          <a:noFill/>
        </p:spPr>
        <p:txBody>
          <a:bodyPr wrap="square" lIns="0" rIns="0" tIns="0" bIns="0">
            <a:spAutoFit/>
          </a:bodyPr>
          <a:lstStyle/>
          <a:p>
            <a:pPr>
              <a:lnSpc>
                <a:spcPct val="105000"/>
              </a:lnSpc>
              <a:spcBef>
                <a:spcPts val="0"/>
              </a:spcBef>
              <a:spcAft>
                <a:spcPts val="200"/>
              </a:spcAft>
              <a:defRPr sz="1100" b="0">
                <a:solidFill>
                  <a:srgbClr val="5B6C73"/>
                </a:solidFill>
                <a:latin typeface="Lato"/>
              </a:defRPr>
            </a:pPr>
            <a:r>
              <a:t>CEEW, 2025 · district-level heat-risk assessment [1]</a:t>
            </a:r>
          </a:p>
        </p:txBody>
      </p:sp>
      <p:sp>
        <p:nvSpPr>
          <p:cNvPr id="20" name="Rectangle 19"/>
          <p:cNvSpPr/>
          <p:nvPr/>
        </p:nvSpPr>
        <p:spPr>
          <a:xfrm>
            <a:off x="4709160" y="3410712"/>
            <a:ext cx="6976872"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4709160" y="3698748"/>
            <a:ext cx="64008" cy="210312"/>
          </a:xfrm>
          <a:prstGeom prst="rect">
            <a:avLst/>
          </a:prstGeom>
          <a:solidFill>
            <a:srgbClr val="287F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873752" y="3639312"/>
            <a:ext cx="6793992" cy="310896"/>
          </a:xfrm>
          <a:prstGeom prst="rect">
            <a:avLst/>
          </a:prstGeom>
          <a:noFill/>
        </p:spPr>
        <p:txBody>
          <a:bodyPr wrap="square" lIns="0" rIns="0" tIns="0" bIns="0">
            <a:spAutoFit/>
          </a:bodyPr>
          <a:lstStyle/>
          <a:p>
            <a:pPr>
              <a:lnSpc>
                <a:spcPct val="105000"/>
              </a:lnSpc>
              <a:spcBef>
                <a:spcPts val="0"/>
              </a:spcBef>
              <a:spcAft>
                <a:spcPts val="200"/>
              </a:spcAft>
              <a:defRPr sz="1600" b="1">
                <a:solidFill>
                  <a:srgbClr val="152C3B"/>
                </a:solidFill>
                <a:latin typeface="Lato"/>
              </a:defRPr>
            </a:pPr>
            <a:r>
              <a:t>SOCIAL  /  Reach the person</a:t>
            </a:r>
          </a:p>
        </p:txBody>
      </p:sp>
      <p:sp>
        <p:nvSpPr>
          <p:cNvPr id="23" name="TextBox 22"/>
          <p:cNvSpPr txBox="1"/>
          <p:nvPr/>
        </p:nvSpPr>
        <p:spPr>
          <a:xfrm>
            <a:off x="4873752" y="4005072"/>
            <a:ext cx="6793992" cy="594360"/>
          </a:xfrm>
          <a:prstGeom prst="rect">
            <a:avLst/>
          </a:prstGeom>
          <a:noFill/>
        </p:spPr>
        <p:txBody>
          <a:bodyPr wrap="square" lIns="0" rIns="0" tIns="0" bIns="0">
            <a:spAutoFit/>
          </a:bodyPr>
          <a:lstStyle/>
          <a:p>
            <a:pPr>
              <a:lnSpc>
                <a:spcPct val="105000"/>
              </a:lnSpc>
              <a:spcBef>
                <a:spcPts val="0"/>
              </a:spcBef>
              <a:spcAft>
                <a:spcPts val="200"/>
              </a:spcAft>
              <a:defRPr sz="1500" b="0">
                <a:solidFill>
                  <a:srgbClr val="5B6C73"/>
                </a:solidFill>
                <a:latin typeface="Lato"/>
              </a:defRPr>
            </a:pPr>
            <a:r>
              <a:t>Simple haptics; no personal smartphone needed</a:t>
            </a:r>
          </a:p>
          <a:p>
            <a:pPr>
              <a:lnSpc>
                <a:spcPct val="105000"/>
              </a:lnSpc>
              <a:spcBef>
                <a:spcPts val="0"/>
              </a:spcBef>
              <a:spcAft>
                <a:spcPts val="200"/>
              </a:spcAft>
              <a:defRPr sz="1500" b="0">
                <a:solidFill>
                  <a:srgbClr val="5B6C73"/>
                </a:solidFill>
                <a:latin typeface="Lato"/>
              </a:defRPr>
            </a:pPr>
            <a:r>
              <a:t>for local warning reception.</a:t>
            </a:r>
          </a:p>
        </p:txBody>
      </p:sp>
      <p:sp>
        <p:nvSpPr>
          <p:cNvPr id="24" name="Rectangle 23"/>
          <p:cNvSpPr/>
          <p:nvPr/>
        </p:nvSpPr>
        <p:spPr>
          <a:xfrm>
            <a:off x="4709160" y="4768596"/>
            <a:ext cx="64008" cy="210312"/>
          </a:xfrm>
          <a:prstGeom prst="rect">
            <a:avLst/>
          </a:prstGeom>
          <a:solidFill>
            <a:srgbClr val="287F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873752" y="4709160"/>
            <a:ext cx="6793992" cy="310896"/>
          </a:xfrm>
          <a:prstGeom prst="rect">
            <a:avLst/>
          </a:prstGeom>
          <a:noFill/>
        </p:spPr>
        <p:txBody>
          <a:bodyPr wrap="square" lIns="0" rIns="0" tIns="0" bIns="0">
            <a:spAutoFit/>
          </a:bodyPr>
          <a:lstStyle/>
          <a:p>
            <a:pPr>
              <a:lnSpc>
                <a:spcPct val="105000"/>
              </a:lnSpc>
              <a:spcBef>
                <a:spcPts val="0"/>
              </a:spcBef>
              <a:spcAft>
                <a:spcPts val="200"/>
              </a:spcAft>
              <a:defRPr sz="1600" b="1">
                <a:solidFill>
                  <a:srgbClr val="152C3B"/>
                </a:solidFill>
                <a:latin typeface="Lato"/>
              </a:defRPr>
            </a:pPr>
            <a:r>
              <a:t>ECONOMIC  /  Support timely action</a:t>
            </a:r>
          </a:p>
        </p:txBody>
      </p:sp>
      <p:sp>
        <p:nvSpPr>
          <p:cNvPr id="26" name="TextBox 25"/>
          <p:cNvSpPr txBox="1"/>
          <p:nvPr/>
        </p:nvSpPr>
        <p:spPr>
          <a:xfrm>
            <a:off x="4873752" y="5074920"/>
            <a:ext cx="6793992" cy="594360"/>
          </a:xfrm>
          <a:prstGeom prst="rect">
            <a:avLst/>
          </a:prstGeom>
          <a:noFill/>
        </p:spPr>
        <p:txBody>
          <a:bodyPr wrap="square" lIns="0" rIns="0" tIns="0" bIns="0">
            <a:spAutoFit/>
          </a:bodyPr>
          <a:lstStyle/>
          <a:p>
            <a:pPr>
              <a:lnSpc>
                <a:spcPct val="105000"/>
              </a:lnSpc>
              <a:spcBef>
                <a:spcPts val="0"/>
              </a:spcBef>
              <a:spcAft>
                <a:spcPts val="200"/>
              </a:spcAft>
              <a:defRPr sz="1500" b="0">
                <a:solidFill>
                  <a:srgbClr val="5B6C73"/>
                </a:solidFill>
                <a:latin typeface="Lato"/>
              </a:defRPr>
            </a:pPr>
            <a:r>
              <a:t>Earlier rest and cooling prompts aim to reduce</a:t>
            </a:r>
          </a:p>
          <a:p>
            <a:pPr>
              <a:lnSpc>
                <a:spcPct val="105000"/>
              </a:lnSpc>
              <a:spcBef>
                <a:spcPts val="0"/>
              </a:spcBef>
              <a:spcAft>
                <a:spcPts val="200"/>
              </a:spcAft>
              <a:defRPr sz="1500" b="0">
                <a:solidFill>
                  <a:srgbClr val="5B6C73"/>
                </a:solidFill>
                <a:latin typeface="Lato"/>
              </a:defRPr>
            </a:pPr>
            <a:r>
              <a:t>disruption; pilot outcomes will test the benefit.</a:t>
            </a:r>
          </a:p>
        </p:txBody>
      </p:sp>
      <p:sp>
        <p:nvSpPr>
          <p:cNvPr id="27" name="Rounded Rectangle 26"/>
          <p:cNvSpPr/>
          <p:nvPr/>
        </p:nvSpPr>
        <p:spPr>
          <a:xfrm>
            <a:off x="457200" y="5751576"/>
            <a:ext cx="11274552" cy="402336"/>
          </a:xfrm>
          <a:prstGeom prst="roundRect">
            <a:avLst>
              <a:gd name="adj" fmla="val 8000"/>
            </a:avLst>
          </a:prstGeom>
          <a:solidFill>
            <a:srgbClr val="E7EF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58368" y="5870448"/>
            <a:ext cx="10917936" cy="219456"/>
          </a:xfrm>
          <a:prstGeom prst="rect">
            <a:avLst/>
          </a:prstGeom>
          <a:noFill/>
        </p:spPr>
        <p:txBody>
          <a:bodyPr wrap="square" lIns="0" rIns="0" tIns="0" bIns="0">
            <a:spAutoFit/>
          </a:bodyPr>
          <a:lstStyle/>
          <a:p>
            <a:pPr>
              <a:lnSpc>
                <a:spcPct val="105000"/>
              </a:lnSpc>
              <a:spcBef>
                <a:spcPts val="0"/>
              </a:spcBef>
              <a:spcAft>
                <a:spcPts val="200"/>
              </a:spcAft>
              <a:defRPr sz="1200" b="1">
                <a:solidFill>
                  <a:srgbClr val="287F79"/>
                </a:solidFill>
                <a:latin typeface="Lato"/>
              </a:defRPr>
            </a:pPr>
            <a:r>
              <a:t>MEASURE IN THE PILOT   Alert delivery time  •  Missed / false alerts  •  Time to action  •  Shift-long wearability</a:t>
            </a:r>
          </a:p>
        </p:txBody>
      </p:sp>
      <p:sp>
        <p:nvSpPr>
          <p:cNvPr id="29" name="TextBox 28"/>
          <p:cNvSpPr txBox="1"/>
          <p:nvPr/>
        </p:nvSpPr>
        <p:spPr>
          <a:xfrm>
            <a:off x="484632" y="5550408"/>
            <a:ext cx="3813048" cy="164592"/>
          </a:xfrm>
          <a:prstGeom prst="rect">
            <a:avLst/>
          </a:prstGeom>
          <a:noFill/>
        </p:spPr>
        <p:txBody>
          <a:bodyPr wrap="square" lIns="0" rIns="0" tIns="0" bIns="0">
            <a:spAutoFit/>
          </a:bodyPr>
          <a:lstStyle/>
          <a:p>
            <a:pPr>
              <a:lnSpc>
                <a:spcPct val="105000"/>
              </a:lnSpc>
              <a:spcBef>
                <a:spcPts val="0"/>
              </a:spcBef>
              <a:spcAft>
                <a:spcPts val="200"/>
              </a:spcAft>
              <a:defRPr sz="900" b="0">
                <a:solidFill>
                  <a:srgbClr val="5B6C73"/>
                </a:solidFill>
                <a:latin typeface="Lato"/>
              </a:defRPr>
            </a:pPr>
            <a:r>
              <a:t>Photo: yajna S R / Pexels</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4241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365760" y="292608"/>
            <a:ext cx="1335024" cy="429768"/>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438912" y="425196"/>
            <a:ext cx="1188720" cy="210312"/>
          </a:xfrm>
          <a:prstGeom prst="rect">
            <a:avLst/>
          </a:prstGeom>
          <a:noFill/>
        </p:spPr>
        <p:txBody>
          <a:bodyPr wrap="square" lIns="0" rIns="0" tIns="0" bIns="0">
            <a:spAutoFit/>
          </a:bodyPr>
          <a:lstStyle/>
          <a:p>
            <a:pPr algn="ctr">
              <a:lnSpc>
                <a:spcPct val="105000"/>
              </a:lnSpc>
              <a:spcBef>
                <a:spcPts val="0"/>
              </a:spcBef>
              <a:spcAft>
                <a:spcPts val="200"/>
              </a:spcAft>
              <a:defRPr sz="1000" b="1">
                <a:solidFill>
                  <a:srgbClr val="FFFFFF"/>
                </a:solidFill>
                <a:latin typeface="Lato"/>
              </a:defRPr>
            </a:pPr>
            <a:r>
              <a:t>POINT BREAK</a:t>
            </a:r>
          </a:p>
        </p:txBody>
      </p:sp>
      <p:sp>
        <p:nvSpPr>
          <p:cNvPr id="5" name="TextBox 4"/>
          <p:cNvSpPr txBox="1"/>
          <p:nvPr/>
        </p:nvSpPr>
        <p:spPr>
          <a:xfrm>
            <a:off x="1874519" y="347472"/>
            <a:ext cx="7863840" cy="457200"/>
          </a:xfrm>
          <a:prstGeom prst="rect">
            <a:avLst/>
          </a:prstGeom>
          <a:noFill/>
        </p:spPr>
        <p:txBody>
          <a:bodyPr wrap="square" lIns="0" rIns="0" tIns="0" bIns="0">
            <a:spAutoFit/>
          </a:bodyPr>
          <a:lstStyle/>
          <a:p>
            <a:pPr algn="ctr">
              <a:lnSpc>
                <a:spcPct val="105000"/>
              </a:lnSpc>
              <a:spcBef>
                <a:spcPts val="0"/>
              </a:spcBef>
              <a:spcAft>
                <a:spcPts val="200"/>
              </a:spcAft>
              <a:defRPr sz="2300" b="1">
                <a:solidFill>
                  <a:srgbClr val="152C3B"/>
                </a:solidFill>
                <a:latin typeface="Lato"/>
              </a:defRPr>
            </a:pPr>
            <a:r>
              <a:t>RESEARCH AND REFERENCES</a:t>
            </a:r>
          </a:p>
        </p:txBody>
      </p:sp>
      <p:pic>
        <p:nvPicPr>
          <p:cNvPr id="6" name="Picture 5" descr="image.png"/>
          <p:cNvPicPr>
            <a:picLocks noChangeAspect="1"/>
          </p:cNvPicPr>
          <p:nvPr/>
        </p:nvPicPr>
        <p:blipFill>
          <a:blip r:embed="rId3"/>
          <a:stretch>
            <a:fillRect/>
          </a:stretch>
        </p:blipFill>
        <p:spPr>
          <a:xfrm>
            <a:off x="10125030" y="155448"/>
            <a:ext cx="1549235" cy="731520"/>
          </a:xfrm>
          <a:prstGeom prst="rect">
            <a:avLst/>
          </a:prstGeom>
        </p:spPr>
      </p:pic>
      <p:sp>
        <p:nvSpPr>
          <p:cNvPr id="7" name="Rectangle 6"/>
          <p:cNvSpPr/>
          <p:nvPr/>
        </p:nvSpPr>
        <p:spPr>
          <a:xfrm>
            <a:off x="365760" y="1024128"/>
            <a:ext cx="11430000"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0" y="6355080"/>
            <a:ext cx="12191695" cy="502920"/>
          </a:xfrm>
          <a:prstGeom prst="rect">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11480" y="6510528"/>
            <a:ext cx="2743200" cy="182880"/>
          </a:xfrm>
          <a:prstGeom prst="rect">
            <a:avLst/>
          </a:prstGeom>
          <a:noFill/>
        </p:spPr>
        <p:txBody>
          <a:bodyPr wrap="square" lIns="0" rIns="0" tIns="0" bIns="0">
            <a:spAutoFit/>
          </a:bodyPr>
          <a:lstStyle/>
          <a:p>
            <a:pPr>
              <a:lnSpc>
                <a:spcPct val="105000"/>
              </a:lnSpc>
              <a:spcBef>
                <a:spcPts val="0"/>
              </a:spcBef>
              <a:spcAft>
                <a:spcPts val="200"/>
              </a:spcAft>
              <a:defRPr sz="900" b="1">
                <a:solidFill>
                  <a:srgbClr val="FFFFFF"/>
                </a:solidFill>
                <a:latin typeface="Lato"/>
              </a:defRPr>
            </a:pPr>
            <a:r>
              <a:t>PRAHARI  /  POINT BREAK</a:t>
            </a:r>
          </a:p>
        </p:txBody>
      </p:sp>
      <p:sp>
        <p:nvSpPr>
          <p:cNvPr id="10" name="TextBox 9"/>
          <p:cNvSpPr txBox="1"/>
          <p:nvPr/>
        </p:nvSpPr>
        <p:spPr>
          <a:xfrm>
            <a:off x="4389120" y="6510528"/>
            <a:ext cx="3749039" cy="182880"/>
          </a:xfrm>
          <a:prstGeom prst="rect">
            <a:avLst/>
          </a:prstGeom>
          <a:noFill/>
        </p:spPr>
        <p:txBody>
          <a:bodyPr wrap="square" lIns="0" rIns="0" tIns="0" bIns="0">
            <a:spAutoFit/>
          </a:bodyPr>
          <a:lstStyle/>
          <a:p>
            <a:pPr algn="ctr">
              <a:lnSpc>
                <a:spcPct val="105000"/>
              </a:lnSpc>
              <a:spcBef>
                <a:spcPts val="0"/>
              </a:spcBef>
              <a:spcAft>
                <a:spcPts val="200"/>
              </a:spcAft>
              <a:defRPr sz="900" b="0">
                <a:solidFill>
                  <a:srgbClr val="CFD9DB"/>
                </a:solidFill>
                <a:latin typeface="Lato"/>
              </a:defRPr>
            </a:pPr>
            <a:r>
              <a:t>@SIH Idea submission- Template</a:t>
            </a:r>
          </a:p>
        </p:txBody>
      </p:sp>
      <p:sp>
        <p:nvSpPr>
          <p:cNvPr id="11" name="TextBox 10"/>
          <p:cNvSpPr txBox="1"/>
          <p:nvPr/>
        </p:nvSpPr>
        <p:spPr>
          <a:xfrm>
            <a:off x="10652760" y="6492240"/>
            <a:ext cx="1051560" cy="210312"/>
          </a:xfrm>
          <a:prstGeom prst="rect">
            <a:avLst/>
          </a:prstGeom>
          <a:noFill/>
        </p:spPr>
        <p:txBody>
          <a:bodyPr wrap="square" lIns="0" rIns="0" tIns="0" bIns="0">
            <a:spAutoFit/>
          </a:bodyPr>
          <a:lstStyle/>
          <a:p>
            <a:pPr algn="r">
              <a:lnSpc>
                <a:spcPct val="105000"/>
              </a:lnSpc>
              <a:spcBef>
                <a:spcPts val="0"/>
              </a:spcBef>
              <a:spcAft>
                <a:spcPts val="200"/>
              </a:spcAft>
              <a:defRPr sz="1000" b="1">
                <a:solidFill>
                  <a:srgbClr val="FFFFFF"/>
                </a:solidFill>
                <a:latin typeface="Lato"/>
              </a:defRPr>
            </a:pPr>
            <a:r>
              <a:t>06 / 06</a:t>
            </a:r>
          </a:p>
        </p:txBody>
      </p:sp>
      <p:sp>
        <p:nvSpPr>
          <p:cNvPr id="12" name="TextBox 11"/>
          <p:cNvSpPr txBox="1"/>
          <p:nvPr/>
        </p:nvSpPr>
        <p:spPr>
          <a:xfrm>
            <a:off x="457200" y="1243584"/>
            <a:ext cx="11155680" cy="466344"/>
          </a:xfrm>
          <a:prstGeom prst="rect">
            <a:avLst/>
          </a:prstGeom>
          <a:noFill/>
        </p:spPr>
        <p:txBody>
          <a:bodyPr wrap="square" lIns="0" rIns="0" tIns="0" bIns="0">
            <a:spAutoFit/>
          </a:bodyPr>
          <a:lstStyle/>
          <a:p>
            <a:pPr>
              <a:lnSpc>
                <a:spcPct val="105000"/>
              </a:lnSpc>
              <a:spcBef>
                <a:spcPts val="0"/>
              </a:spcBef>
              <a:spcAft>
                <a:spcPts val="200"/>
              </a:spcAft>
              <a:defRPr sz="3000" b="1">
                <a:solidFill>
                  <a:srgbClr val="152C3B"/>
                </a:solidFill>
                <a:latin typeface="Lato"/>
              </a:defRPr>
            </a:pPr>
            <a:r>
              <a:t>Grounded in research. Built to be tested.</a:t>
            </a:r>
          </a:p>
        </p:txBody>
      </p:sp>
      <p:sp>
        <p:nvSpPr>
          <p:cNvPr id="13" name="TextBox 12"/>
          <p:cNvSpPr txBox="1"/>
          <p:nvPr/>
        </p:nvSpPr>
        <p:spPr>
          <a:xfrm>
            <a:off x="475488" y="1819656"/>
            <a:ext cx="11064240" cy="274320"/>
          </a:xfrm>
          <a:prstGeom prst="rect">
            <a:avLst/>
          </a:prstGeom>
          <a:noFill/>
        </p:spPr>
        <p:txBody>
          <a:bodyPr wrap="square" lIns="0" rIns="0" tIns="0" bIns="0">
            <a:spAutoFit/>
          </a:bodyPr>
          <a:lstStyle/>
          <a:p>
            <a:pPr>
              <a:lnSpc>
                <a:spcPct val="105000"/>
              </a:lnSpc>
              <a:spcBef>
                <a:spcPts val="0"/>
              </a:spcBef>
              <a:spcAft>
                <a:spcPts val="200"/>
              </a:spcAft>
              <a:defRPr sz="1400" b="0">
                <a:solidFill>
                  <a:srgbClr val="5B6C73"/>
                </a:solidFill>
                <a:latin typeface="Lato"/>
              </a:defRPr>
            </a:pPr>
            <a:r>
              <a:t>Reference &amp; research work · clickable source titles</a:t>
            </a:r>
          </a:p>
        </p:txBody>
      </p:sp>
      <p:sp>
        <p:nvSpPr>
          <p:cNvPr id="14" name="TextBox 13"/>
          <p:cNvSpPr txBox="1"/>
          <p:nvPr/>
        </p:nvSpPr>
        <p:spPr>
          <a:xfrm>
            <a:off x="484632" y="2386584"/>
            <a:ext cx="475488" cy="402336"/>
          </a:xfrm>
          <a:prstGeom prst="rect">
            <a:avLst/>
          </a:prstGeom>
          <a:noFill/>
        </p:spPr>
        <p:txBody>
          <a:bodyPr wrap="square" lIns="0" rIns="0" tIns="0" bIns="0">
            <a:spAutoFit/>
          </a:bodyPr>
          <a:lstStyle/>
          <a:p>
            <a:pPr>
              <a:lnSpc>
                <a:spcPct val="105000"/>
              </a:lnSpc>
              <a:spcBef>
                <a:spcPts val="0"/>
              </a:spcBef>
              <a:spcAft>
                <a:spcPts val="200"/>
              </a:spcAft>
              <a:defRPr sz="2400" b="1">
                <a:solidFill>
                  <a:srgbClr val="287F79"/>
                </a:solidFill>
                <a:latin typeface="Lato"/>
              </a:defRPr>
            </a:pPr>
            <a:r>
              <a:t>01</a:t>
            </a:r>
          </a:p>
        </p:txBody>
      </p:sp>
      <p:sp>
        <p:nvSpPr>
          <p:cNvPr id="15" name="TextBox 14"/>
          <p:cNvSpPr txBox="1"/>
          <p:nvPr/>
        </p:nvSpPr>
        <p:spPr>
          <a:xfrm>
            <a:off x="1143000" y="2386584"/>
            <a:ext cx="6492240" cy="210312"/>
          </a:xfrm>
          <a:prstGeom prst="rect">
            <a:avLst/>
          </a:prstGeom>
          <a:noFill/>
        </p:spPr>
        <p:txBody>
          <a:bodyPr wrap="square" lIns="0" rIns="0" tIns="0" bIns="0">
            <a:spAutoFit/>
          </a:bodyPr>
          <a:lstStyle/>
          <a:p>
            <a:pPr>
              <a:lnSpc>
                <a:spcPct val="105000"/>
              </a:lnSpc>
              <a:spcBef>
                <a:spcPts val="0"/>
              </a:spcBef>
              <a:spcAft>
                <a:spcPts val="200"/>
              </a:spcAft>
              <a:defRPr sz="1000" b="1">
                <a:solidFill>
                  <a:srgbClr val="287F79"/>
                </a:solidFill>
                <a:latin typeface="Lato"/>
              </a:defRPr>
            </a:pPr>
            <a:r>
              <a:t>THE NEED</a:t>
            </a:r>
          </a:p>
        </p:txBody>
      </p:sp>
      <p:sp>
        <p:nvSpPr>
          <p:cNvPr id="16" name="TextBox 15">
            <a:hlinkClick r:id="rId4"/>
          </p:cNvPr>
          <p:cNvSpPr txBox="1"/>
          <p:nvPr/>
        </p:nvSpPr>
        <p:spPr>
          <a:xfrm>
            <a:off x="1143000" y="2642615"/>
            <a:ext cx="6510528" cy="283464"/>
          </a:xfrm>
          <a:prstGeom prst="rect">
            <a:avLst/>
          </a:prstGeom>
          <a:noFill/>
        </p:spPr>
        <p:txBody>
          <a:bodyPr wrap="square" lIns="0" rIns="0" tIns="0" bIns="0">
            <a:spAutoFit/>
          </a:bodyPr>
          <a:lstStyle/>
          <a:p>
            <a:pPr>
              <a:lnSpc>
                <a:spcPct val="105000"/>
              </a:lnSpc>
              <a:spcBef>
                <a:spcPts val="0"/>
              </a:spcBef>
              <a:spcAft>
                <a:spcPts val="200"/>
              </a:spcAft>
              <a:defRPr sz="1550" b="1">
                <a:solidFill>
                  <a:srgbClr val="152C3B"/>
                </a:solidFill>
                <a:latin typeface="Lato"/>
              </a:defRPr>
            </a:pPr>
            <a:r>
              <a:rPr u="none">
                <a:solidFill>
                  <a:srgbClr val="152C3B"/>
                </a:solidFill>
              </a:rPr>
              <a:t>CEEW · How Extreme Heat is Impacting India (2025)</a:t>
            </a:r>
          </a:p>
        </p:txBody>
      </p:sp>
      <p:sp>
        <p:nvSpPr>
          <p:cNvPr id="17" name="TextBox 16"/>
          <p:cNvSpPr txBox="1"/>
          <p:nvPr/>
        </p:nvSpPr>
        <p:spPr>
          <a:xfrm>
            <a:off x="1143000" y="2980944"/>
            <a:ext cx="6492240" cy="237744"/>
          </a:xfrm>
          <a:prstGeom prst="rect">
            <a:avLst/>
          </a:prstGeom>
          <a:noFill/>
        </p:spPr>
        <p:txBody>
          <a:bodyPr wrap="square" lIns="0" rIns="0" tIns="0" bIns="0">
            <a:spAutoFit/>
          </a:bodyPr>
          <a:lstStyle/>
          <a:p>
            <a:pPr>
              <a:lnSpc>
                <a:spcPct val="105000"/>
              </a:lnSpc>
              <a:spcBef>
                <a:spcPts val="0"/>
              </a:spcBef>
              <a:spcAft>
                <a:spcPts val="200"/>
              </a:spcAft>
              <a:defRPr sz="1200" b="0">
                <a:solidFill>
                  <a:srgbClr val="5B6C73"/>
                </a:solidFill>
                <a:latin typeface="Lato"/>
              </a:defRPr>
            </a:pPr>
            <a:r>
              <a:t>District-level heat risk; basis for the 57% figure.</a:t>
            </a:r>
          </a:p>
        </p:txBody>
      </p:sp>
      <p:sp>
        <p:nvSpPr>
          <p:cNvPr id="18" name="Rectangle 17"/>
          <p:cNvSpPr/>
          <p:nvPr/>
        </p:nvSpPr>
        <p:spPr>
          <a:xfrm>
            <a:off x="502920" y="3200400"/>
            <a:ext cx="7278624"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84632" y="3264408"/>
            <a:ext cx="475488" cy="402336"/>
          </a:xfrm>
          <a:prstGeom prst="rect">
            <a:avLst/>
          </a:prstGeom>
          <a:noFill/>
        </p:spPr>
        <p:txBody>
          <a:bodyPr wrap="square" lIns="0" rIns="0" tIns="0" bIns="0">
            <a:spAutoFit/>
          </a:bodyPr>
          <a:lstStyle/>
          <a:p>
            <a:pPr>
              <a:lnSpc>
                <a:spcPct val="105000"/>
              </a:lnSpc>
              <a:spcBef>
                <a:spcPts val="0"/>
              </a:spcBef>
              <a:spcAft>
                <a:spcPts val="200"/>
              </a:spcAft>
              <a:defRPr sz="2400" b="1">
                <a:solidFill>
                  <a:srgbClr val="287F79"/>
                </a:solidFill>
                <a:latin typeface="Lato"/>
              </a:defRPr>
            </a:pPr>
            <a:r>
              <a:t>02</a:t>
            </a:r>
          </a:p>
        </p:txBody>
      </p:sp>
      <p:sp>
        <p:nvSpPr>
          <p:cNvPr id="20" name="TextBox 19"/>
          <p:cNvSpPr txBox="1"/>
          <p:nvPr/>
        </p:nvSpPr>
        <p:spPr>
          <a:xfrm>
            <a:off x="1143000" y="3264408"/>
            <a:ext cx="6492240" cy="210312"/>
          </a:xfrm>
          <a:prstGeom prst="rect">
            <a:avLst/>
          </a:prstGeom>
          <a:noFill/>
        </p:spPr>
        <p:txBody>
          <a:bodyPr wrap="square" lIns="0" rIns="0" tIns="0" bIns="0">
            <a:spAutoFit/>
          </a:bodyPr>
          <a:lstStyle/>
          <a:p>
            <a:pPr>
              <a:lnSpc>
                <a:spcPct val="105000"/>
              </a:lnSpc>
              <a:spcBef>
                <a:spcPts val="0"/>
              </a:spcBef>
              <a:spcAft>
                <a:spcPts val="200"/>
              </a:spcAft>
              <a:defRPr sz="1000" b="1">
                <a:solidFill>
                  <a:srgbClr val="287F79"/>
                </a:solidFill>
                <a:latin typeface="Lato"/>
              </a:defRPr>
            </a:pPr>
            <a:r>
              <a:t>OFFICIAL WARNING SOURCE</a:t>
            </a:r>
          </a:p>
        </p:txBody>
      </p:sp>
      <p:sp>
        <p:nvSpPr>
          <p:cNvPr id="21" name="TextBox 20">
            <a:hlinkClick r:id="rId5"/>
          </p:cNvPr>
          <p:cNvSpPr txBox="1"/>
          <p:nvPr/>
        </p:nvSpPr>
        <p:spPr>
          <a:xfrm>
            <a:off x="1143000" y="3520439"/>
            <a:ext cx="6510528" cy="283464"/>
          </a:xfrm>
          <a:prstGeom prst="rect">
            <a:avLst/>
          </a:prstGeom>
          <a:noFill/>
        </p:spPr>
        <p:txBody>
          <a:bodyPr wrap="square" lIns="0" rIns="0" tIns="0" bIns="0">
            <a:spAutoFit/>
          </a:bodyPr>
          <a:lstStyle/>
          <a:p>
            <a:pPr>
              <a:lnSpc>
                <a:spcPct val="105000"/>
              </a:lnSpc>
              <a:spcBef>
                <a:spcPts val="0"/>
              </a:spcBef>
              <a:spcAft>
                <a:spcPts val="200"/>
              </a:spcAft>
              <a:defRPr sz="1550" b="1">
                <a:solidFill>
                  <a:srgbClr val="152C3B"/>
                </a:solidFill>
                <a:latin typeface="Lato"/>
              </a:defRPr>
            </a:pPr>
            <a:r>
              <a:rPr u="none">
                <a:solidFill>
                  <a:srgbClr val="152C3B"/>
                </a:solidFill>
              </a:rPr>
              <a:t>NDMA · SACHET National Disaster Alert Portal</a:t>
            </a:r>
          </a:p>
        </p:txBody>
      </p:sp>
      <p:sp>
        <p:nvSpPr>
          <p:cNvPr id="22" name="TextBox 21"/>
          <p:cNvSpPr txBox="1"/>
          <p:nvPr/>
        </p:nvSpPr>
        <p:spPr>
          <a:xfrm>
            <a:off x="1143000" y="3858768"/>
            <a:ext cx="6492240" cy="237744"/>
          </a:xfrm>
          <a:prstGeom prst="rect">
            <a:avLst/>
          </a:prstGeom>
          <a:noFill/>
        </p:spPr>
        <p:txBody>
          <a:bodyPr wrap="square" lIns="0" rIns="0" tIns="0" bIns="0">
            <a:spAutoFit/>
          </a:bodyPr>
          <a:lstStyle/>
          <a:p>
            <a:pPr>
              <a:lnSpc>
                <a:spcPct val="105000"/>
              </a:lnSpc>
              <a:spcBef>
                <a:spcPts val="0"/>
              </a:spcBef>
              <a:spcAft>
                <a:spcPts val="200"/>
              </a:spcAft>
              <a:defRPr sz="1200" b="0">
                <a:solidFill>
                  <a:srgbClr val="5B6C73"/>
                </a:solidFill>
                <a:latin typeface="Lato"/>
              </a:defRPr>
            </a:pPr>
            <a:r>
              <a:t>CAP-based multi-hazard alerts and RSS dissemination.</a:t>
            </a:r>
          </a:p>
        </p:txBody>
      </p:sp>
      <p:sp>
        <p:nvSpPr>
          <p:cNvPr id="23" name="Rectangle 22"/>
          <p:cNvSpPr/>
          <p:nvPr/>
        </p:nvSpPr>
        <p:spPr>
          <a:xfrm>
            <a:off x="502920" y="4078224"/>
            <a:ext cx="7278624"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84632" y="4142231"/>
            <a:ext cx="475488" cy="402336"/>
          </a:xfrm>
          <a:prstGeom prst="rect">
            <a:avLst/>
          </a:prstGeom>
          <a:noFill/>
        </p:spPr>
        <p:txBody>
          <a:bodyPr wrap="square" lIns="0" rIns="0" tIns="0" bIns="0">
            <a:spAutoFit/>
          </a:bodyPr>
          <a:lstStyle/>
          <a:p>
            <a:pPr>
              <a:lnSpc>
                <a:spcPct val="105000"/>
              </a:lnSpc>
              <a:spcBef>
                <a:spcPts val="0"/>
              </a:spcBef>
              <a:spcAft>
                <a:spcPts val="200"/>
              </a:spcAft>
              <a:defRPr sz="2400" b="1">
                <a:solidFill>
                  <a:srgbClr val="287F79"/>
                </a:solidFill>
                <a:latin typeface="Lato"/>
              </a:defRPr>
            </a:pPr>
            <a:r>
              <a:t>03</a:t>
            </a:r>
          </a:p>
        </p:txBody>
      </p:sp>
      <p:sp>
        <p:nvSpPr>
          <p:cNvPr id="25" name="TextBox 24"/>
          <p:cNvSpPr txBox="1"/>
          <p:nvPr/>
        </p:nvSpPr>
        <p:spPr>
          <a:xfrm>
            <a:off x="1143000" y="4142231"/>
            <a:ext cx="6492240" cy="210312"/>
          </a:xfrm>
          <a:prstGeom prst="rect">
            <a:avLst/>
          </a:prstGeom>
          <a:noFill/>
        </p:spPr>
        <p:txBody>
          <a:bodyPr wrap="square" lIns="0" rIns="0" tIns="0" bIns="0">
            <a:spAutoFit/>
          </a:bodyPr>
          <a:lstStyle/>
          <a:p>
            <a:pPr>
              <a:lnSpc>
                <a:spcPct val="105000"/>
              </a:lnSpc>
              <a:spcBef>
                <a:spcPts val="0"/>
              </a:spcBef>
              <a:spcAft>
                <a:spcPts val="200"/>
              </a:spcAft>
              <a:defRPr sz="1000" b="1">
                <a:solidFill>
                  <a:srgbClr val="287F79"/>
                </a:solidFill>
                <a:latin typeface="Lato"/>
              </a:defRPr>
            </a:pPr>
            <a:r>
              <a:t>ALGORITHM FOUNDATION</a:t>
            </a:r>
          </a:p>
        </p:txBody>
      </p:sp>
      <p:sp>
        <p:nvSpPr>
          <p:cNvPr id="26" name="TextBox 25">
            <a:hlinkClick r:id="rId6"/>
          </p:cNvPr>
          <p:cNvSpPr txBox="1"/>
          <p:nvPr/>
        </p:nvSpPr>
        <p:spPr>
          <a:xfrm>
            <a:off x="1143000" y="4398264"/>
            <a:ext cx="6510528" cy="283464"/>
          </a:xfrm>
          <a:prstGeom prst="rect">
            <a:avLst/>
          </a:prstGeom>
          <a:noFill/>
        </p:spPr>
        <p:txBody>
          <a:bodyPr wrap="square" lIns="0" rIns="0" tIns="0" bIns="0">
            <a:spAutoFit/>
          </a:bodyPr>
          <a:lstStyle/>
          <a:p>
            <a:pPr>
              <a:lnSpc>
                <a:spcPct val="105000"/>
              </a:lnSpc>
              <a:spcBef>
                <a:spcPts val="0"/>
              </a:spcBef>
              <a:spcAft>
                <a:spcPts val="200"/>
              </a:spcAft>
              <a:defRPr sz="1550" b="1">
                <a:solidFill>
                  <a:srgbClr val="152C3B"/>
                </a:solidFill>
                <a:latin typeface="Lato"/>
              </a:defRPr>
            </a:pPr>
            <a:r>
              <a:rPr u="none">
                <a:solidFill>
                  <a:srgbClr val="152C3B"/>
                </a:solidFill>
              </a:rPr>
              <a:t>Buller et al. · Wearable physiological estimation</a:t>
            </a:r>
          </a:p>
        </p:txBody>
      </p:sp>
      <p:sp>
        <p:nvSpPr>
          <p:cNvPr id="27" name="TextBox 26"/>
          <p:cNvSpPr txBox="1"/>
          <p:nvPr/>
        </p:nvSpPr>
        <p:spPr>
          <a:xfrm>
            <a:off x="1143000" y="4736592"/>
            <a:ext cx="6492240" cy="237744"/>
          </a:xfrm>
          <a:prstGeom prst="rect">
            <a:avLst/>
          </a:prstGeom>
          <a:noFill/>
        </p:spPr>
        <p:txBody>
          <a:bodyPr wrap="square" lIns="0" rIns="0" tIns="0" bIns="0">
            <a:spAutoFit/>
          </a:bodyPr>
          <a:lstStyle/>
          <a:p>
            <a:pPr>
              <a:lnSpc>
                <a:spcPct val="105000"/>
              </a:lnSpc>
              <a:spcBef>
                <a:spcPts val="0"/>
              </a:spcBef>
              <a:spcAft>
                <a:spcPts val="200"/>
              </a:spcAft>
              <a:defRPr sz="1200" b="0">
                <a:solidFill>
                  <a:srgbClr val="5B6C73"/>
                </a:solidFill>
                <a:latin typeface="Lato"/>
              </a:defRPr>
            </a:pPr>
            <a:r>
              <a:t>Kalman-filter research; PRAHARI still needs its own validation.</a:t>
            </a:r>
          </a:p>
        </p:txBody>
      </p:sp>
      <p:sp>
        <p:nvSpPr>
          <p:cNvPr id="28" name="Rectangle 27"/>
          <p:cNvSpPr/>
          <p:nvPr/>
        </p:nvSpPr>
        <p:spPr>
          <a:xfrm>
            <a:off x="502920" y="4956047"/>
            <a:ext cx="7278624" cy="12801"/>
          </a:xfrm>
          <a:prstGeom prst="rect">
            <a:avLst/>
          </a:prstGeom>
          <a:solidFill>
            <a:srgbClr val="D9DF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84632" y="5020056"/>
            <a:ext cx="475488" cy="402336"/>
          </a:xfrm>
          <a:prstGeom prst="rect">
            <a:avLst/>
          </a:prstGeom>
          <a:noFill/>
        </p:spPr>
        <p:txBody>
          <a:bodyPr wrap="square" lIns="0" rIns="0" tIns="0" bIns="0">
            <a:spAutoFit/>
          </a:bodyPr>
          <a:lstStyle/>
          <a:p>
            <a:pPr>
              <a:lnSpc>
                <a:spcPct val="105000"/>
              </a:lnSpc>
              <a:spcBef>
                <a:spcPts val="0"/>
              </a:spcBef>
              <a:spcAft>
                <a:spcPts val="200"/>
              </a:spcAft>
              <a:defRPr sz="2400" b="1">
                <a:solidFill>
                  <a:srgbClr val="287F79"/>
                </a:solidFill>
                <a:latin typeface="Lato"/>
              </a:defRPr>
            </a:pPr>
            <a:r>
              <a:t>04</a:t>
            </a:r>
          </a:p>
        </p:txBody>
      </p:sp>
      <p:sp>
        <p:nvSpPr>
          <p:cNvPr id="30" name="TextBox 29"/>
          <p:cNvSpPr txBox="1"/>
          <p:nvPr/>
        </p:nvSpPr>
        <p:spPr>
          <a:xfrm>
            <a:off x="1143000" y="5020056"/>
            <a:ext cx="6492240" cy="210312"/>
          </a:xfrm>
          <a:prstGeom prst="rect">
            <a:avLst/>
          </a:prstGeom>
          <a:noFill/>
        </p:spPr>
        <p:txBody>
          <a:bodyPr wrap="square" lIns="0" rIns="0" tIns="0" bIns="0">
            <a:spAutoFit/>
          </a:bodyPr>
          <a:lstStyle/>
          <a:p>
            <a:pPr>
              <a:lnSpc>
                <a:spcPct val="105000"/>
              </a:lnSpc>
              <a:spcBef>
                <a:spcPts val="0"/>
              </a:spcBef>
              <a:spcAft>
                <a:spcPts val="200"/>
              </a:spcAft>
              <a:defRPr sz="1000" b="1">
                <a:solidFill>
                  <a:srgbClr val="287F79"/>
                </a:solidFill>
                <a:latin typeface="Lato"/>
              </a:defRPr>
            </a:pPr>
            <a:r>
              <a:t>HARDWARE PLATFORM</a:t>
            </a:r>
          </a:p>
        </p:txBody>
      </p:sp>
      <p:sp>
        <p:nvSpPr>
          <p:cNvPr id="31" name="TextBox 30">
            <a:hlinkClick r:id="rId7"/>
          </p:cNvPr>
          <p:cNvSpPr txBox="1"/>
          <p:nvPr/>
        </p:nvSpPr>
        <p:spPr>
          <a:xfrm>
            <a:off x="1143000" y="5276088"/>
            <a:ext cx="6510528" cy="283464"/>
          </a:xfrm>
          <a:prstGeom prst="rect">
            <a:avLst/>
          </a:prstGeom>
          <a:noFill/>
        </p:spPr>
        <p:txBody>
          <a:bodyPr wrap="square" lIns="0" rIns="0" tIns="0" bIns="0">
            <a:spAutoFit/>
          </a:bodyPr>
          <a:lstStyle/>
          <a:p>
            <a:pPr>
              <a:lnSpc>
                <a:spcPct val="105000"/>
              </a:lnSpc>
              <a:spcBef>
                <a:spcPts val="0"/>
              </a:spcBef>
              <a:spcAft>
                <a:spcPts val="200"/>
              </a:spcAft>
              <a:defRPr sz="1550" b="1">
                <a:solidFill>
                  <a:srgbClr val="152C3B"/>
                </a:solidFill>
                <a:latin typeface="Lato"/>
              </a:defRPr>
            </a:pPr>
            <a:r>
              <a:rPr u="none">
                <a:solidFill>
                  <a:srgbClr val="152C3B"/>
                </a:solidFill>
              </a:rPr>
              <a:t>Seeed Studio · XIAO nRF52840 Series</a:t>
            </a:r>
          </a:p>
        </p:txBody>
      </p:sp>
      <p:sp>
        <p:nvSpPr>
          <p:cNvPr id="32" name="TextBox 31"/>
          <p:cNvSpPr txBox="1"/>
          <p:nvPr/>
        </p:nvSpPr>
        <p:spPr>
          <a:xfrm>
            <a:off x="1143000" y="5614416"/>
            <a:ext cx="6492240" cy="237744"/>
          </a:xfrm>
          <a:prstGeom prst="rect">
            <a:avLst/>
          </a:prstGeom>
          <a:noFill/>
        </p:spPr>
        <p:txBody>
          <a:bodyPr wrap="square" lIns="0" rIns="0" tIns="0" bIns="0">
            <a:spAutoFit/>
          </a:bodyPr>
          <a:lstStyle/>
          <a:p>
            <a:pPr>
              <a:lnSpc>
                <a:spcPct val="105000"/>
              </a:lnSpc>
              <a:spcBef>
                <a:spcPts val="0"/>
              </a:spcBef>
              <a:spcAft>
                <a:spcPts val="200"/>
              </a:spcAft>
              <a:defRPr sz="1200" b="0">
                <a:solidFill>
                  <a:srgbClr val="5B6C73"/>
                </a:solidFill>
                <a:latin typeface="Lato"/>
              </a:defRPr>
            </a:pPr>
            <a:r>
              <a:t>MCU, BLE and Sense IMU documentation; module image source.</a:t>
            </a:r>
          </a:p>
        </p:txBody>
      </p:sp>
      <p:sp>
        <p:nvSpPr>
          <p:cNvPr id="33" name="Rounded Rectangle 32"/>
          <p:cNvSpPr/>
          <p:nvPr/>
        </p:nvSpPr>
        <p:spPr>
          <a:xfrm>
            <a:off x="8147304" y="2359152"/>
            <a:ext cx="3584448" cy="3337560"/>
          </a:xfrm>
          <a:prstGeom prst="roundRect">
            <a:avLst>
              <a:gd name="adj" fmla="val 8000"/>
            </a:avLst>
          </a:prstGeom>
          <a:solidFill>
            <a:srgbClr val="152C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375904" y="2578608"/>
            <a:ext cx="3127248" cy="265176"/>
          </a:xfrm>
          <a:prstGeom prst="rect">
            <a:avLst/>
          </a:prstGeom>
          <a:noFill/>
        </p:spPr>
        <p:txBody>
          <a:bodyPr wrap="square" lIns="0" rIns="0" tIns="0" bIns="0">
            <a:spAutoFit/>
          </a:bodyPr>
          <a:lstStyle/>
          <a:p>
            <a:pPr>
              <a:lnSpc>
                <a:spcPct val="105000"/>
              </a:lnSpc>
              <a:spcBef>
                <a:spcPts val="0"/>
              </a:spcBef>
              <a:spcAft>
                <a:spcPts val="200"/>
              </a:spcAft>
              <a:defRPr sz="1500" b="1">
                <a:solidFill>
                  <a:srgbClr val="E5AE48"/>
                </a:solidFill>
                <a:latin typeface="Lato"/>
              </a:defRPr>
            </a:pPr>
            <a:r>
              <a:t>PROJECT EVIDENCE</a:t>
            </a:r>
          </a:p>
        </p:txBody>
      </p:sp>
      <p:sp>
        <p:nvSpPr>
          <p:cNvPr id="35" name="TextBox 34">
            <a:hlinkClick r:id="rId8"/>
          </p:cNvPr>
          <p:cNvSpPr txBox="1"/>
          <p:nvPr/>
        </p:nvSpPr>
        <p:spPr>
          <a:xfrm>
            <a:off x="8375904" y="3054096"/>
            <a:ext cx="3127248" cy="301752"/>
          </a:xfrm>
          <a:prstGeom prst="rect">
            <a:avLst/>
          </a:prstGeom>
          <a:noFill/>
        </p:spPr>
        <p:txBody>
          <a:bodyPr wrap="square" lIns="0" rIns="0" tIns="0" bIns="0">
            <a:spAutoFit/>
          </a:bodyPr>
          <a:lstStyle/>
          <a:p>
            <a:pPr>
              <a:lnSpc>
                <a:spcPct val="105000"/>
              </a:lnSpc>
              <a:spcBef>
                <a:spcPts val="0"/>
              </a:spcBef>
              <a:spcAft>
                <a:spcPts val="200"/>
              </a:spcAft>
              <a:defRPr sz="1800" b="1">
                <a:solidFill>
                  <a:srgbClr val="FFFFFF"/>
                </a:solidFill>
                <a:latin typeface="Lato"/>
              </a:defRPr>
            </a:pPr>
            <a:r>
              <a:rPr u="none">
                <a:solidFill>
                  <a:srgbClr val="FFFFFF"/>
                </a:solidFill>
              </a:rPr>
              <a:t>PRAHARI repository</a:t>
            </a:r>
          </a:p>
        </p:txBody>
      </p:sp>
      <p:sp>
        <p:nvSpPr>
          <p:cNvPr id="36" name="TextBox 35"/>
          <p:cNvSpPr txBox="1"/>
          <p:nvPr/>
        </p:nvSpPr>
        <p:spPr>
          <a:xfrm>
            <a:off x="8375904" y="3511296"/>
            <a:ext cx="3108960" cy="896112"/>
          </a:xfrm>
          <a:prstGeom prst="rect">
            <a:avLst/>
          </a:prstGeom>
          <a:noFill/>
        </p:spPr>
        <p:txBody>
          <a:bodyPr wrap="square" lIns="0" rIns="0" tIns="0" bIns="0">
            <a:spAutoFit/>
          </a:bodyPr>
          <a:lstStyle/>
          <a:p>
            <a:pPr>
              <a:lnSpc>
                <a:spcPct val="105000"/>
              </a:lnSpc>
              <a:spcBef>
                <a:spcPts val="0"/>
              </a:spcBef>
              <a:spcAft>
                <a:spcPts val="200"/>
              </a:spcAft>
              <a:defRPr sz="1500" b="0">
                <a:solidFill>
                  <a:srgbClr val="FFFFFF"/>
                </a:solidFill>
                <a:latin typeface="Lato"/>
              </a:defRPr>
            </a:pPr>
            <a:r>
              <a:t>Sensor + OLED firmware</a:t>
            </a:r>
          </a:p>
          <a:p>
            <a:pPr>
              <a:lnSpc>
                <a:spcPct val="105000"/>
              </a:lnSpc>
              <a:spcBef>
                <a:spcPts val="0"/>
              </a:spcBef>
              <a:spcAft>
                <a:spcPts val="200"/>
              </a:spcAft>
              <a:defRPr sz="1500" b="0">
                <a:solidFill>
                  <a:srgbClr val="FFFFFF"/>
                </a:solidFill>
                <a:latin typeface="Lato"/>
              </a:defRPr>
            </a:pPr>
            <a:r>
              <a:t>KiCad design + BOM</a:t>
            </a:r>
          </a:p>
          <a:p>
            <a:pPr>
              <a:lnSpc>
                <a:spcPct val="105000"/>
              </a:lnSpc>
              <a:spcBef>
                <a:spcPts val="0"/>
              </a:spcBef>
              <a:spcAft>
                <a:spcPts val="200"/>
              </a:spcAft>
              <a:defRPr sz="1500" b="0">
                <a:solidFill>
                  <a:srgbClr val="FFFFFF"/>
                </a:solidFill>
                <a:latin typeface="Lato"/>
              </a:defRPr>
            </a:pPr>
            <a:r>
              <a:t>Bring-up and verification notes</a:t>
            </a:r>
          </a:p>
        </p:txBody>
      </p:sp>
      <p:sp>
        <p:nvSpPr>
          <p:cNvPr id="37" name="TextBox 36"/>
          <p:cNvSpPr txBox="1"/>
          <p:nvPr/>
        </p:nvSpPr>
        <p:spPr>
          <a:xfrm>
            <a:off x="8375904" y="4599432"/>
            <a:ext cx="3108960" cy="640080"/>
          </a:xfrm>
          <a:prstGeom prst="rect">
            <a:avLst/>
          </a:prstGeom>
          <a:noFill/>
        </p:spPr>
        <p:txBody>
          <a:bodyPr wrap="square" lIns="0" rIns="0" tIns="0" bIns="0">
            <a:spAutoFit/>
          </a:bodyPr>
          <a:lstStyle/>
          <a:p>
            <a:pPr>
              <a:lnSpc>
                <a:spcPct val="105000"/>
              </a:lnSpc>
              <a:spcBef>
                <a:spcPts val="0"/>
              </a:spcBef>
              <a:spcAft>
                <a:spcPts val="200"/>
              </a:spcAft>
              <a:defRPr sz="1400" b="0">
                <a:solidFill>
                  <a:srgbClr val="D2DFE0"/>
                </a:solidFill>
                <a:latin typeface="Lato"/>
              </a:defRPr>
            </a:pPr>
            <a:r>
              <a:t>Obsidian project brain</a:t>
            </a:r>
          </a:p>
          <a:p>
            <a:pPr>
              <a:lnSpc>
                <a:spcPct val="105000"/>
              </a:lnSpc>
              <a:spcBef>
                <a:spcPts val="0"/>
              </a:spcBef>
              <a:spcAft>
                <a:spcPts val="200"/>
              </a:spcAft>
              <a:defRPr sz="1400" b="0">
                <a:solidFill>
                  <a:srgbClr val="D2DFE0"/>
                </a:solidFill>
                <a:latin typeface="Lato"/>
              </a:defRPr>
            </a:pPr>
            <a:r>
              <a:t>PRAHARI reference deck + report</a:t>
            </a:r>
          </a:p>
        </p:txBody>
      </p:sp>
      <p:sp>
        <p:nvSpPr>
          <p:cNvPr id="38" name="TextBox 37"/>
          <p:cNvSpPr txBox="1"/>
          <p:nvPr/>
        </p:nvSpPr>
        <p:spPr>
          <a:xfrm>
            <a:off x="8375904" y="5330952"/>
            <a:ext cx="3072384" cy="201168"/>
          </a:xfrm>
          <a:prstGeom prst="rect">
            <a:avLst/>
          </a:prstGeom>
          <a:noFill/>
        </p:spPr>
        <p:txBody>
          <a:bodyPr wrap="square" lIns="0" rIns="0" tIns="0" bIns="0">
            <a:spAutoFit/>
          </a:bodyPr>
          <a:lstStyle/>
          <a:p>
            <a:pPr>
              <a:lnSpc>
                <a:spcPct val="105000"/>
              </a:lnSpc>
              <a:spcBef>
                <a:spcPts val="0"/>
              </a:spcBef>
              <a:spcAft>
                <a:spcPts val="200"/>
              </a:spcAft>
              <a:defRPr sz="1000" b="0">
                <a:solidFill>
                  <a:srgbClr val="D2DFE0"/>
                </a:solidFill>
                <a:latin typeface="Lato"/>
              </a:defRPr>
            </a:pPr>
            <a:r>
              <a:t>Repository access may be restricted.</a:t>
            </a:r>
          </a:p>
        </p:txBody>
      </p:sp>
      <p:sp>
        <p:nvSpPr>
          <p:cNvPr id="39" name="TextBox 38">
            <a:hlinkClick r:id="rId9"/>
          </p:cNvPr>
          <p:cNvSpPr txBox="1"/>
          <p:nvPr/>
        </p:nvSpPr>
        <p:spPr>
          <a:xfrm>
            <a:off x="493776" y="6007608"/>
            <a:ext cx="11064240" cy="219456"/>
          </a:xfrm>
          <a:prstGeom prst="rect">
            <a:avLst/>
          </a:prstGeom>
          <a:noFill/>
        </p:spPr>
        <p:txBody>
          <a:bodyPr wrap="square" lIns="0" rIns="0" tIns="0" bIns="0">
            <a:spAutoFit/>
          </a:bodyPr>
          <a:lstStyle/>
          <a:p>
            <a:pPr>
              <a:lnSpc>
                <a:spcPct val="105000"/>
              </a:lnSpc>
              <a:spcBef>
                <a:spcPts val="0"/>
              </a:spcBef>
              <a:spcAft>
                <a:spcPts val="200"/>
              </a:spcAft>
              <a:defRPr sz="1100" b="0">
                <a:solidFill>
                  <a:srgbClr val="5B6C73"/>
                </a:solidFill>
                <a:latin typeface="Lato"/>
              </a:defRPr>
            </a:pPr>
            <a:r>
              <a:rPr u="none">
                <a:solidFill>
                  <a:srgbClr val="5B6C73"/>
                </a:solidFill>
              </a:rPr>
              <a:t>PHOTOGRAPHY  yajna S R / Pexels · Mumbai construction workers · Pexels License</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PRAHARI — The Countdown Band | SIH 2026</dc:title>
  <dc:subject>PS 26181 · Point Break · Six-slide SIH idea presentation</dc:subject>
  <dc:creator>Point Break</dc:creator>
  <cp:keywords>PRAHARI, SIH 2026, Point Break, early warning, wearable, LoRa</cp:keywords>
  <dc:description/>
  <cp:lastModifiedBy>AICTE</cp:lastModifiedBy>
  <cp:revision>148</cp:revision>
  <dcterms:created xsi:type="dcterms:W3CDTF">2013-12-12T18:46:50Z</dcterms:created>
  <dcterms:modified xsi:type="dcterms:W3CDTF">2026-06-02T09:29:39Z</dcterms:modified>
  <cp:category/>
</cp:coreProperties>
</file>